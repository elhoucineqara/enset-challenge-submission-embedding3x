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552"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186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3.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2.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9.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2.png"/><Relationship Id="rId7"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19.png"/><Relationship Id="rId10" Type="http://schemas.openxmlformats.org/officeDocument/2006/relationships/image" Target="../media/image31.png"/><Relationship Id="rId4" Type="http://schemas.openxmlformats.org/officeDocument/2006/relationships/image" Target="../media/image14.png"/><Relationship Id="rId9"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7.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28.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8.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7.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grad.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7315200" cy="365760"/>
          </a:xfrm>
          <a:prstGeom prst="rect">
            <a:avLst/>
          </a:prstGeom>
          <a:noFill/>
          <a:ln/>
        </p:spPr>
        <p:txBody>
          <a:bodyPr wrap="square" lIns="0" tIns="0" rIns="0" bIns="0" rtlCol="0" anchor="ctr"/>
          <a:lstStyle/>
          <a:p>
            <a:pPr marL="0" indent="0">
              <a:buNone/>
            </a:pPr>
            <a:r>
              <a:rPr lang="en-US" sz="1300" b="1" kern="0" spc="200" dirty="0">
                <a:solidFill>
                  <a:srgbClr val="BAC2DE"/>
                </a:solidFill>
                <a:latin typeface="Calibri" pitchFamily="34" charset="0"/>
                <a:ea typeface="Calibri" pitchFamily="34" charset="-122"/>
                <a:cs typeface="Calibri" pitchFamily="34" charset="-120"/>
              </a:rPr>
              <a:t>AGENTIC TP PLATFORM</a:t>
            </a:r>
            <a:endParaRPr lang="en-US" sz="1300" dirty="0"/>
          </a:p>
        </p:txBody>
      </p:sp>
      <p:sp>
        <p:nvSpPr>
          <p:cNvPr id="5" name="Shape 2"/>
          <p:cNvSpPr/>
          <p:nvPr/>
        </p:nvSpPr>
        <p:spPr>
          <a:xfrm>
            <a:off x="640080" y="1536192"/>
            <a:ext cx="4160520" cy="457200"/>
          </a:xfrm>
          <a:prstGeom prst="roundRect">
            <a:avLst>
              <a:gd name="adj" fmla="val 50000"/>
            </a:avLst>
          </a:prstGeom>
          <a:solidFill>
            <a:srgbClr val="FFFFFF">
              <a:alpha val="8000"/>
            </a:srgbClr>
          </a:solidFill>
          <a:ln w="12700">
            <a:solidFill>
              <a:srgbClr val="CBA6F7"/>
            </a:solidFill>
            <a:prstDash val="solid"/>
          </a:ln>
        </p:spPr>
      </p:sp>
      <p:pic>
        <p:nvPicPr>
          <p:cNvPr id="6" name="Image 1" descr="assets/ic_robot.png"/>
          <p:cNvPicPr>
            <a:picLocks noChangeAspect="1"/>
          </p:cNvPicPr>
          <p:nvPr/>
        </p:nvPicPr>
        <p:blipFill>
          <a:blip r:embed="rId5"/>
          <a:stretch>
            <a:fillRect/>
          </a:stretch>
        </p:blipFill>
        <p:spPr>
          <a:xfrm>
            <a:off x="868680" y="1655064"/>
            <a:ext cx="219456" cy="219456"/>
          </a:xfrm>
          <a:prstGeom prst="rect">
            <a:avLst/>
          </a:prstGeom>
        </p:spPr>
      </p:pic>
      <p:sp>
        <p:nvSpPr>
          <p:cNvPr id="7" name="Text 3"/>
          <p:cNvSpPr/>
          <p:nvPr/>
        </p:nvSpPr>
        <p:spPr>
          <a:xfrm>
            <a:off x="1170432" y="1536192"/>
            <a:ext cx="3657600" cy="457200"/>
          </a:xfrm>
          <a:prstGeom prst="rect">
            <a:avLst/>
          </a:prstGeom>
          <a:noFill/>
          <a:ln/>
        </p:spPr>
        <p:txBody>
          <a:bodyPr wrap="square" lIns="0" tIns="0" rIns="0" bIns="0" rtlCol="0" anchor="ctr"/>
          <a:lstStyle/>
          <a:p>
            <a:pPr marL="0" indent="0">
              <a:buNone/>
            </a:pPr>
            <a:r>
              <a:rPr lang="en-US" sz="1200" dirty="0">
                <a:solidFill>
                  <a:srgbClr val="CDD6F4"/>
                </a:solidFill>
                <a:latin typeface="Calibri" pitchFamily="34" charset="0"/>
                <a:ea typeface="Calibri" pitchFamily="34" charset="-122"/>
                <a:cs typeface="Calibri" pitchFamily="34" charset="-120"/>
              </a:rPr>
              <a:t>AI-Powered Practical Work Environment</a:t>
            </a:r>
            <a:endParaRPr lang="en-US" sz="1200" dirty="0"/>
          </a:p>
        </p:txBody>
      </p:sp>
      <p:sp>
        <p:nvSpPr>
          <p:cNvPr id="8" name="Text 4"/>
          <p:cNvSpPr/>
          <p:nvPr/>
        </p:nvSpPr>
        <p:spPr>
          <a:xfrm>
            <a:off x="603504" y="2212848"/>
            <a:ext cx="7589520" cy="2103120"/>
          </a:xfrm>
          <a:prstGeom prst="rect">
            <a:avLst/>
          </a:prstGeom>
          <a:noFill/>
          <a:ln/>
        </p:spPr>
        <p:txBody>
          <a:bodyPr wrap="square" lIns="0" tIns="0" rIns="0" bIns="0" rtlCol="0" anchor="ctr"/>
          <a:lstStyle/>
          <a:p>
            <a:pPr marL="0" indent="0">
              <a:lnSpc>
                <a:spcPct val="98000"/>
              </a:lnSpc>
              <a:buNone/>
            </a:pPr>
            <a:r>
              <a:rPr lang="en-US" sz="4300" b="1" dirty="0">
                <a:solidFill>
                  <a:srgbClr val="CDD6F4"/>
                </a:solidFill>
                <a:latin typeface="Georgia" pitchFamily="34" charset="0"/>
                <a:ea typeface="Georgia" pitchFamily="34" charset="-122"/>
                <a:cs typeface="Georgia" pitchFamily="34" charset="-120"/>
              </a:rPr>
              <a:t>La nouvelle génération des </a:t>
            </a:r>
            <a:r>
              <a:rPr lang="en-US" sz="4300" b="1" dirty="0">
                <a:solidFill>
                  <a:srgbClr val="CBA6F7"/>
                </a:solidFill>
                <a:latin typeface="Georgia" pitchFamily="34" charset="0"/>
                <a:ea typeface="Georgia" pitchFamily="34" charset="-122"/>
                <a:cs typeface="Georgia" pitchFamily="34" charset="-120"/>
              </a:rPr>
              <a:t>Travaux Pratiques</a:t>
            </a:r>
            <a:r>
              <a:rPr lang="en-US" sz="4300" b="1" dirty="0">
                <a:solidFill>
                  <a:srgbClr val="CDD6F4"/>
                </a:solidFill>
                <a:latin typeface="Georgia" pitchFamily="34" charset="0"/>
                <a:ea typeface="Georgia" pitchFamily="34" charset="-122"/>
                <a:cs typeface="Georgia" pitchFamily="34" charset="-120"/>
              </a:rPr>
              <a:t> est </a:t>
            </a:r>
            <a:r>
              <a:rPr lang="en-US" sz="4300" b="1" dirty="0">
                <a:solidFill>
                  <a:srgbClr val="89B4FA"/>
                </a:solidFill>
                <a:latin typeface="Georgia" pitchFamily="34" charset="0"/>
                <a:ea typeface="Georgia" pitchFamily="34" charset="-122"/>
                <a:cs typeface="Georgia" pitchFamily="34" charset="-120"/>
              </a:rPr>
              <a:t>agentique</a:t>
            </a:r>
            <a:endParaRPr lang="en-US" sz="4300" dirty="0"/>
          </a:p>
        </p:txBody>
      </p:sp>
      <p:sp>
        <p:nvSpPr>
          <p:cNvPr id="9" name="Text 5"/>
          <p:cNvSpPr/>
          <p:nvPr/>
        </p:nvSpPr>
        <p:spPr>
          <a:xfrm>
            <a:off x="640080" y="4526280"/>
            <a:ext cx="6675120" cy="1097280"/>
          </a:xfrm>
          <a:prstGeom prst="rect">
            <a:avLst/>
          </a:prstGeom>
          <a:noFill/>
          <a:ln/>
        </p:spPr>
        <p:txBody>
          <a:bodyPr wrap="square" lIns="0" tIns="0" rIns="0" bIns="0" rtlCol="0" anchor="ctr"/>
          <a:lstStyle/>
          <a:p>
            <a:pPr marL="0" indent="0">
              <a:lnSpc>
                <a:spcPct val="112000"/>
              </a:lnSpc>
              <a:buNone/>
            </a:pPr>
            <a:r>
              <a:rPr lang="en-US" sz="1450" dirty="0">
                <a:solidFill>
                  <a:srgbClr val="BAC2DE"/>
                </a:solidFill>
                <a:latin typeface="Calibri" pitchFamily="34" charset="0"/>
                <a:ea typeface="Calibri" pitchFamily="34" charset="-122"/>
                <a:cs typeface="Calibri" pitchFamily="34" charset="-120"/>
              </a:rPr>
              <a:t>Une plateforme éducative qui combine un workspace Next.js, un backend microservices Spring Cloud et quatre agents IA spécialisés — pour un environnement de codage guidé, intelligent et académiquement honnête.</a:t>
            </a:r>
            <a:endParaRPr lang="en-US" sz="1450" dirty="0"/>
          </a:p>
        </p:txBody>
      </p:sp>
      <p:sp>
        <p:nvSpPr>
          <p:cNvPr id="10" name="Shape 6"/>
          <p:cNvSpPr/>
          <p:nvPr/>
        </p:nvSpPr>
        <p:spPr>
          <a:xfrm>
            <a:off x="640080" y="6035040"/>
            <a:ext cx="6035040" cy="0"/>
          </a:xfrm>
          <a:prstGeom prst="line">
            <a:avLst/>
          </a:prstGeom>
          <a:noFill/>
          <a:ln w="12700">
            <a:solidFill>
              <a:srgbClr val="313244"/>
            </a:solidFill>
            <a:prstDash val="solid"/>
          </a:ln>
        </p:spPr>
      </p:sp>
      <p:sp>
        <p:nvSpPr>
          <p:cNvPr id="11" name="Text 7"/>
          <p:cNvSpPr/>
          <p:nvPr/>
        </p:nvSpPr>
        <p:spPr>
          <a:xfrm>
            <a:off x="640080" y="6144768"/>
            <a:ext cx="8229600" cy="365760"/>
          </a:xfrm>
          <a:prstGeom prst="rect">
            <a:avLst/>
          </a:prstGeom>
          <a:noFill/>
          <a:ln/>
        </p:spPr>
        <p:txBody>
          <a:bodyPr wrap="square" lIns="0" tIns="0" rIns="0" bIns="0" rtlCol="0" anchor="ctr"/>
          <a:lstStyle/>
          <a:p>
            <a:pPr marL="0" indent="0">
              <a:buNone/>
            </a:pPr>
            <a:r>
              <a:rPr lang="en-US" sz="1300" b="1" dirty="0">
                <a:solidFill>
                  <a:srgbClr val="CDD6F4"/>
                </a:solidFill>
                <a:latin typeface="Calibri" pitchFamily="34" charset="0"/>
                <a:ea typeface="Calibri" pitchFamily="34" charset="-122"/>
                <a:cs typeface="Calibri" pitchFamily="34" charset="-120"/>
              </a:rPr>
              <a:t>ENSET 2025</a:t>
            </a:r>
            <a:r>
              <a:rPr lang="en-US" sz="1300" dirty="0">
                <a:solidFill>
                  <a:srgbClr val="7F849C"/>
                </a:solidFill>
                <a:latin typeface="Calibri" pitchFamily="34" charset="0"/>
                <a:ea typeface="Calibri" pitchFamily="34" charset="-122"/>
                <a:cs typeface="Calibri" pitchFamily="34" charset="-120"/>
              </a:rPr>
              <a:t>   ·   équipe </a:t>
            </a:r>
            <a:r>
              <a:rPr lang="en-US" sz="1300" b="1" dirty="0">
                <a:solidFill>
                  <a:srgbClr val="A6E3A1"/>
                </a:solidFill>
                <a:latin typeface="Calibri" pitchFamily="34" charset="0"/>
                <a:ea typeface="Calibri" pitchFamily="34" charset="-122"/>
                <a:cs typeface="Calibri" pitchFamily="34" charset="-120"/>
              </a:rPr>
              <a:t>: TOUBANI BADR EDDINE – BAHOU HOUDAIFA – ANASS MAKHLOUK</a:t>
            </a:r>
            <a:endParaRPr lang="en-US" sz="1300" dirty="0"/>
          </a:p>
        </p:txBody>
      </p:sp>
      <p:sp>
        <p:nvSpPr>
          <p:cNvPr id="12" name="Shape 8"/>
          <p:cNvSpPr/>
          <p:nvPr/>
        </p:nvSpPr>
        <p:spPr>
          <a:xfrm>
            <a:off x="8394192" y="2395728"/>
            <a:ext cx="0" cy="2249424"/>
          </a:xfrm>
          <a:prstGeom prst="line">
            <a:avLst/>
          </a:prstGeom>
          <a:noFill/>
          <a:ln w="19050">
            <a:solidFill>
              <a:srgbClr val="45475A"/>
            </a:solidFill>
            <a:prstDash val="solid"/>
          </a:ln>
        </p:spPr>
      </p:sp>
      <p:sp>
        <p:nvSpPr>
          <p:cNvPr id="19" name="Text 15"/>
          <p:cNvSpPr/>
          <p:nvPr/>
        </p:nvSpPr>
        <p:spPr>
          <a:xfrm>
            <a:off x="8412480" y="4983480"/>
            <a:ext cx="3246120" cy="914400"/>
          </a:xfrm>
          <a:prstGeom prst="rect">
            <a:avLst/>
          </a:prstGeom>
          <a:noFill/>
          <a:ln/>
        </p:spPr>
        <p:txBody>
          <a:bodyPr wrap="square" lIns="0" tIns="0" rIns="0" bIns="0" rtlCol="0" anchor="ctr"/>
          <a:lstStyle/>
          <a:p>
            <a:pPr marL="0" indent="0">
              <a:lnSpc>
                <a:spcPct val="125000"/>
              </a:lnSpc>
              <a:buNone/>
            </a:pPr>
            <a:r>
              <a:rPr lang="en-US" sz="1200" dirty="0">
                <a:solidFill>
                  <a:srgbClr val="7F849C"/>
                </a:solidFill>
                <a:latin typeface="Calibri" pitchFamily="34" charset="0"/>
                <a:ea typeface="Calibri" pitchFamily="34" charset="-122"/>
                <a:cs typeface="Calibri" pitchFamily="34" charset="-120"/>
              </a:rPr>
              <a:t>4 LLMs locaux via Ollama  ·  12 services conteneurisés  ·  anti-triche intégré</a:t>
            </a:r>
            <a:endParaRPr lang="en-US" sz="1200" dirty="0"/>
          </a:p>
        </p:txBody>
      </p:sp>
      <p:sp>
        <p:nvSpPr>
          <p:cNvPr id="20" name="TextBox 19">
            <a:extLst>
              <a:ext uri="{FF2B5EF4-FFF2-40B4-BE49-F238E27FC236}">
                <a16:creationId xmlns:a16="http://schemas.microsoft.com/office/drawing/2014/main" id="{9760708D-BD0A-0D2E-8CE9-0D8A6F7541B5}"/>
              </a:ext>
            </a:extLst>
          </p:cNvPr>
          <p:cNvSpPr txBox="1"/>
          <p:nvPr/>
        </p:nvSpPr>
        <p:spPr>
          <a:xfrm>
            <a:off x="8686800" y="2464067"/>
            <a:ext cx="2411128" cy="923330"/>
          </a:xfrm>
          <a:prstGeom prst="rect">
            <a:avLst/>
          </a:prstGeom>
          <a:noFill/>
          <a:ln>
            <a:noFill/>
          </a:ln>
        </p:spPr>
        <p:txBody>
          <a:bodyPr wrap="square" rtlCol="0">
            <a:spAutoFit/>
          </a:bodyPr>
          <a:lstStyle/>
          <a:p>
            <a:r>
              <a:rPr lang="en-MA"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PROJET DE FIN DU MODULE WEB ET WEB SEMANTIQUE </a:t>
            </a:r>
            <a:endParaRPr lang="en-MA" dirty="0"/>
          </a:p>
        </p:txBody>
      </p:sp>
      <p:sp>
        <p:nvSpPr>
          <p:cNvPr id="21" name="TextBox 20">
            <a:extLst>
              <a:ext uri="{FF2B5EF4-FFF2-40B4-BE49-F238E27FC236}">
                <a16:creationId xmlns:a16="http://schemas.microsoft.com/office/drawing/2014/main" id="{D3AC60A9-7E4C-4BAA-831F-DB733C2D4D50}"/>
              </a:ext>
            </a:extLst>
          </p:cNvPr>
          <p:cNvSpPr txBox="1"/>
          <p:nvPr/>
        </p:nvSpPr>
        <p:spPr>
          <a:xfrm>
            <a:off x="8686800" y="3801979"/>
            <a:ext cx="2478502" cy="830997"/>
          </a:xfrm>
          <a:prstGeom prst="rect">
            <a:avLst/>
          </a:prstGeom>
          <a:noFill/>
        </p:spPr>
        <p:txBody>
          <a:bodyPr wrap="square" rtlCol="0">
            <a:spAutoFit/>
          </a:bodyPr>
          <a:lstStyle/>
          <a:p>
            <a:r>
              <a:rPr lang="en-MA" sz="2400" b="1" spc="50" dirty="0">
                <a:ln w="0"/>
                <a:solidFill>
                  <a:schemeClr val="bg2"/>
                </a:solidFill>
                <a:effectLst>
                  <a:innerShdw blurRad="63500" dist="50800" dir="13500000">
                    <a:srgbClr val="000000">
                      <a:alpha val="50000"/>
                    </a:srgbClr>
                  </a:innerShdw>
                </a:effectLst>
                <a:latin typeface="Angsana New" panose="02020603050405020304" pitchFamily="18" charset="-34"/>
                <a:cs typeface="Angsana New" panose="02020603050405020304" pitchFamily="18" charset="-34"/>
              </a:rPr>
              <a:t>ENCADRE PAR : </a:t>
            </a:r>
            <a:r>
              <a:rPr lang="en-US" sz="2400" b="1" spc="50" dirty="0">
                <a:ln w="0"/>
                <a:solidFill>
                  <a:schemeClr val="bg2"/>
                </a:solidFill>
                <a:effectLst>
                  <a:innerShdw blurRad="63500" dist="50800" dir="13500000">
                    <a:srgbClr val="000000">
                      <a:alpha val="50000"/>
                    </a:srgbClr>
                  </a:innerShdw>
                </a:effectLst>
                <a:latin typeface="Angsana New" panose="02020603050405020304" pitchFamily="18" charset="-34"/>
                <a:cs typeface="Angsana New" panose="02020603050405020304" pitchFamily="18" charset="-34"/>
              </a:rPr>
              <a:t>Oumayma AGHERAI</a:t>
            </a:r>
            <a:endParaRPr lang="en-MA" sz="2400" dirty="0">
              <a:latin typeface="Angsana New" panose="02020603050405020304" pitchFamily="18" charset="-34"/>
              <a:cs typeface="Angsana New" panose="02020603050405020304" pitchFamily="18" charset="-3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book.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PLAN DE LA PRÉSENTATION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Sommaire</a:t>
            </a:r>
            <a:endParaRPr lang="en-US" sz="2900" dirty="0"/>
          </a:p>
        </p:txBody>
      </p:sp>
      <p:sp>
        <p:nvSpPr>
          <p:cNvPr id="6" name="Shape 3"/>
          <p:cNvSpPr/>
          <p:nvPr/>
        </p:nvSpPr>
        <p:spPr>
          <a:xfrm>
            <a:off x="566928" y="1600200"/>
            <a:ext cx="11055096" cy="713232"/>
          </a:xfrm>
          <a:prstGeom prst="roundRect">
            <a:avLst>
              <a:gd name="adj" fmla="val 8974"/>
            </a:avLst>
          </a:prstGeom>
          <a:solidFill>
            <a:srgbClr val="232338"/>
          </a:solidFill>
          <a:ln w="12700">
            <a:solidFill>
              <a:srgbClr val="313244"/>
            </a:solidFill>
            <a:prstDash val="solid"/>
          </a:ln>
        </p:spPr>
      </p:sp>
      <p:sp>
        <p:nvSpPr>
          <p:cNvPr id="7" name="Shape 4"/>
          <p:cNvSpPr/>
          <p:nvPr/>
        </p:nvSpPr>
        <p:spPr>
          <a:xfrm>
            <a:off x="566928" y="1691640"/>
            <a:ext cx="64008" cy="530352"/>
          </a:xfrm>
          <a:prstGeom prst="rect">
            <a:avLst/>
          </a:prstGeom>
          <a:solidFill>
            <a:srgbClr val="CBA6F7"/>
          </a:solidFill>
          <a:ln/>
        </p:spPr>
      </p:sp>
      <p:sp>
        <p:nvSpPr>
          <p:cNvPr id="8" name="Shape 5"/>
          <p:cNvSpPr/>
          <p:nvPr/>
        </p:nvSpPr>
        <p:spPr>
          <a:xfrm>
            <a:off x="804672" y="1709928"/>
            <a:ext cx="566928" cy="493776"/>
          </a:xfrm>
          <a:prstGeom prst="roundRect">
            <a:avLst>
              <a:gd name="adj" fmla="val 18519"/>
            </a:avLst>
          </a:prstGeom>
          <a:solidFill>
            <a:srgbClr val="11111B"/>
          </a:solidFill>
          <a:ln w="12700">
            <a:solidFill>
              <a:srgbClr val="CBA6F7"/>
            </a:solidFill>
            <a:prstDash val="solid"/>
          </a:ln>
        </p:spPr>
      </p:sp>
      <p:sp>
        <p:nvSpPr>
          <p:cNvPr id="9" name="Text 6"/>
          <p:cNvSpPr/>
          <p:nvPr/>
        </p:nvSpPr>
        <p:spPr>
          <a:xfrm>
            <a:off x="804672" y="1709928"/>
            <a:ext cx="566928" cy="493776"/>
          </a:xfrm>
          <a:prstGeom prst="rect">
            <a:avLst/>
          </a:prstGeom>
          <a:noFill/>
          <a:ln/>
        </p:spPr>
        <p:txBody>
          <a:bodyPr wrap="square" lIns="0" tIns="0" rIns="0" bIns="0" rtlCol="0" anchor="ctr"/>
          <a:lstStyle/>
          <a:p>
            <a:pPr marL="0" indent="0" algn="ctr">
              <a:buNone/>
            </a:pPr>
            <a:r>
              <a:rPr lang="en-US" sz="1700" b="1" dirty="0">
                <a:solidFill>
                  <a:srgbClr val="CBA6F7"/>
                </a:solidFill>
                <a:latin typeface="Georgia" pitchFamily="34" charset="0"/>
                <a:ea typeface="Georgia" pitchFamily="34" charset="-122"/>
                <a:cs typeface="Georgia" pitchFamily="34" charset="-120"/>
              </a:rPr>
              <a:t>01</a:t>
            </a:r>
            <a:endParaRPr lang="en-US" sz="1700" dirty="0"/>
          </a:p>
        </p:txBody>
      </p:sp>
      <p:pic>
        <p:nvPicPr>
          <p:cNvPr id="10" name="Image 1" descr="assets/ic_bulb.png"/>
          <p:cNvPicPr>
            <a:picLocks noChangeAspect="1"/>
          </p:cNvPicPr>
          <p:nvPr/>
        </p:nvPicPr>
        <p:blipFill>
          <a:blip r:embed="rId4"/>
          <a:stretch>
            <a:fillRect/>
          </a:stretch>
        </p:blipFill>
        <p:spPr>
          <a:xfrm>
            <a:off x="1591056" y="1792224"/>
            <a:ext cx="329184" cy="329184"/>
          </a:xfrm>
          <a:prstGeom prst="rect">
            <a:avLst/>
          </a:prstGeom>
        </p:spPr>
      </p:pic>
      <p:sp>
        <p:nvSpPr>
          <p:cNvPr id="11" name="Text 7"/>
          <p:cNvSpPr/>
          <p:nvPr/>
        </p:nvSpPr>
        <p:spPr>
          <a:xfrm>
            <a:off x="2084832" y="160020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Introduction</a:t>
            </a:r>
            <a:endParaRPr lang="en-US" sz="1600" dirty="0"/>
          </a:p>
        </p:txBody>
      </p:sp>
      <p:sp>
        <p:nvSpPr>
          <p:cNvPr id="12" name="Text 8"/>
          <p:cNvSpPr/>
          <p:nvPr/>
        </p:nvSpPr>
        <p:spPr>
          <a:xfrm>
            <a:off x="5961888" y="160020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Contexte, présentation du projet et objectif global</a:t>
            </a:r>
            <a:endParaRPr lang="en-US" sz="1250" dirty="0"/>
          </a:p>
        </p:txBody>
      </p:sp>
      <p:sp>
        <p:nvSpPr>
          <p:cNvPr id="13" name="Shape 9"/>
          <p:cNvSpPr/>
          <p:nvPr/>
        </p:nvSpPr>
        <p:spPr>
          <a:xfrm>
            <a:off x="566928" y="2377440"/>
            <a:ext cx="11055096" cy="713232"/>
          </a:xfrm>
          <a:prstGeom prst="roundRect">
            <a:avLst>
              <a:gd name="adj" fmla="val 8974"/>
            </a:avLst>
          </a:prstGeom>
          <a:solidFill>
            <a:srgbClr val="1E1E2E"/>
          </a:solidFill>
          <a:ln w="12700">
            <a:solidFill>
              <a:srgbClr val="313244"/>
            </a:solidFill>
            <a:prstDash val="solid"/>
          </a:ln>
        </p:spPr>
      </p:sp>
      <p:sp>
        <p:nvSpPr>
          <p:cNvPr id="14" name="Shape 10"/>
          <p:cNvSpPr/>
          <p:nvPr/>
        </p:nvSpPr>
        <p:spPr>
          <a:xfrm>
            <a:off x="566928" y="2468880"/>
            <a:ext cx="64008" cy="530352"/>
          </a:xfrm>
          <a:prstGeom prst="rect">
            <a:avLst/>
          </a:prstGeom>
          <a:solidFill>
            <a:srgbClr val="F9E2AF"/>
          </a:solidFill>
          <a:ln/>
        </p:spPr>
      </p:sp>
      <p:sp>
        <p:nvSpPr>
          <p:cNvPr id="15" name="Shape 11"/>
          <p:cNvSpPr/>
          <p:nvPr/>
        </p:nvSpPr>
        <p:spPr>
          <a:xfrm>
            <a:off x="804672" y="2487168"/>
            <a:ext cx="566928" cy="493776"/>
          </a:xfrm>
          <a:prstGeom prst="roundRect">
            <a:avLst>
              <a:gd name="adj" fmla="val 18519"/>
            </a:avLst>
          </a:prstGeom>
          <a:solidFill>
            <a:srgbClr val="11111B"/>
          </a:solidFill>
          <a:ln w="12700">
            <a:solidFill>
              <a:srgbClr val="F9E2AF"/>
            </a:solidFill>
            <a:prstDash val="solid"/>
          </a:ln>
        </p:spPr>
      </p:sp>
      <p:sp>
        <p:nvSpPr>
          <p:cNvPr id="16" name="Text 12"/>
          <p:cNvSpPr/>
          <p:nvPr/>
        </p:nvSpPr>
        <p:spPr>
          <a:xfrm>
            <a:off x="804672" y="2487168"/>
            <a:ext cx="566928" cy="493776"/>
          </a:xfrm>
          <a:prstGeom prst="rect">
            <a:avLst/>
          </a:prstGeom>
          <a:noFill/>
          <a:ln/>
        </p:spPr>
        <p:txBody>
          <a:bodyPr wrap="square" lIns="0" tIns="0" rIns="0" bIns="0" rtlCol="0" anchor="ctr"/>
          <a:lstStyle/>
          <a:p>
            <a:pPr marL="0" indent="0" algn="ctr">
              <a:buNone/>
            </a:pPr>
            <a:r>
              <a:rPr lang="en-US" sz="1700" b="1" dirty="0">
                <a:solidFill>
                  <a:srgbClr val="F9E2AF"/>
                </a:solidFill>
                <a:latin typeface="Georgia" pitchFamily="34" charset="0"/>
                <a:ea typeface="Georgia" pitchFamily="34" charset="-122"/>
                <a:cs typeface="Georgia" pitchFamily="34" charset="-120"/>
              </a:rPr>
              <a:t>02</a:t>
            </a:r>
            <a:endParaRPr lang="en-US" sz="1700" dirty="0"/>
          </a:p>
        </p:txBody>
      </p:sp>
      <p:pic>
        <p:nvPicPr>
          <p:cNvPr id="17" name="Image 2" descr="assets/ic_book.png"/>
          <p:cNvPicPr>
            <a:picLocks noChangeAspect="1"/>
          </p:cNvPicPr>
          <p:nvPr/>
        </p:nvPicPr>
        <p:blipFill>
          <a:blip r:embed="rId3"/>
          <a:stretch>
            <a:fillRect/>
          </a:stretch>
        </p:blipFill>
        <p:spPr>
          <a:xfrm>
            <a:off x="1591056" y="2569464"/>
            <a:ext cx="329184" cy="329184"/>
          </a:xfrm>
          <a:prstGeom prst="rect">
            <a:avLst/>
          </a:prstGeom>
        </p:spPr>
      </p:pic>
      <p:sp>
        <p:nvSpPr>
          <p:cNvPr id="18" name="Text 13"/>
          <p:cNvSpPr/>
          <p:nvPr/>
        </p:nvSpPr>
        <p:spPr>
          <a:xfrm>
            <a:off x="2084832" y="237744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Cahier des charges</a:t>
            </a:r>
            <a:endParaRPr lang="en-US" sz="1600" dirty="0"/>
          </a:p>
        </p:txBody>
      </p:sp>
      <p:sp>
        <p:nvSpPr>
          <p:cNvPr id="19" name="Text 14"/>
          <p:cNvSpPr/>
          <p:nvPr/>
        </p:nvSpPr>
        <p:spPr>
          <a:xfrm>
            <a:off x="5961888" y="237744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Problématique des TP traditionnels et solution proposée</a:t>
            </a:r>
            <a:endParaRPr lang="en-US" sz="1250" dirty="0"/>
          </a:p>
        </p:txBody>
      </p:sp>
      <p:sp>
        <p:nvSpPr>
          <p:cNvPr id="20" name="Shape 15"/>
          <p:cNvSpPr/>
          <p:nvPr/>
        </p:nvSpPr>
        <p:spPr>
          <a:xfrm>
            <a:off x="566928" y="3154680"/>
            <a:ext cx="11055096" cy="713232"/>
          </a:xfrm>
          <a:prstGeom prst="roundRect">
            <a:avLst>
              <a:gd name="adj" fmla="val 8974"/>
            </a:avLst>
          </a:prstGeom>
          <a:solidFill>
            <a:srgbClr val="232338"/>
          </a:solidFill>
          <a:ln w="12700">
            <a:solidFill>
              <a:srgbClr val="313244"/>
            </a:solidFill>
            <a:prstDash val="solid"/>
          </a:ln>
        </p:spPr>
      </p:sp>
      <p:sp>
        <p:nvSpPr>
          <p:cNvPr id="21" name="Shape 16"/>
          <p:cNvSpPr/>
          <p:nvPr/>
        </p:nvSpPr>
        <p:spPr>
          <a:xfrm>
            <a:off x="566928" y="3246120"/>
            <a:ext cx="64008" cy="530352"/>
          </a:xfrm>
          <a:prstGeom prst="rect">
            <a:avLst/>
          </a:prstGeom>
          <a:solidFill>
            <a:srgbClr val="89B4FA"/>
          </a:solidFill>
          <a:ln/>
        </p:spPr>
      </p:sp>
      <p:sp>
        <p:nvSpPr>
          <p:cNvPr id="22" name="Shape 17"/>
          <p:cNvSpPr/>
          <p:nvPr/>
        </p:nvSpPr>
        <p:spPr>
          <a:xfrm>
            <a:off x="804672" y="3264408"/>
            <a:ext cx="566928" cy="493776"/>
          </a:xfrm>
          <a:prstGeom prst="roundRect">
            <a:avLst>
              <a:gd name="adj" fmla="val 18519"/>
            </a:avLst>
          </a:prstGeom>
          <a:solidFill>
            <a:srgbClr val="11111B"/>
          </a:solidFill>
          <a:ln w="12700">
            <a:solidFill>
              <a:srgbClr val="89B4FA"/>
            </a:solidFill>
            <a:prstDash val="solid"/>
          </a:ln>
        </p:spPr>
      </p:sp>
      <p:sp>
        <p:nvSpPr>
          <p:cNvPr id="23" name="Text 18"/>
          <p:cNvSpPr/>
          <p:nvPr/>
        </p:nvSpPr>
        <p:spPr>
          <a:xfrm>
            <a:off x="804672" y="3264408"/>
            <a:ext cx="566928" cy="493776"/>
          </a:xfrm>
          <a:prstGeom prst="rect">
            <a:avLst/>
          </a:prstGeom>
          <a:noFill/>
          <a:ln/>
        </p:spPr>
        <p:txBody>
          <a:bodyPr wrap="square" lIns="0" tIns="0" rIns="0" bIns="0" rtlCol="0" anchor="ctr"/>
          <a:lstStyle/>
          <a:p>
            <a:pPr marL="0" indent="0" algn="ctr">
              <a:buNone/>
            </a:pPr>
            <a:r>
              <a:rPr lang="en-US" sz="1700" b="1" dirty="0">
                <a:solidFill>
                  <a:srgbClr val="89B4FA"/>
                </a:solidFill>
                <a:latin typeface="Georgia" pitchFamily="34" charset="0"/>
                <a:ea typeface="Georgia" pitchFamily="34" charset="-122"/>
                <a:cs typeface="Georgia" pitchFamily="34" charset="-120"/>
              </a:rPr>
              <a:t>03</a:t>
            </a:r>
            <a:endParaRPr lang="en-US" sz="1700" dirty="0"/>
          </a:p>
        </p:txBody>
      </p:sp>
      <p:pic>
        <p:nvPicPr>
          <p:cNvPr id="24" name="Image 3" descr="assets/ic_users.png"/>
          <p:cNvPicPr>
            <a:picLocks noChangeAspect="1"/>
          </p:cNvPicPr>
          <p:nvPr/>
        </p:nvPicPr>
        <p:blipFill>
          <a:blip r:embed="rId5"/>
          <a:stretch>
            <a:fillRect/>
          </a:stretch>
        </p:blipFill>
        <p:spPr>
          <a:xfrm>
            <a:off x="1591056" y="3346704"/>
            <a:ext cx="329184" cy="329184"/>
          </a:xfrm>
          <a:prstGeom prst="rect">
            <a:avLst/>
          </a:prstGeom>
        </p:spPr>
      </p:pic>
      <p:sp>
        <p:nvSpPr>
          <p:cNvPr id="25" name="Text 19"/>
          <p:cNvSpPr/>
          <p:nvPr/>
        </p:nvSpPr>
        <p:spPr>
          <a:xfrm>
            <a:off x="2084832" y="315468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Conception fonctionnelle</a:t>
            </a:r>
            <a:endParaRPr lang="en-US" sz="1600" dirty="0"/>
          </a:p>
        </p:txBody>
      </p:sp>
      <p:sp>
        <p:nvSpPr>
          <p:cNvPr id="26" name="Text 20"/>
          <p:cNvSpPr/>
          <p:nvPr/>
        </p:nvSpPr>
        <p:spPr>
          <a:xfrm>
            <a:off x="5961888" y="315468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Acteurs, cas d'usage, agents et parcours utilisateurs</a:t>
            </a:r>
            <a:endParaRPr lang="en-US" sz="1250" dirty="0"/>
          </a:p>
        </p:txBody>
      </p:sp>
      <p:sp>
        <p:nvSpPr>
          <p:cNvPr id="27" name="Shape 21"/>
          <p:cNvSpPr/>
          <p:nvPr/>
        </p:nvSpPr>
        <p:spPr>
          <a:xfrm>
            <a:off x="566928" y="3931920"/>
            <a:ext cx="11055096" cy="713232"/>
          </a:xfrm>
          <a:prstGeom prst="roundRect">
            <a:avLst>
              <a:gd name="adj" fmla="val 8974"/>
            </a:avLst>
          </a:prstGeom>
          <a:solidFill>
            <a:srgbClr val="1E1E2E"/>
          </a:solidFill>
          <a:ln w="12700">
            <a:solidFill>
              <a:srgbClr val="313244"/>
            </a:solidFill>
            <a:prstDash val="solid"/>
          </a:ln>
        </p:spPr>
      </p:sp>
      <p:sp>
        <p:nvSpPr>
          <p:cNvPr id="28" name="Shape 22"/>
          <p:cNvSpPr/>
          <p:nvPr/>
        </p:nvSpPr>
        <p:spPr>
          <a:xfrm>
            <a:off x="566928" y="4023360"/>
            <a:ext cx="64008" cy="530352"/>
          </a:xfrm>
          <a:prstGeom prst="rect">
            <a:avLst/>
          </a:prstGeom>
          <a:solidFill>
            <a:srgbClr val="A6E3A1"/>
          </a:solidFill>
          <a:ln/>
        </p:spPr>
      </p:sp>
      <p:sp>
        <p:nvSpPr>
          <p:cNvPr id="29" name="Shape 23"/>
          <p:cNvSpPr/>
          <p:nvPr/>
        </p:nvSpPr>
        <p:spPr>
          <a:xfrm>
            <a:off x="804672" y="4041648"/>
            <a:ext cx="566928" cy="493776"/>
          </a:xfrm>
          <a:prstGeom prst="roundRect">
            <a:avLst>
              <a:gd name="adj" fmla="val 18519"/>
            </a:avLst>
          </a:prstGeom>
          <a:solidFill>
            <a:srgbClr val="11111B"/>
          </a:solidFill>
          <a:ln w="12700">
            <a:solidFill>
              <a:srgbClr val="A6E3A1"/>
            </a:solidFill>
            <a:prstDash val="solid"/>
          </a:ln>
        </p:spPr>
      </p:sp>
      <p:sp>
        <p:nvSpPr>
          <p:cNvPr id="30" name="Text 24"/>
          <p:cNvSpPr/>
          <p:nvPr/>
        </p:nvSpPr>
        <p:spPr>
          <a:xfrm>
            <a:off x="804672" y="4041648"/>
            <a:ext cx="566928" cy="493776"/>
          </a:xfrm>
          <a:prstGeom prst="rect">
            <a:avLst/>
          </a:prstGeom>
          <a:noFill/>
          <a:ln/>
        </p:spPr>
        <p:txBody>
          <a:bodyPr wrap="square" lIns="0" tIns="0" rIns="0" bIns="0" rtlCol="0" anchor="ctr"/>
          <a:lstStyle/>
          <a:p>
            <a:pPr marL="0" indent="0" algn="ctr">
              <a:buNone/>
            </a:pPr>
            <a:r>
              <a:rPr lang="en-US" sz="1700" b="1" dirty="0">
                <a:solidFill>
                  <a:srgbClr val="A6E3A1"/>
                </a:solidFill>
                <a:latin typeface="Georgia" pitchFamily="34" charset="0"/>
                <a:ea typeface="Georgia" pitchFamily="34" charset="-122"/>
                <a:cs typeface="Georgia" pitchFamily="34" charset="-120"/>
              </a:rPr>
              <a:t>04</a:t>
            </a:r>
            <a:endParaRPr lang="en-US" sz="1700" dirty="0"/>
          </a:p>
        </p:txBody>
      </p:sp>
      <p:pic>
        <p:nvPicPr>
          <p:cNvPr id="31" name="Image 4" descr="assets/ic_sitemap.png"/>
          <p:cNvPicPr>
            <a:picLocks noChangeAspect="1"/>
          </p:cNvPicPr>
          <p:nvPr/>
        </p:nvPicPr>
        <p:blipFill>
          <a:blip r:embed="rId6"/>
          <a:stretch>
            <a:fillRect/>
          </a:stretch>
        </p:blipFill>
        <p:spPr>
          <a:xfrm>
            <a:off x="1591056" y="4123944"/>
            <a:ext cx="329184" cy="329184"/>
          </a:xfrm>
          <a:prstGeom prst="rect">
            <a:avLst/>
          </a:prstGeom>
        </p:spPr>
      </p:pic>
      <p:sp>
        <p:nvSpPr>
          <p:cNvPr id="32" name="Text 25"/>
          <p:cNvSpPr/>
          <p:nvPr/>
        </p:nvSpPr>
        <p:spPr>
          <a:xfrm>
            <a:off x="2084832" y="393192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Conception technique</a:t>
            </a:r>
            <a:endParaRPr lang="en-US" sz="1600" dirty="0"/>
          </a:p>
        </p:txBody>
      </p:sp>
      <p:sp>
        <p:nvSpPr>
          <p:cNvPr id="33" name="Text 26"/>
          <p:cNvSpPr/>
          <p:nvPr/>
        </p:nvSpPr>
        <p:spPr>
          <a:xfrm>
            <a:off x="5961888" y="393192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Architecture microservices, diagrammes UML et stack</a:t>
            </a:r>
            <a:endParaRPr lang="en-US" sz="1250" dirty="0"/>
          </a:p>
        </p:txBody>
      </p:sp>
      <p:sp>
        <p:nvSpPr>
          <p:cNvPr id="34" name="Shape 27"/>
          <p:cNvSpPr/>
          <p:nvPr/>
        </p:nvSpPr>
        <p:spPr>
          <a:xfrm>
            <a:off x="566928" y="4709160"/>
            <a:ext cx="11055096" cy="713232"/>
          </a:xfrm>
          <a:prstGeom prst="roundRect">
            <a:avLst>
              <a:gd name="adj" fmla="val 8974"/>
            </a:avLst>
          </a:prstGeom>
          <a:solidFill>
            <a:srgbClr val="232338"/>
          </a:solidFill>
          <a:ln w="12700">
            <a:solidFill>
              <a:srgbClr val="313244"/>
            </a:solidFill>
            <a:prstDash val="solid"/>
          </a:ln>
        </p:spPr>
      </p:sp>
      <p:sp>
        <p:nvSpPr>
          <p:cNvPr id="35" name="Shape 28"/>
          <p:cNvSpPr/>
          <p:nvPr/>
        </p:nvSpPr>
        <p:spPr>
          <a:xfrm>
            <a:off x="566928" y="4800600"/>
            <a:ext cx="64008" cy="530352"/>
          </a:xfrm>
          <a:prstGeom prst="rect">
            <a:avLst/>
          </a:prstGeom>
          <a:solidFill>
            <a:srgbClr val="94E2D5"/>
          </a:solidFill>
          <a:ln/>
        </p:spPr>
      </p:sp>
      <p:sp>
        <p:nvSpPr>
          <p:cNvPr id="36" name="Shape 29"/>
          <p:cNvSpPr/>
          <p:nvPr/>
        </p:nvSpPr>
        <p:spPr>
          <a:xfrm>
            <a:off x="804672" y="4818888"/>
            <a:ext cx="566928" cy="493776"/>
          </a:xfrm>
          <a:prstGeom prst="roundRect">
            <a:avLst>
              <a:gd name="adj" fmla="val 18519"/>
            </a:avLst>
          </a:prstGeom>
          <a:solidFill>
            <a:srgbClr val="11111B"/>
          </a:solidFill>
          <a:ln w="12700">
            <a:solidFill>
              <a:srgbClr val="94E2D5"/>
            </a:solidFill>
            <a:prstDash val="solid"/>
          </a:ln>
        </p:spPr>
      </p:sp>
      <p:sp>
        <p:nvSpPr>
          <p:cNvPr id="37" name="Text 30"/>
          <p:cNvSpPr/>
          <p:nvPr/>
        </p:nvSpPr>
        <p:spPr>
          <a:xfrm>
            <a:off x="804672" y="4818888"/>
            <a:ext cx="566928" cy="493776"/>
          </a:xfrm>
          <a:prstGeom prst="rect">
            <a:avLst/>
          </a:prstGeom>
          <a:noFill/>
          <a:ln/>
        </p:spPr>
        <p:txBody>
          <a:bodyPr wrap="square" lIns="0" tIns="0" rIns="0" bIns="0" rtlCol="0" anchor="ctr"/>
          <a:lstStyle/>
          <a:p>
            <a:pPr marL="0" indent="0" algn="ctr">
              <a:buNone/>
            </a:pPr>
            <a:r>
              <a:rPr lang="en-US" sz="1700" b="1" dirty="0">
                <a:solidFill>
                  <a:srgbClr val="94E2D5"/>
                </a:solidFill>
                <a:latin typeface="Georgia" pitchFamily="34" charset="0"/>
                <a:ea typeface="Georgia" pitchFamily="34" charset="-122"/>
                <a:cs typeface="Georgia" pitchFamily="34" charset="-120"/>
              </a:rPr>
              <a:t>05</a:t>
            </a:r>
            <a:endParaRPr lang="en-US" sz="1700" dirty="0"/>
          </a:p>
        </p:txBody>
      </p:sp>
      <p:pic>
        <p:nvPicPr>
          <p:cNvPr id="38" name="Image 5" descr="assets/ic_play.png"/>
          <p:cNvPicPr>
            <a:picLocks noChangeAspect="1"/>
          </p:cNvPicPr>
          <p:nvPr/>
        </p:nvPicPr>
        <p:blipFill>
          <a:blip r:embed="rId7"/>
          <a:stretch>
            <a:fillRect/>
          </a:stretch>
        </p:blipFill>
        <p:spPr>
          <a:xfrm>
            <a:off x="1591056" y="4901184"/>
            <a:ext cx="329184" cy="329184"/>
          </a:xfrm>
          <a:prstGeom prst="rect">
            <a:avLst/>
          </a:prstGeom>
        </p:spPr>
      </p:pic>
      <p:sp>
        <p:nvSpPr>
          <p:cNvPr id="39" name="Text 31"/>
          <p:cNvSpPr/>
          <p:nvPr/>
        </p:nvSpPr>
        <p:spPr>
          <a:xfrm>
            <a:off x="2084832" y="470916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Réalisation</a:t>
            </a:r>
            <a:endParaRPr lang="en-US" sz="1600" dirty="0"/>
          </a:p>
        </p:txBody>
      </p:sp>
      <p:sp>
        <p:nvSpPr>
          <p:cNvPr id="40" name="Text 32"/>
          <p:cNvSpPr/>
          <p:nvPr/>
        </p:nvSpPr>
        <p:spPr>
          <a:xfrm>
            <a:off x="5961888" y="470916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Captures de l'application et état d'avancement</a:t>
            </a:r>
            <a:endParaRPr lang="en-US" sz="1250" dirty="0"/>
          </a:p>
        </p:txBody>
      </p:sp>
      <p:sp>
        <p:nvSpPr>
          <p:cNvPr id="41" name="Shape 33"/>
          <p:cNvSpPr/>
          <p:nvPr/>
        </p:nvSpPr>
        <p:spPr>
          <a:xfrm>
            <a:off x="566928" y="5486400"/>
            <a:ext cx="11055096" cy="713232"/>
          </a:xfrm>
          <a:prstGeom prst="roundRect">
            <a:avLst>
              <a:gd name="adj" fmla="val 8974"/>
            </a:avLst>
          </a:prstGeom>
          <a:solidFill>
            <a:srgbClr val="1E1E2E"/>
          </a:solidFill>
          <a:ln w="12700">
            <a:solidFill>
              <a:srgbClr val="313244"/>
            </a:solidFill>
            <a:prstDash val="solid"/>
          </a:ln>
        </p:spPr>
      </p:sp>
      <p:sp>
        <p:nvSpPr>
          <p:cNvPr id="42" name="Shape 34"/>
          <p:cNvSpPr/>
          <p:nvPr/>
        </p:nvSpPr>
        <p:spPr>
          <a:xfrm>
            <a:off x="566928" y="5577840"/>
            <a:ext cx="64008" cy="530352"/>
          </a:xfrm>
          <a:prstGeom prst="rect">
            <a:avLst/>
          </a:prstGeom>
          <a:solidFill>
            <a:srgbClr val="FAB387"/>
          </a:solidFill>
          <a:ln/>
        </p:spPr>
      </p:sp>
      <p:sp>
        <p:nvSpPr>
          <p:cNvPr id="43" name="Shape 35"/>
          <p:cNvSpPr/>
          <p:nvPr/>
        </p:nvSpPr>
        <p:spPr>
          <a:xfrm>
            <a:off x="804672" y="5596128"/>
            <a:ext cx="566928" cy="493776"/>
          </a:xfrm>
          <a:prstGeom prst="roundRect">
            <a:avLst>
              <a:gd name="adj" fmla="val 18519"/>
            </a:avLst>
          </a:prstGeom>
          <a:solidFill>
            <a:srgbClr val="11111B"/>
          </a:solidFill>
          <a:ln w="12700">
            <a:solidFill>
              <a:srgbClr val="FAB387"/>
            </a:solidFill>
            <a:prstDash val="solid"/>
          </a:ln>
        </p:spPr>
      </p:sp>
      <p:sp>
        <p:nvSpPr>
          <p:cNvPr id="44" name="Text 36"/>
          <p:cNvSpPr/>
          <p:nvPr/>
        </p:nvSpPr>
        <p:spPr>
          <a:xfrm>
            <a:off x="804672" y="5596128"/>
            <a:ext cx="566928" cy="493776"/>
          </a:xfrm>
          <a:prstGeom prst="rect">
            <a:avLst/>
          </a:prstGeom>
          <a:noFill/>
          <a:ln/>
        </p:spPr>
        <p:txBody>
          <a:bodyPr wrap="square" lIns="0" tIns="0" rIns="0" bIns="0" rtlCol="0" anchor="ctr"/>
          <a:lstStyle/>
          <a:p>
            <a:pPr marL="0" indent="0" algn="ctr">
              <a:buNone/>
            </a:pPr>
            <a:r>
              <a:rPr lang="en-US" sz="1700" b="1" dirty="0">
                <a:solidFill>
                  <a:srgbClr val="FAB387"/>
                </a:solidFill>
                <a:latin typeface="Georgia" pitchFamily="34" charset="0"/>
                <a:ea typeface="Georgia" pitchFamily="34" charset="-122"/>
                <a:cs typeface="Georgia" pitchFamily="34" charset="-120"/>
              </a:rPr>
              <a:t>06</a:t>
            </a:r>
            <a:endParaRPr lang="en-US" sz="1700" dirty="0"/>
          </a:p>
        </p:txBody>
      </p:sp>
      <p:pic>
        <p:nvPicPr>
          <p:cNvPr id="45" name="Image 6" descr="assets/ic_star.png"/>
          <p:cNvPicPr>
            <a:picLocks noChangeAspect="1"/>
          </p:cNvPicPr>
          <p:nvPr/>
        </p:nvPicPr>
        <p:blipFill>
          <a:blip r:embed="rId8"/>
          <a:stretch>
            <a:fillRect/>
          </a:stretch>
        </p:blipFill>
        <p:spPr>
          <a:xfrm>
            <a:off x="1591056" y="5678424"/>
            <a:ext cx="329184" cy="329184"/>
          </a:xfrm>
          <a:prstGeom prst="rect">
            <a:avLst/>
          </a:prstGeom>
        </p:spPr>
      </p:pic>
      <p:sp>
        <p:nvSpPr>
          <p:cNvPr id="46" name="Text 37"/>
          <p:cNvSpPr/>
          <p:nvPr/>
        </p:nvSpPr>
        <p:spPr>
          <a:xfrm>
            <a:off x="2084832" y="5486400"/>
            <a:ext cx="3840480" cy="713232"/>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Conclusion</a:t>
            </a:r>
            <a:endParaRPr lang="en-US" sz="1600" dirty="0"/>
          </a:p>
        </p:txBody>
      </p:sp>
      <p:sp>
        <p:nvSpPr>
          <p:cNvPr id="47" name="Text 38"/>
          <p:cNvSpPr/>
          <p:nvPr/>
        </p:nvSpPr>
        <p:spPr>
          <a:xfrm>
            <a:off x="5961888" y="5486400"/>
            <a:ext cx="5477256" cy="713232"/>
          </a:xfrm>
          <a:prstGeom prst="rect">
            <a:avLst/>
          </a:prstGeom>
          <a:noFill/>
          <a:ln/>
        </p:spPr>
        <p:txBody>
          <a:bodyPr wrap="square" lIns="0" tIns="0" rIns="0" bIns="0" rtlCol="0" anchor="ctr"/>
          <a:lstStyle/>
          <a:p>
            <a:pPr marL="0" indent="0">
              <a:buNone/>
            </a:pPr>
            <a:r>
              <a:rPr lang="en-US" sz="1250" dirty="0">
                <a:solidFill>
                  <a:srgbClr val="A6ADC8"/>
                </a:solidFill>
                <a:latin typeface="Calibri" pitchFamily="34" charset="0"/>
                <a:ea typeface="Calibri" pitchFamily="34" charset="-122"/>
                <a:cs typeface="Calibri" pitchFamily="34" charset="-120"/>
              </a:rPr>
              <a:t>Apports, défis rencontrés et perspectives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bulb.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01</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CBA6F7"/>
                </a:solidFill>
                <a:latin typeface="Calibri" pitchFamily="34" charset="0"/>
                <a:ea typeface="Calibri" pitchFamily="34" charset="-122"/>
                <a:cs typeface="Calibri" pitchFamily="34" charset="-120"/>
              </a:rPr>
              <a:t>PARTIE 01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Introduction</a:t>
            </a:r>
            <a:endParaRPr lang="en-US" sz="4400" dirty="0"/>
          </a:p>
        </p:txBody>
      </p:sp>
      <p:sp>
        <p:nvSpPr>
          <p:cNvPr id="8" name="Shape 5"/>
          <p:cNvSpPr/>
          <p:nvPr/>
        </p:nvSpPr>
        <p:spPr>
          <a:xfrm>
            <a:off x="658368" y="4114800"/>
            <a:ext cx="1554480" cy="54864"/>
          </a:xfrm>
          <a:prstGeom prst="rect">
            <a:avLst/>
          </a:prstGeom>
          <a:solidFill>
            <a:srgbClr val="CBA6F7"/>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Présentation générale du projet Agentic TP Platform, son contexte académique et l'objectif global poursuivi.</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gra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INTRODUCTION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Présentation du projet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01</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603504" y="1691640"/>
            <a:ext cx="5486400" cy="1371600"/>
          </a:xfrm>
          <a:prstGeom prst="rect">
            <a:avLst/>
          </a:prstGeom>
          <a:noFill/>
          <a:ln/>
        </p:spPr>
        <p:txBody>
          <a:bodyPr wrap="square" lIns="0" tIns="0" rIns="0" bIns="0" rtlCol="0" anchor="ctr"/>
          <a:lstStyle/>
          <a:p>
            <a:pPr marL="0" indent="0">
              <a:lnSpc>
                <a:spcPct val="120000"/>
              </a:lnSpc>
              <a:buNone/>
            </a:pPr>
            <a:r>
              <a:rPr lang="en-US" sz="1450" dirty="0">
                <a:solidFill>
                  <a:srgbClr val="BAC2DE"/>
                </a:solidFill>
                <a:latin typeface="Calibri" pitchFamily="34" charset="0"/>
                <a:ea typeface="Calibri" pitchFamily="34" charset="-122"/>
                <a:cs typeface="Calibri" pitchFamily="34" charset="-120"/>
              </a:rPr>
              <a:t>Agentic TP Platform est une plateforme éducative réalisée pour le Hackathon ENSET 2025 par l'équipe embedding3x. Elle repense le déroulement des travaux pratiques de programmation en plaçant des agents IA spécialisés au cœur de l'apprentissage.</a:t>
            </a:r>
            <a:endParaRPr lang="en-US" sz="1450" dirty="0"/>
          </a:p>
        </p:txBody>
      </p:sp>
      <p:sp>
        <p:nvSpPr>
          <p:cNvPr id="9" name="Shape 6"/>
          <p:cNvSpPr/>
          <p:nvPr/>
        </p:nvSpPr>
        <p:spPr>
          <a:xfrm>
            <a:off x="566928" y="3154680"/>
            <a:ext cx="5577840" cy="896112"/>
          </a:xfrm>
          <a:prstGeom prst="roundRect">
            <a:avLst>
              <a:gd name="adj" fmla="val 9184"/>
            </a:avLst>
          </a:prstGeom>
          <a:solidFill>
            <a:srgbClr val="232338"/>
          </a:solidFill>
          <a:ln w="12700">
            <a:solidFill>
              <a:srgbClr val="CBA6F7"/>
            </a:solidFill>
            <a:prstDash val="solid"/>
          </a:ln>
          <a:effectLst>
            <a:outerShdw blurRad="114300" dist="38100" dir="5400000" algn="bl" rotWithShape="0">
              <a:srgbClr val="000000">
                <a:alpha val="35000"/>
              </a:srgbClr>
            </a:outerShdw>
          </a:effectLst>
        </p:spPr>
      </p:sp>
      <p:sp>
        <p:nvSpPr>
          <p:cNvPr id="10" name="Shape 7"/>
          <p:cNvSpPr/>
          <p:nvPr/>
        </p:nvSpPr>
        <p:spPr>
          <a:xfrm>
            <a:off x="777240" y="3355848"/>
            <a:ext cx="493776" cy="493776"/>
          </a:xfrm>
          <a:prstGeom prst="roundRect">
            <a:avLst>
              <a:gd name="adj" fmla="val 22222"/>
            </a:avLst>
          </a:prstGeom>
          <a:solidFill>
            <a:srgbClr val="11111B"/>
          </a:solidFill>
          <a:ln w="12700">
            <a:solidFill>
              <a:srgbClr val="CBA6F7"/>
            </a:solidFill>
            <a:prstDash val="solid"/>
          </a:ln>
        </p:spPr>
      </p:sp>
      <p:pic>
        <p:nvPicPr>
          <p:cNvPr id="11" name="Image 1" descr="assets/ic_school.png"/>
          <p:cNvPicPr>
            <a:picLocks noChangeAspect="1"/>
          </p:cNvPicPr>
          <p:nvPr/>
        </p:nvPicPr>
        <p:blipFill>
          <a:blip r:embed="rId4"/>
          <a:stretch>
            <a:fillRect/>
          </a:stretch>
        </p:blipFill>
        <p:spPr>
          <a:xfrm>
            <a:off x="905256" y="3483864"/>
            <a:ext cx="237744" cy="237744"/>
          </a:xfrm>
          <a:prstGeom prst="rect">
            <a:avLst/>
          </a:prstGeom>
        </p:spPr>
      </p:pic>
      <p:sp>
        <p:nvSpPr>
          <p:cNvPr id="12" name="Text 8"/>
          <p:cNvSpPr/>
          <p:nvPr/>
        </p:nvSpPr>
        <p:spPr>
          <a:xfrm>
            <a:off x="1444752" y="3273552"/>
            <a:ext cx="4572000" cy="274320"/>
          </a:xfrm>
          <a:prstGeom prst="rect">
            <a:avLst/>
          </a:prstGeom>
          <a:noFill/>
          <a:ln/>
        </p:spPr>
        <p:txBody>
          <a:bodyPr wrap="square" lIns="0" tIns="0" rIns="0" bIns="0" rtlCol="0" anchor="ctr"/>
          <a:lstStyle/>
          <a:p>
            <a:pPr marL="0" indent="0">
              <a:buNone/>
            </a:pPr>
            <a:r>
              <a:rPr lang="en-US" sz="1400" b="1" dirty="0">
                <a:solidFill>
                  <a:srgbClr val="CBA6F7"/>
                </a:solidFill>
                <a:latin typeface="Georgia" pitchFamily="34" charset="0"/>
                <a:ea typeface="Georgia" pitchFamily="34" charset="-122"/>
                <a:cs typeface="Georgia" pitchFamily="34" charset="-120"/>
              </a:rPr>
              <a:t>Contexte</a:t>
            </a:r>
            <a:endParaRPr lang="en-US" sz="1400" dirty="0"/>
          </a:p>
        </p:txBody>
      </p:sp>
      <p:sp>
        <p:nvSpPr>
          <p:cNvPr id="13" name="Text 9"/>
          <p:cNvSpPr/>
          <p:nvPr/>
        </p:nvSpPr>
        <p:spPr>
          <a:xfrm>
            <a:off x="1444752" y="3547872"/>
            <a:ext cx="4572000" cy="457200"/>
          </a:xfrm>
          <a:prstGeom prst="rect">
            <a:avLst/>
          </a:prstGeom>
          <a:noFill/>
          <a:ln/>
        </p:spPr>
        <p:txBody>
          <a:bodyPr wrap="square" lIns="0" tIns="0" rIns="0" bIns="0" rtlCol="0" anchor="ctr"/>
          <a:lstStyle/>
          <a:p>
            <a:pPr marL="0" indent="0">
              <a:lnSpc>
                <a:spcPct val="105000"/>
              </a:lnSpc>
              <a:buNone/>
            </a:pPr>
            <a:r>
              <a:rPr lang="en-US" sz="1080" dirty="0">
                <a:solidFill>
                  <a:srgbClr val="A6ADC8"/>
                </a:solidFill>
                <a:latin typeface="Calibri" pitchFamily="34" charset="0"/>
                <a:ea typeface="Calibri" pitchFamily="34" charset="-122"/>
                <a:cs typeface="Calibri" pitchFamily="34" charset="-120"/>
              </a:rPr>
              <a:t>Projet de Hackathon ENSET 2025 — équipe embedding3x. Démo en ligne déployée sur Vercel.</a:t>
            </a:r>
            <a:endParaRPr lang="en-US" sz="1080" dirty="0"/>
          </a:p>
        </p:txBody>
      </p:sp>
      <p:sp>
        <p:nvSpPr>
          <p:cNvPr id="14" name="Shape 10"/>
          <p:cNvSpPr/>
          <p:nvPr/>
        </p:nvSpPr>
        <p:spPr>
          <a:xfrm>
            <a:off x="566928" y="4142232"/>
            <a:ext cx="5577840" cy="896112"/>
          </a:xfrm>
          <a:prstGeom prst="roundRect">
            <a:avLst>
              <a:gd name="adj" fmla="val 9184"/>
            </a:avLst>
          </a:prstGeom>
          <a:solidFill>
            <a:srgbClr val="232338"/>
          </a:solidFill>
          <a:ln w="12700">
            <a:solidFill>
              <a:srgbClr val="89B4FA"/>
            </a:solidFill>
            <a:prstDash val="solid"/>
          </a:ln>
          <a:effectLst>
            <a:outerShdw blurRad="114300" dist="38100" dir="5400000" algn="bl" rotWithShape="0">
              <a:srgbClr val="000000">
                <a:alpha val="35000"/>
              </a:srgbClr>
            </a:outerShdw>
          </a:effectLst>
        </p:spPr>
      </p:sp>
      <p:sp>
        <p:nvSpPr>
          <p:cNvPr id="15" name="Shape 11"/>
          <p:cNvSpPr/>
          <p:nvPr/>
        </p:nvSpPr>
        <p:spPr>
          <a:xfrm>
            <a:off x="777240" y="4343400"/>
            <a:ext cx="493776" cy="493776"/>
          </a:xfrm>
          <a:prstGeom prst="roundRect">
            <a:avLst>
              <a:gd name="adj" fmla="val 22222"/>
            </a:avLst>
          </a:prstGeom>
          <a:solidFill>
            <a:srgbClr val="11111B"/>
          </a:solidFill>
          <a:ln w="12700">
            <a:solidFill>
              <a:srgbClr val="89B4FA"/>
            </a:solidFill>
            <a:prstDash val="solid"/>
          </a:ln>
        </p:spPr>
      </p:sp>
      <p:pic>
        <p:nvPicPr>
          <p:cNvPr id="16" name="Image 2" descr="assets/ic_robot.png"/>
          <p:cNvPicPr>
            <a:picLocks noChangeAspect="1"/>
          </p:cNvPicPr>
          <p:nvPr/>
        </p:nvPicPr>
        <p:blipFill>
          <a:blip r:embed="rId5"/>
          <a:stretch>
            <a:fillRect/>
          </a:stretch>
        </p:blipFill>
        <p:spPr>
          <a:xfrm>
            <a:off x="905256" y="4471416"/>
            <a:ext cx="237744" cy="237744"/>
          </a:xfrm>
          <a:prstGeom prst="rect">
            <a:avLst/>
          </a:prstGeom>
        </p:spPr>
      </p:pic>
      <p:sp>
        <p:nvSpPr>
          <p:cNvPr id="17" name="Text 12"/>
          <p:cNvSpPr/>
          <p:nvPr/>
        </p:nvSpPr>
        <p:spPr>
          <a:xfrm>
            <a:off x="1444752" y="4261104"/>
            <a:ext cx="4572000" cy="274320"/>
          </a:xfrm>
          <a:prstGeom prst="rect">
            <a:avLst/>
          </a:prstGeom>
          <a:noFill/>
          <a:ln/>
        </p:spPr>
        <p:txBody>
          <a:bodyPr wrap="square" lIns="0" tIns="0" rIns="0" bIns="0" rtlCol="0" anchor="ctr"/>
          <a:lstStyle/>
          <a:p>
            <a:pPr marL="0" indent="0">
              <a:buNone/>
            </a:pPr>
            <a:r>
              <a:rPr lang="en-US" sz="1400" b="1" dirty="0">
                <a:solidFill>
                  <a:srgbClr val="89B4FA"/>
                </a:solidFill>
                <a:latin typeface="Georgia" pitchFamily="34" charset="0"/>
                <a:ea typeface="Georgia" pitchFamily="34" charset="-122"/>
                <a:cs typeface="Georgia" pitchFamily="34" charset="-120"/>
              </a:rPr>
              <a:t>Objectif global</a:t>
            </a:r>
            <a:endParaRPr lang="en-US" sz="1400" dirty="0"/>
          </a:p>
        </p:txBody>
      </p:sp>
      <p:sp>
        <p:nvSpPr>
          <p:cNvPr id="18" name="Text 13"/>
          <p:cNvSpPr/>
          <p:nvPr/>
        </p:nvSpPr>
        <p:spPr>
          <a:xfrm>
            <a:off x="1444752" y="4535424"/>
            <a:ext cx="4572000" cy="457200"/>
          </a:xfrm>
          <a:prstGeom prst="rect">
            <a:avLst/>
          </a:prstGeom>
          <a:noFill/>
          <a:ln/>
        </p:spPr>
        <p:txBody>
          <a:bodyPr wrap="square" lIns="0" tIns="0" rIns="0" bIns="0" rtlCol="0" anchor="ctr"/>
          <a:lstStyle/>
          <a:p>
            <a:pPr marL="0" indent="0">
              <a:lnSpc>
                <a:spcPct val="105000"/>
              </a:lnSpc>
              <a:buNone/>
            </a:pPr>
            <a:r>
              <a:rPr lang="en-US" sz="1080" dirty="0">
                <a:solidFill>
                  <a:srgbClr val="A6ADC8"/>
                </a:solidFill>
                <a:latin typeface="Calibri" pitchFamily="34" charset="0"/>
                <a:ea typeface="Calibri" pitchFamily="34" charset="-122"/>
                <a:cs typeface="Calibri" pitchFamily="34" charset="-120"/>
              </a:rPr>
              <a:t>Un assistant disponible 24/7 qui guide l'étudiant sans donner la solution et redonne de la visibilité à l'enseignant.</a:t>
            </a:r>
            <a:endParaRPr lang="en-US" sz="1080" dirty="0"/>
          </a:p>
        </p:txBody>
      </p:sp>
      <p:sp>
        <p:nvSpPr>
          <p:cNvPr id="19" name="Shape 14"/>
          <p:cNvSpPr/>
          <p:nvPr/>
        </p:nvSpPr>
        <p:spPr>
          <a:xfrm>
            <a:off x="566928" y="5129784"/>
            <a:ext cx="5577840" cy="896112"/>
          </a:xfrm>
          <a:prstGeom prst="roundRect">
            <a:avLst>
              <a:gd name="adj" fmla="val 9184"/>
            </a:avLst>
          </a:prstGeom>
          <a:solidFill>
            <a:srgbClr val="232338"/>
          </a:solidFill>
          <a:ln w="12700">
            <a:solidFill>
              <a:srgbClr val="A6E3A1"/>
            </a:solidFill>
            <a:prstDash val="solid"/>
          </a:ln>
          <a:effectLst>
            <a:outerShdw blurRad="114300" dist="38100" dir="5400000" algn="bl" rotWithShape="0">
              <a:srgbClr val="000000">
                <a:alpha val="35000"/>
              </a:srgbClr>
            </a:outerShdw>
          </a:effectLst>
        </p:spPr>
      </p:sp>
      <p:sp>
        <p:nvSpPr>
          <p:cNvPr id="20" name="Shape 15"/>
          <p:cNvSpPr/>
          <p:nvPr/>
        </p:nvSpPr>
        <p:spPr>
          <a:xfrm>
            <a:off x="777240" y="5330952"/>
            <a:ext cx="493776" cy="493776"/>
          </a:xfrm>
          <a:prstGeom prst="roundRect">
            <a:avLst>
              <a:gd name="adj" fmla="val 22222"/>
            </a:avLst>
          </a:prstGeom>
          <a:solidFill>
            <a:srgbClr val="11111B"/>
          </a:solidFill>
          <a:ln w="12700">
            <a:solidFill>
              <a:srgbClr val="A6E3A1"/>
            </a:solidFill>
            <a:prstDash val="solid"/>
          </a:ln>
        </p:spPr>
      </p:sp>
      <p:pic>
        <p:nvPicPr>
          <p:cNvPr id="21" name="Image 3" descr="assets/ic_cubes.png"/>
          <p:cNvPicPr>
            <a:picLocks noChangeAspect="1"/>
          </p:cNvPicPr>
          <p:nvPr/>
        </p:nvPicPr>
        <p:blipFill>
          <a:blip r:embed="rId6"/>
          <a:stretch>
            <a:fillRect/>
          </a:stretch>
        </p:blipFill>
        <p:spPr>
          <a:xfrm>
            <a:off x="905256" y="5458968"/>
            <a:ext cx="237744" cy="237744"/>
          </a:xfrm>
          <a:prstGeom prst="rect">
            <a:avLst/>
          </a:prstGeom>
        </p:spPr>
      </p:pic>
      <p:sp>
        <p:nvSpPr>
          <p:cNvPr id="22" name="Text 16"/>
          <p:cNvSpPr/>
          <p:nvPr/>
        </p:nvSpPr>
        <p:spPr>
          <a:xfrm>
            <a:off x="1444752" y="5248656"/>
            <a:ext cx="4572000" cy="274320"/>
          </a:xfrm>
          <a:prstGeom prst="rect">
            <a:avLst/>
          </a:prstGeom>
          <a:noFill/>
          <a:ln/>
        </p:spPr>
        <p:txBody>
          <a:bodyPr wrap="square" lIns="0" tIns="0" rIns="0" bIns="0" rtlCol="0" anchor="ctr"/>
          <a:lstStyle/>
          <a:p>
            <a:pPr marL="0" indent="0">
              <a:buNone/>
            </a:pPr>
            <a:r>
              <a:rPr lang="en-US" sz="1400" b="1" dirty="0">
                <a:solidFill>
                  <a:srgbClr val="A6E3A1"/>
                </a:solidFill>
                <a:latin typeface="Georgia" pitchFamily="34" charset="0"/>
                <a:ea typeface="Georgia" pitchFamily="34" charset="-122"/>
                <a:cs typeface="Georgia" pitchFamily="34" charset="-120"/>
              </a:rPr>
              <a:t>Périmètre</a:t>
            </a:r>
            <a:endParaRPr lang="en-US" sz="1400" dirty="0"/>
          </a:p>
        </p:txBody>
      </p:sp>
      <p:sp>
        <p:nvSpPr>
          <p:cNvPr id="23" name="Text 17"/>
          <p:cNvSpPr/>
          <p:nvPr/>
        </p:nvSpPr>
        <p:spPr>
          <a:xfrm>
            <a:off x="1444752" y="5522976"/>
            <a:ext cx="4572000" cy="457200"/>
          </a:xfrm>
          <a:prstGeom prst="rect">
            <a:avLst/>
          </a:prstGeom>
          <a:noFill/>
          <a:ln/>
        </p:spPr>
        <p:txBody>
          <a:bodyPr wrap="square" lIns="0" tIns="0" rIns="0" bIns="0" rtlCol="0" anchor="ctr"/>
          <a:lstStyle/>
          <a:p>
            <a:pPr marL="0" indent="0">
              <a:lnSpc>
                <a:spcPct val="105000"/>
              </a:lnSpc>
              <a:buNone/>
            </a:pPr>
            <a:r>
              <a:rPr lang="en-US" sz="1080" dirty="0">
                <a:solidFill>
                  <a:srgbClr val="A6ADC8"/>
                </a:solidFill>
                <a:latin typeface="Calibri" pitchFamily="34" charset="0"/>
                <a:ea typeface="Calibri" pitchFamily="34" charset="-122"/>
                <a:cs typeface="Calibri" pitchFamily="34" charset="-120"/>
              </a:rPr>
              <a:t>Frontend Next.js 14 + backend Spring Cloud + 4 agents IA LangGraph servis par Ollama, le tout conteneurisé.</a:t>
            </a:r>
            <a:endParaRPr lang="en-US" sz="1080" dirty="0"/>
          </a:p>
        </p:txBody>
      </p:sp>
      <p:sp>
        <p:nvSpPr>
          <p:cNvPr id="24" name="Shape 18"/>
          <p:cNvSpPr/>
          <p:nvPr/>
        </p:nvSpPr>
        <p:spPr>
          <a:xfrm>
            <a:off x="6355080" y="1783080"/>
            <a:ext cx="5623560" cy="2982796"/>
          </a:xfrm>
          <a:prstGeom prst="roundRect">
            <a:avLst>
              <a:gd name="adj" fmla="val 2759"/>
            </a:avLst>
          </a:prstGeom>
          <a:solidFill>
            <a:srgbClr val="11111B"/>
          </a:solidFill>
          <a:ln w="12700">
            <a:solidFill>
              <a:srgbClr val="45475A"/>
            </a:solidFill>
            <a:prstDash val="solid"/>
          </a:ln>
          <a:effectLst>
            <a:outerShdw blurRad="114300" dist="38100" dir="5400000" algn="bl" rotWithShape="0">
              <a:srgbClr val="000000">
                <a:alpha val="35000"/>
              </a:srgbClr>
            </a:outerShdw>
          </a:effectLst>
        </p:spPr>
      </p:sp>
      <p:pic>
        <p:nvPicPr>
          <p:cNvPr id="25" name="Image 4" descr="assets/landing.png"/>
          <p:cNvPicPr>
            <a:picLocks noChangeAspect="1"/>
          </p:cNvPicPr>
          <p:nvPr/>
        </p:nvPicPr>
        <p:blipFill>
          <a:blip r:embed="rId7"/>
          <a:stretch>
            <a:fillRect/>
          </a:stretch>
        </p:blipFill>
        <p:spPr>
          <a:xfrm>
            <a:off x="6492240" y="1920240"/>
            <a:ext cx="5349240" cy="2708476"/>
          </a:xfrm>
          <a:prstGeom prst="rect">
            <a:avLst/>
          </a:prstGeom>
        </p:spPr>
      </p:pic>
      <p:sp>
        <p:nvSpPr>
          <p:cNvPr id="26" name="Text 19"/>
          <p:cNvSpPr/>
          <p:nvPr/>
        </p:nvSpPr>
        <p:spPr>
          <a:xfrm>
            <a:off x="6492240" y="4811596"/>
            <a:ext cx="5349240" cy="274320"/>
          </a:xfrm>
          <a:prstGeom prst="rect">
            <a:avLst/>
          </a:prstGeom>
          <a:noFill/>
          <a:ln/>
        </p:spPr>
        <p:txBody>
          <a:bodyPr wrap="square" lIns="0" tIns="0" rIns="0" bIns="0" rtlCol="0" anchor="ctr"/>
          <a:lstStyle/>
          <a:p>
            <a:pPr marL="0" indent="0" algn="ctr">
              <a:buNone/>
            </a:pPr>
            <a:r>
              <a:rPr lang="en-US" sz="1000" dirty="0">
                <a:solidFill>
                  <a:srgbClr val="6C7086"/>
                </a:solidFill>
                <a:latin typeface="Consolas" pitchFamily="34" charset="0"/>
                <a:ea typeface="Consolas" pitchFamily="34" charset="-122"/>
                <a:cs typeface="Consolas" pitchFamily="34" charset="-120"/>
              </a:rPr>
              <a:t>Page d'accueil — tp-front-seven.vercel.app</a:t>
            </a:r>
            <a:endParaRPr lang="en-US" sz="1000" dirty="0"/>
          </a:p>
        </p:txBody>
      </p:sp>
      <p:sp>
        <p:nvSpPr>
          <p:cNvPr id="27" name="Shape 20"/>
          <p:cNvSpPr/>
          <p:nvPr/>
        </p:nvSpPr>
        <p:spPr>
          <a:xfrm>
            <a:off x="6355080" y="4892040"/>
            <a:ext cx="5623560" cy="1325880"/>
          </a:xfrm>
          <a:prstGeom prst="roundRect">
            <a:avLst>
              <a:gd name="adj" fmla="val 6207"/>
            </a:avLst>
          </a:prstGeom>
          <a:solidFill>
            <a:srgbClr val="232338"/>
          </a:solidFill>
          <a:ln w="13970">
            <a:solidFill>
              <a:srgbClr val="CBA6F7"/>
            </a:solidFill>
            <a:prstDash val="solid"/>
          </a:ln>
        </p:spPr>
      </p:sp>
      <p:sp>
        <p:nvSpPr>
          <p:cNvPr id="28" name="Text 21"/>
          <p:cNvSpPr/>
          <p:nvPr/>
        </p:nvSpPr>
        <p:spPr>
          <a:xfrm>
            <a:off x="6583680" y="5029200"/>
            <a:ext cx="5257800" cy="365760"/>
          </a:xfrm>
          <a:prstGeom prst="rect">
            <a:avLst/>
          </a:prstGeom>
          <a:noFill/>
          <a:ln/>
        </p:spPr>
        <p:txBody>
          <a:bodyPr wrap="square" lIns="0" tIns="0" rIns="0" bIns="0" rtlCol="0" anchor="ctr"/>
          <a:lstStyle/>
          <a:p>
            <a:pPr marL="0" indent="0">
              <a:buNone/>
            </a:pPr>
            <a:r>
              <a:rPr lang="en-US" sz="1500" b="1" dirty="0">
                <a:solidFill>
                  <a:srgbClr val="CBA6F7"/>
                </a:solidFill>
                <a:latin typeface="Georgia" pitchFamily="34" charset="0"/>
                <a:ea typeface="Georgia" pitchFamily="34" charset="-122"/>
                <a:cs typeface="Georgia" pitchFamily="34" charset="-120"/>
              </a:rPr>
              <a:t>« The Future of Practical Work is Agentic »</a:t>
            </a:r>
            <a:endParaRPr lang="en-US" sz="1500" dirty="0"/>
          </a:p>
        </p:txBody>
      </p:sp>
      <p:sp>
        <p:nvSpPr>
          <p:cNvPr id="29" name="Text 22"/>
          <p:cNvSpPr/>
          <p:nvPr/>
        </p:nvSpPr>
        <p:spPr>
          <a:xfrm>
            <a:off x="6583680" y="5440680"/>
            <a:ext cx="5257800" cy="640080"/>
          </a:xfrm>
          <a:prstGeom prst="rect">
            <a:avLst/>
          </a:prstGeom>
          <a:noFill/>
          <a:ln/>
        </p:spPr>
        <p:txBody>
          <a:bodyPr wrap="square" lIns="0" tIns="0" rIns="0" bIns="0" rtlCol="0" anchor="ctr"/>
          <a:lstStyle/>
          <a:p>
            <a:pPr marL="0" indent="0">
              <a:lnSpc>
                <a:spcPct val="110000"/>
              </a:lnSpc>
              <a:buNone/>
            </a:pPr>
            <a:r>
              <a:rPr lang="en-US" sz="1200" dirty="0">
                <a:solidFill>
                  <a:srgbClr val="BAC2DE"/>
                </a:solidFill>
                <a:latin typeface="Calibri" pitchFamily="34" charset="0"/>
                <a:ea typeface="Calibri" pitchFamily="34" charset="-122"/>
                <a:cs typeface="Calibri" pitchFamily="34" charset="-120"/>
              </a:rPr>
              <a:t>Une nouvelle manière d'apprendre à coder : guidée, mesurable et honnête.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F9E2AF"/>
            </a:solidFill>
            <a:prstDash val="solid"/>
          </a:ln>
        </p:spPr>
      </p:sp>
      <p:pic>
        <p:nvPicPr>
          <p:cNvPr id="3" name="Image 0" descr="assets/ic_book.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02</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F9E2AF"/>
                </a:solidFill>
                <a:latin typeface="Calibri" pitchFamily="34" charset="0"/>
                <a:ea typeface="Calibri" pitchFamily="34" charset="-122"/>
                <a:cs typeface="Calibri" pitchFamily="34" charset="-120"/>
              </a:rPr>
              <a:t>PARTIE 02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Cahier des charges</a:t>
            </a:r>
            <a:endParaRPr lang="en-US" sz="4400" dirty="0"/>
          </a:p>
        </p:txBody>
      </p:sp>
      <p:sp>
        <p:nvSpPr>
          <p:cNvPr id="8" name="Shape 5"/>
          <p:cNvSpPr/>
          <p:nvPr/>
        </p:nvSpPr>
        <p:spPr>
          <a:xfrm>
            <a:off x="658368" y="4114800"/>
            <a:ext cx="1554480" cy="54864"/>
          </a:xfrm>
          <a:prstGeom prst="rect">
            <a:avLst/>
          </a:prstGeom>
          <a:solidFill>
            <a:srgbClr val="F9E2AF"/>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Les limites des travaux pratiques traditionnels, le besoin identifié et la solution retenue avec ses objectifs.</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F9E2AF"/>
            </a:solidFill>
            <a:prstDash val="solid"/>
          </a:ln>
        </p:spPr>
      </p:sp>
      <p:pic>
        <p:nvPicPr>
          <p:cNvPr id="3" name="Image 0" descr="assets/ic_bulb.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F9E2AF"/>
                </a:solidFill>
                <a:latin typeface="Calibri" pitchFamily="34" charset="0"/>
                <a:ea typeface="Calibri" pitchFamily="34" charset="-122"/>
                <a:cs typeface="Calibri" pitchFamily="34" charset="-120"/>
              </a:rPr>
              <a:t>CAHIER DES CHARGES</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Problématique — les TP traditionnels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02</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00200"/>
            <a:ext cx="2542032" cy="2286000"/>
          </a:xfrm>
          <a:prstGeom prst="roundRect">
            <a:avLst>
              <a:gd name="adj" fmla="val 3600"/>
            </a:avLst>
          </a:prstGeom>
          <a:solidFill>
            <a:srgbClr val="1E1E2E"/>
          </a:solidFill>
          <a:ln w="12700">
            <a:solidFill>
              <a:srgbClr val="313244"/>
            </a:solidFill>
            <a:prstDash val="solid"/>
          </a:ln>
          <a:effectLst>
            <a:outerShdw blurRad="114300" dist="38100" dir="5400000" algn="bl" rotWithShape="0">
              <a:srgbClr val="000000">
                <a:alpha val="35000"/>
              </a:srgbClr>
            </a:outerShdw>
          </a:effectLst>
        </p:spPr>
      </p:sp>
      <p:sp>
        <p:nvSpPr>
          <p:cNvPr id="9" name="Shape 6"/>
          <p:cNvSpPr/>
          <p:nvPr/>
        </p:nvSpPr>
        <p:spPr>
          <a:xfrm>
            <a:off x="768096" y="1801368"/>
            <a:ext cx="128016" cy="128016"/>
          </a:xfrm>
          <a:prstGeom prst="ellipse">
            <a:avLst/>
          </a:prstGeom>
          <a:solidFill>
            <a:srgbClr val="F38BA8"/>
          </a:solidFill>
          <a:ln/>
        </p:spPr>
      </p:sp>
      <p:pic>
        <p:nvPicPr>
          <p:cNvPr id="10" name="Image 1" descr="assets/ic_users.png"/>
          <p:cNvPicPr>
            <a:picLocks noChangeAspect="1"/>
          </p:cNvPicPr>
          <p:nvPr/>
        </p:nvPicPr>
        <p:blipFill>
          <a:blip r:embed="rId4"/>
          <a:stretch>
            <a:fillRect/>
          </a:stretch>
        </p:blipFill>
        <p:spPr>
          <a:xfrm>
            <a:off x="822960" y="2167128"/>
            <a:ext cx="457200" cy="457200"/>
          </a:xfrm>
          <a:prstGeom prst="rect">
            <a:avLst/>
          </a:prstGeom>
        </p:spPr>
      </p:pic>
      <p:sp>
        <p:nvSpPr>
          <p:cNvPr id="11" name="Text 7"/>
          <p:cNvSpPr/>
          <p:nvPr/>
        </p:nvSpPr>
        <p:spPr>
          <a:xfrm>
            <a:off x="822960" y="2743200"/>
            <a:ext cx="2084832" cy="365760"/>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Encadrement limité</a:t>
            </a:r>
            <a:endParaRPr lang="en-US" sz="1600" dirty="0"/>
          </a:p>
        </p:txBody>
      </p:sp>
      <p:sp>
        <p:nvSpPr>
          <p:cNvPr id="12" name="Text 8"/>
          <p:cNvSpPr/>
          <p:nvPr/>
        </p:nvSpPr>
        <p:spPr>
          <a:xfrm>
            <a:off x="822960" y="3108960"/>
            <a:ext cx="2066544" cy="685800"/>
          </a:xfrm>
          <a:prstGeom prst="rect">
            <a:avLst/>
          </a:prstGeom>
          <a:noFill/>
          <a:ln/>
        </p:spPr>
        <p:txBody>
          <a:bodyPr wrap="square" lIns="0" tIns="0" rIns="0" bIns="0" rtlCol="0" anchor="ctr"/>
          <a:lstStyle/>
          <a:p>
            <a:pPr marL="0" indent="0">
              <a:lnSpc>
                <a:spcPct val="108000"/>
              </a:lnSpc>
              <a:buNone/>
            </a:pPr>
            <a:r>
              <a:rPr lang="en-US" sz="1150" dirty="0">
                <a:solidFill>
                  <a:srgbClr val="A6ADC8"/>
                </a:solidFill>
                <a:latin typeface="Calibri" pitchFamily="34" charset="0"/>
                <a:ea typeface="Calibri" pitchFamily="34" charset="-122"/>
                <a:cs typeface="Calibri" pitchFamily="34" charset="-120"/>
              </a:rPr>
              <a:t>Un enseignant ne peut pas guider 30 étudiants en simultané. Les blocages restent sans réponse immédiate.</a:t>
            </a:r>
            <a:endParaRPr lang="en-US" sz="1150" dirty="0"/>
          </a:p>
        </p:txBody>
      </p:sp>
      <p:sp>
        <p:nvSpPr>
          <p:cNvPr id="13" name="Shape 9"/>
          <p:cNvSpPr/>
          <p:nvPr/>
        </p:nvSpPr>
        <p:spPr>
          <a:xfrm>
            <a:off x="3355848" y="1600200"/>
            <a:ext cx="2542032" cy="2286000"/>
          </a:xfrm>
          <a:prstGeom prst="roundRect">
            <a:avLst>
              <a:gd name="adj" fmla="val 3600"/>
            </a:avLst>
          </a:prstGeom>
          <a:solidFill>
            <a:srgbClr val="1E1E2E"/>
          </a:solidFill>
          <a:ln w="12700">
            <a:solidFill>
              <a:srgbClr val="313244"/>
            </a:solidFill>
            <a:prstDash val="solid"/>
          </a:ln>
          <a:effectLst>
            <a:outerShdw blurRad="114300" dist="38100" dir="5400000" algn="bl" rotWithShape="0">
              <a:srgbClr val="000000">
                <a:alpha val="35000"/>
              </a:srgbClr>
            </a:outerShdw>
          </a:effectLst>
        </p:spPr>
      </p:sp>
      <p:sp>
        <p:nvSpPr>
          <p:cNvPr id="14" name="Shape 10"/>
          <p:cNvSpPr/>
          <p:nvPr/>
        </p:nvSpPr>
        <p:spPr>
          <a:xfrm>
            <a:off x="3557016" y="1801368"/>
            <a:ext cx="128016" cy="128016"/>
          </a:xfrm>
          <a:prstGeom prst="ellipse">
            <a:avLst/>
          </a:prstGeom>
          <a:solidFill>
            <a:srgbClr val="FAB387"/>
          </a:solidFill>
          <a:ln/>
        </p:spPr>
      </p:sp>
      <p:pic>
        <p:nvPicPr>
          <p:cNvPr id="15" name="Image 2" descr="assets/ic_code.png"/>
          <p:cNvPicPr>
            <a:picLocks noChangeAspect="1"/>
          </p:cNvPicPr>
          <p:nvPr/>
        </p:nvPicPr>
        <p:blipFill>
          <a:blip r:embed="rId5"/>
          <a:stretch>
            <a:fillRect/>
          </a:stretch>
        </p:blipFill>
        <p:spPr>
          <a:xfrm>
            <a:off x="3611880" y="2167128"/>
            <a:ext cx="457200" cy="457200"/>
          </a:xfrm>
          <a:prstGeom prst="rect">
            <a:avLst/>
          </a:prstGeom>
        </p:spPr>
      </p:pic>
      <p:sp>
        <p:nvSpPr>
          <p:cNvPr id="16" name="Text 11"/>
          <p:cNvSpPr/>
          <p:nvPr/>
        </p:nvSpPr>
        <p:spPr>
          <a:xfrm>
            <a:off x="3611880" y="2743200"/>
            <a:ext cx="2084832" cy="365760"/>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Copier-coller</a:t>
            </a:r>
            <a:endParaRPr lang="en-US" sz="1600" dirty="0"/>
          </a:p>
        </p:txBody>
      </p:sp>
      <p:sp>
        <p:nvSpPr>
          <p:cNvPr id="17" name="Text 12"/>
          <p:cNvSpPr/>
          <p:nvPr/>
        </p:nvSpPr>
        <p:spPr>
          <a:xfrm>
            <a:off x="3611880" y="3108960"/>
            <a:ext cx="2066544" cy="685800"/>
          </a:xfrm>
          <a:prstGeom prst="rect">
            <a:avLst/>
          </a:prstGeom>
          <a:noFill/>
          <a:ln/>
        </p:spPr>
        <p:txBody>
          <a:bodyPr wrap="square" lIns="0" tIns="0" rIns="0" bIns="0" rtlCol="0" anchor="ctr"/>
          <a:lstStyle/>
          <a:p>
            <a:pPr marL="0" indent="0">
              <a:lnSpc>
                <a:spcPct val="108000"/>
              </a:lnSpc>
              <a:buNone/>
            </a:pPr>
            <a:r>
              <a:rPr lang="en-US" sz="1150" dirty="0">
                <a:solidFill>
                  <a:srgbClr val="A6ADC8"/>
                </a:solidFill>
                <a:latin typeface="Calibri" pitchFamily="34" charset="0"/>
                <a:ea typeface="Calibri" pitchFamily="34" charset="-122"/>
                <a:cs typeface="Calibri" pitchFamily="34" charset="-120"/>
              </a:rPr>
              <a:t>Les corrigés circulent ; le code est copié sans compréhension réelle des concepts sous-jacents.</a:t>
            </a:r>
            <a:endParaRPr lang="en-US" sz="1150" dirty="0"/>
          </a:p>
        </p:txBody>
      </p:sp>
      <p:sp>
        <p:nvSpPr>
          <p:cNvPr id="18" name="Shape 13"/>
          <p:cNvSpPr/>
          <p:nvPr/>
        </p:nvSpPr>
        <p:spPr>
          <a:xfrm>
            <a:off x="6144768" y="1600200"/>
            <a:ext cx="2542032" cy="2286000"/>
          </a:xfrm>
          <a:prstGeom prst="roundRect">
            <a:avLst>
              <a:gd name="adj" fmla="val 3600"/>
            </a:avLst>
          </a:prstGeom>
          <a:solidFill>
            <a:srgbClr val="1E1E2E"/>
          </a:solidFill>
          <a:ln w="12700">
            <a:solidFill>
              <a:srgbClr val="313244"/>
            </a:solidFill>
            <a:prstDash val="solid"/>
          </a:ln>
          <a:effectLst>
            <a:outerShdw blurRad="114300" dist="38100" dir="5400000" algn="bl" rotWithShape="0">
              <a:srgbClr val="000000">
                <a:alpha val="35000"/>
              </a:srgbClr>
            </a:outerShdw>
          </a:effectLst>
        </p:spPr>
      </p:sp>
      <p:sp>
        <p:nvSpPr>
          <p:cNvPr id="19" name="Shape 14"/>
          <p:cNvSpPr/>
          <p:nvPr/>
        </p:nvSpPr>
        <p:spPr>
          <a:xfrm>
            <a:off x="6345936" y="1801368"/>
            <a:ext cx="128016" cy="128016"/>
          </a:xfrm>
          <a:prstGeom prst="ellipse">
            <a:avLst/>
          </a:prstGeom>
          <a:solidFill>
            <a:srgbClr val="F9E2AF"/>
          </a:solidFill>
          <a:ln/>
        </p:spPr>
      </p:sp>
      <p:pic>
        <p:nvPicPr>
          <p:cNvPr id="20" name="Image 3" descr="assets/ic_chart.png"/>
          <p:cNvPicPr>
            <a:picLocks noChangeAspect="1"/>
          </p:cNvPicPr>
          <p:nvPr/>
        </p:nvPicPr>
        <p:blipFill>
          <a:blip r:embed="rId6"/>
          <a:stretch>
            <a:fillRect/>
          </a:stretch>
        </p:blipFill>
        <p:spPr>
          <a:xfrm>
            <a:off x="6400800" y="2167128"/>
            <a:ext cx="457200" cy="457200"/>
          </a:xfrm>
          <a:prstGeom prst="rect">
            <a:avLst/>
          </a:prstGeom>
        </p:spPr>
      </p:pic>
      <p:sp>
        <p:nvSpPr>
          <p:cNvPr id="21" name="Text 15"/>
          <p:cNvSpPr/>
          <p:nvPr/>
        </p:nvSpPr>
        <p:spPr>
          <a:xfrm>
            <a:off x="6400800" y="2743200"/>
            <a:ext cx="2084832" cy="365760"/>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Évaluation tardive</a:t>
            </a:r>
            <a:endParaRPr lang="en-US" sz="1600" dirty="0"/>
          </a:p>
        </p:txBody>
      </p:sp>
      <p:sp>
        <p:nvSpPr>
          <p:cNvPr id="22" name="Text 16"/>
          <p:cNvSpPr/>
          <p:nvPr/>
        </p:nvSpPr>
        <p:spPr>
          <a:xfrm>
            <a:off x="6400800" y="3108960"/>
            <a:ext cx="2066544" cy="685800"/>
          </a:xfrm>
          <a:prstGeom prst="rect">
            <a:avLst/>
          </a:prstGeom>
          <a:noFill/>
          <a:ln/>
        </p:spPr>
        <p:txBody>
          <a:bodyPr wrap="square" lIns="0" tIns="0" rIns="0" bIns="0" rtlCol="0" anchor="ctr"/>
          <a:lstStyle/>
          <a:p>
            <a:pPr marL="0" indent="0">
              <a:lnSpc>
                <a:spcPct val="108000"/>
              </a:lnSpc>
              <a:buNone/>
            </a:pPr>
            <a:r>
              <a:rPr lang="en-US" sz="1150" dirty="0">
                <a:solidFill>
                  <a:srgbClr val="A6ADC8"/>
                </a:solidFill>
                <a:latin typeface="Calibri" pitchFamily="34" charset="0"/>
                <a:ea typeface="Calibri" pitchFamily="34" charset="-122"/>
                <a:cs typeface="Calibri" pitchFamily="34" charset="-120"/>
              </a:rPr>
              <a:t>La correction manuelle est lente et porte sur le résultat final, pas sur le cheminement de l'étudiant.</a:t>
            </a:r>
            <a:endParaRPr lang="en-US" sz="1150" dirty="0"/>
          </a:p>
        </p:txBody>
      </p:sp>
      <p:sp>
        <p:nvSpPr>
          <p:cNvPr id="23" name="Shape 17"/>
          <p:cNvSpPr/>
          <p:nvPr/>
        </p:nvSpPr>
        <p:spPr>
          <a:xfrm>
            <a:off x="8933688" y="1600200"/>
            <a:ext cx="2542032" cy="2286000"/>
          </a:xfrm>
          <a:prstGeom prst="roundRect">
            <a:avLst>
              <a:gd name="adj" fmla="val 3600"/>
            </a:avLst>
          </a:prstGeom>
          <a:solidFill>
            <a:srgbClr val="1E1E2E"/>
          </a:solidFill>
          <a:ln w="12700">
            <a:solidFill>
              <a:srgbClr val="313244"/>
            </a:solidFill>
            <a:prstDash val="solid"/>
          </a:ln>
          <a:effectLst>
            <a:outerShdw blurRad="114300" dist="38100" dir="5400000" algn="bl" rotWithShape="0">
              <a:srgbClr val="000000">
                <a:alpha val="35000"/>
              </a:srgbClr>
            </a:outerShdw>
          </a:effectLst>
        </p:spPr>
      </p:sp>
      <p:sp>
        <p:nvSpPr>
          <p:cNvPr id="24" name="Shape 18"/>
          <p:cNvSpPr/>
          <p:nvPr/>
        </p:nvSpPr>
        <p:spPr>
          <a:xfrm>
            <a:off x="9134856" y="1801368"/>
            <a:ext cx="128016" cy="128016"/>
          </a:xfrm>
          <a:prstGeom prst="ellipse">
            <a:avLst/>
          </a:prstGeom>
          <a:solidFill>
            <a:srgbClr val="EBA0AC"/>
          </a:solidFill>
          <a:ln/>
        </p:spPr>
      </p:sp>
      <p:pic>
        <p:nvPicPr>
          <p:cNvPr id="25" name="Image 4" descr="assets/ic_clock.png"/>
          <p:cNvPicPr>
            <a:picLocks noChangeAspect="1"/>
          </p:cNvPicPr>
          <p:nvPr/>
        </p:nvPicPr>
        <p:blipFill>
          <a:blip r:embed="rId7"/>
          <a:stretch>
            <a:fillRect/>
          </a:stretch>
        </p:blipFill>
        <p:spPr>
          <a:xfrm>
            <a:off x="9189720" y="2167128"/>
            <a:ext cx="457200" cy="457200"/>
          </a:xfrm>
          <a:prstGeom prst="rect">
            <a:avLst/>
          </a:prstGeom>
        </p:spPr>
      </p:pic>
      <p:sp>
        <p:nvSpPr>
          <p:cNvPr id="26" name="Text 19"/>
          <p:cNvSpPr/>
          <p:nvPr/>
        </p:nvSpPr>
        <p:spPr>
          <a:xfrm>
            <a:off x="9189720" y="2743200"/>
            <a:ext cx="2084832" cy="365760"/>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Aucune traçabilité</a:t>
            </a:r>
            <a:endParaRPr lang="en-US" sz="1600" dirty="0"/>
          </a:p>
        </p:txBody>
      </p:sp>
      <p:sp>
        <p:nvSpPr>
          <p:cNvPr id="27" name="Text 20"/>
          <p:cNvSpPr/>
          <p:nvPr/>
        </p:nvSpPr>
        <p:spPr>
          <a:xfrm>
            <a:off x="9189720" y="3108960"/>
            <a:ext cx="2066544" cy="685800"/>
          </a:xfrm>
          <a:prstGeom prst="rect">
            <a:avLst/>
          </a:prstGeom>
          <a:noFill/>
          <a:ln/>
        </p:spPr>
        <p:txBody>
          <a:bodyPr wrap="square" lIns="0" tIns="0" rIns="0" bIns="0" rtlCol="0" anchor="ctr"/>
          <a:lstStyle/>
          <a:p>
            <a:pPr marL="0" indent="0">
              <a:lnSpc>
                <a:spcPct val="108000"/>
              </a:lnSpc>
              <a:buNone/>
            </a:pPr>
            <a:r>
              <a:rPr lang="en-US" sz="1150" dirty="0">
                <a:solidFill>
                  <a:srgbClr val="A6ADC8"/>
                </a:solidFill>
                <a:latin typeface="Calibri" pitchFamily="34" charset="0"/>
                <a:ea typeface="Calibri" pitchFamily="34" charset="-122"/>
                <a:cs typeface="Calibri" pitchFamily="34" charset="-120"/>
              </a:rPr>
              <a:t>Temps passé, indices utilisés, niveau de compréhension : invisibles pour l'enseignant.</a:t>
            </a:r>
            <a:endParaRPr lang="en-US" sz="1150" dirty="0"/>
          </a:p>
        </p:txBody>
      </p:sp>
      <p:sp>
        <p:nvSpPr>
          <p:cNvPr id="28" name="Shape 21"/>
          <p:cNvSpPr/>
          <p:nvPr/>
        </p:nvSpPr>
        <p:spPr>
          <a:xfrm>
            <a:off x="566928" y="4160520"/>
            <a:ext cx="11055096" cy="1783080"/>
          </a:xfrm>
          <a:prstGeom prst="roundRect">
            <a:avLst>
              <a:gd name="adj" fmla="val 4615"/>
            </a:avLst>
          </a:prstGeom>
          <a:solidFill>
            <a:srgbClr val="232338"/>
          </a:solidFill>
          <a:ln w="12700">
            <a:solidFill>
              <a:srgbClr val="313244"/>
            </a:solidFill>
            <a:prstDash val="solid"/>
          </a:ln>
          <a:effectLst>
            <a:outerShdw blurRad="114300" dist="38100" dir="5400000" algn="bl" rotWithShape="0">
              <a:srgbClr val="000000">
                <a:alpha val="35000"/>
              </a:srgbClr>
            </a:outerShdw>
          </a:effectLst>
        </p:spPr>
      </p:sp>
      <p:pic>
        <p:nvPicPr>
          <p:cNvPr id="29" name="Image 5" descr="assets/ic_arrow.png"/>
          <p:cNvPicPr>
            <a:picLocks noChangeAspect="1"/>
          </p:cNvPicPr>
          <p:nvPr/>
        </p:nvPicPr>
        <p:blipFill>
          <a:blip r:embed="rId8"/>
          <a:stretch>
            <a:fillRect/>
          </a:stretch>
        </p:blipFill>
        <p:spPr>
          <a:xfrm>
            <a:off x="868680" y="4800600"/>
            <a:ext cx="411480" cy="411480"/>
          </a:xfrm>
          <a:prstGeom prst="rect">
            <a:avLst/>
          </a:prstGeom>
        </p:spPr>
      </p:pic>
      <p:sp>
        <p:nvSpPr>
          <p:cNvPr id="30" name="Text 22"/>
          <p:cNvSpPr/>
          <p:nvPr/>
        </p:nvSpPr>
        <p:spPr>
          <a:xfrm>
            <a:off x="1463040" y="4370832"/>
            <a:ext cx="3657600" cy="320040"/>
          </a:xfrm>
          <a:prstGeom prst="rect">
            <a:avLst/>
          </a:prstGeom>
          <a:noFill/>
          <a:ln/>
        </p:spPr>
        <p:txBody>
          <a:bodyPr wrap="square" lIns="0" tIns="0" rIns="0" bIns="0" rtlCol="0" anchor="ctr"/>
          <a:lstStyle/>
          <a:p>
            <a:pPr marL="0" indent="0">
              <a:buNone/>
            </a:pPr>
            <a:r>
              <a:rPr lang="en-US" sz="1200" b="1" kern="0" spc="200" dirty="0">
                <a:solidFill>
                  <a:srgbClr val="CBA6F7"/>
                </a:solidFill>
                <a:latin typeface="Calibri" pitchFamily="34" charset="0"/>
                <a:ea typeface="Calibri" pitchFamily="34" charset="-122"/>
                <a:cs typeface="Calibri" pitchFamily="34" charset="-120"/>
              </a:rPr>
              <a:t>Le besoin</a:t>
            </a:r>
            <a:endParaRPr lang="en-US" sz="1200" dirty="0"/>
          </a:p>
        </p:txBody>
      </p:sp>
      <p:sp>
        <p:nvSpPr>
          <p:cNvPr id="31" name="Text 23"/>
          <p:cNvSpPr/>
          <p:nvPr/>
        </p:nvSpPr>
        <p:spPr>
          <a:xfrm>
            <a:off x="1463040" y="4681728"/>
            <a:ext cx="9875520" cy="1097280"/>
          </a:xfrm>
          <a:prstGeom prst="rect">
            <a:avLst/>
          </a:prstGeom>
          <a:noFill/>
          <a:ln/>
        </p:spPr>
        <p:txBody>
          <a:bodyPr wrap="square" lIns="0" tIns="0" rIns="0" bIns="0" rtlCol="0" anchor="ctr"/>
          <a:lstStyle/>
          <a:p>
            <a:pPr marL="0" indent="0">
              <a:lnSpc>
                <a:spcPct val="118000"/>
              </a:lnSpc>
              <a:buNone/>
            </a:pPr>
            <a:r>
              <a:rPr lang="en-US" sz="1600" dirty="0">
                <a:solidFill>
                  <a:srgbClr val="BAC2DE"/>
                </a:solidFill>
                <a:latin typeface="Calibri" pitchFamily="34" charset="0"/>
                <a:ea typeface="Calibri" pitchFamily="34" charset="-122"/>
                <a:cs typeface="Calibri" pitchFamily="34" charset="-120"/>
              </a:rPr>
              <a:t>Un assistant disponible 24/7 qui explique sans donner la solution, guide par indices progressifs, évalue la compréhension réelle, et donne à l'enseignant une visibilité complète — tout en garantissant l'honnêteté académique.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robo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CAHIER DES CHARGES</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Solution — une plateforme pilotée par des agents IA</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03</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603504" y="1783080"/>
            <a:ext cx="109728" cy="1078992"/>
          </a:xfrm>
          <a:prstGeom prst="roundRect">
            <a:avLst>
              <a:gd name="adj" fmla="val 41667"/>
            </a:avLst>
          </a:prstGeom>
          <a:solidFill>
            <a:srgbClr val="CBA6F7"/>
          </a:solidFill>
          <a:ln/>
        </p:spPr>
      </p:sp>
      <p:sp>
        <p:nvSpPr>
          <p:cNvPr id="9" name="Text 6"/>
          <p:cNvSpPr/>
          <p:nvPr/>
        </p:nvSpPr>
        <p:spPr>
          <a:xfrm>
            <a:off x="868680" y="1737360"/>
            <a:ext cx="5120640" cy="365760"/>
          </a:xfrm>
          <a:prstGeom prst="rect">
            <a:avLst/>
          </a:prstGeom>
          <a:noFill/>
          <a:ln/>
        </p:spPr>
        <p:txBody>
          <a:bodyPr wrap="square" lIns="0" tIns="0" rIns="0" bIns="0" rtlCol="0" anchor="ctr"/>
          <a:lstStyle/>
          <a:p>
            <a:pPr marL="0" indent="0">
              <a:buNone/>
            </a:pPr>
            <a:r>
              <a:rPr lang="en-US" sz="1800" b="1" dirty="0">
                <a:solidFill>
                  <a:srgbClr val="CDD6F4"/>
                </a:solidFill>
                <a:latin typeface="Georgia" pitchFamily="34" charset="0"/>
                <a:ea typeface="Georgia" pitchFamily="34" charset="-122"/>
                <a:cs typeface="Georgia" pitchFamily="34" charset="-120"/>
              </a:rPr>
              <a:t>Agents spécialisés</a:t>
            </a:r>
            <a:endParaRPr lang="en-US" sz="1800" dirty="0"/>
          </a:p>
        </p:txBody>
      </p:sp>
      <p:sp>
        <p:nvSpPr>
          <p:cNvPr id="10" name="Text 7"/>
          <p:cNvSpPr/>
          <p:nvPr/>
        </p:nvSpPr>
        <p:spPr>
          <a:xfrm>
            <a:off x="868680" y="2121408"/>
            <a:ext cx="5212080" cy="777240"/>
          </a:xfrm>
          <a:prstGeom prst="rect">
            <a:avLst/>
          </a:prstGeom>
          <a:noFill/>
          <a:ln/>
        </p:spPr>
        <p:txBody>
          <a:bodyPr wrap="square" lIns="0" tIns="0" rIns="0" bIns="0" rtlCol="0" anchor="ctr"/>
          <a:lstStyle/>
          <a:p>
            <a:pPr marL="0" indent="0">
              <a:lnSpc>
                <a:spcPct val="112000"/>
              </a:lnSpc>
              <a:buNone/>
            </a:pPr>
            <a:r>
              <a:rPr lang="en-US" sz="1300" dirty="0">
                <a:solidFill>
                  <a:srgbClr val="A6ADC8"/>
                </a:solidFill>
                <a:latin typeface="Calibri" pitchFamily="34" charset="0"/>
                <a:ea typeface="Calibri" pitchFamily="34" charset="-122"/>
                <a:cs typeface="Calibri" pitchFamily="34" charset="-120"/>
              </a:rPr>
              <a:t>Chaque phase (explication, indice, évaluation) est prise en charge par un agent IA dédié, avec son propre modèle.</a:t>
            </a:r>
            <a:endParaRPr lang="en-US" sz="1300" dirty="0"/>
          </a:p>
        </p:txBody>
      </p:sp>
      <p:sp>
        <p:nvSpPr>
          <p:cNvPr id="11" name="Shape 8"/>
          <p:cNvSpPr/>
          <p:nvPr/>
        </p:nvSpPr>
        <p:spPr>
          <a:xfrm>
            <a:off x="603504" y="3154680"/>
            <a:ext cx="109728" cy="1078992"/>
          </a:xfrm>
          <a:prstGeom prst="roundRect">
            <a:avLst>
              <a:gd name="adj" fmla="val 41667"/>
            </a:avLst>
          </a:prstGeom>
          <a:solidFill>
            <a:srgbClr val="A6E3A1"/>
          </a:solidFill>
          <a:ln/>
        </p:spPr>
      </p:sp>
      <p:sp>
        <p:nvSpPr>
          <p:cNvPr id="12" name="Text 9"/>
          <p:cNvSpPr/>
          <p:nvPr/>
        </p:nvSpPr>
        <p:spPr>
          <a:xfrm>
            <a:off x="868680" y="3108960"/>
            <a:ext cx="5120640" cy="365760"/>
          </a:xfrm>
          <a:prstGeom prst="rect">
            <a:avLst/>
          </a:prstGeom>
          <a:noFill/>
          <a:ln/>
        </p:spPr>
        <p:txBody>
          <a:bodyPr wrap="square" lIns="0" tIns="0" rIns="0" bIns="0" rtlCol="0" anchor="ctr"/>
          <a:lstStyle/>
          <a:p>
            <a:pPr marL="0" indent="0">
              <a:buNone/>
            </a:pPr>
            <a:r>
              <a:rPr lang="en-US" sz="1800" b="1" dirty="0">
                <a:solidFill>
                  <a:srgbClr val="CDD6F4"/>
                </a:solidFill>
                <a:latin typeface="Georgia" pitchFamily="34" charset="0"/>
                <a:ea typeface="Georgia" pitchFamily="34" charset="-122"/>
                <a:cs typeface="Georgia" pitchFamily="34" charset="-120"/>
              </a:rPr>
              <a:t>100% local via Ollama</a:t>
            </a:r>
            <a:endParaRPr lang="en-US" sz="1800" dirty="0"/>
          </a:p>
        </p:txBody>
      </p:sp>
      <p:sp>
        <p:nvSpPr>
          <p:cNvPr id="13" name="Text 10"/>
          <p:cNvSpPr/>
          <p:nvPr/>
        </p:nvSpPr>
        <p:spPr>
          <a:xfrm>
            <a:off x="868680" y="3493008"/>
            <a:ext cx="5212080" cy="777240"/>
          </a:xfrm>
          <a:prstGeom prst="rect">
            <a:avLst/>
          </a:prstGeom>
          <a:noFill/>
          <a:ln/>
        </p:spPr>
        <p:txBody>
          <a:bodyPr wrap="square" lIns="0" tIns="0" rIns="0" bIns="0" rtlCol="0" anchor="ctr"/>
          <a:lstStyle/>
          <a:p>
            <a:pPr marL="0" indent="0">
              <a:lnSpc>
                <a:spcPct val="112000"/>
              </a:lnSpc>
              <a:buNone/>
            </a:pPr>
            <a:r>
              <a:rPr lang="en-US" sz="1300" dirty="0">
                <a:solidFill>
                  <a:srgbClr val="A6ADC8"/>
                </a:solidFill>
                <a:latin typeface="Calibri" pitchFamily="34" charset="0"/>
                <a:ea typeface="Calibri" pitchFamily="34" charset="-122"/>
                <a:cs typeface="Calibri" pitchFamily="34" charset="-120"/>
              </a:rPr>
              <a:t>Les LLMs tournent en local — confidentialité des données et coût maîtrisé, sans dépendance à une API tierce.</a:t>
            </a:r>
            <a:endParaRPr lang="en-US" sz="1300" dirty="0"/>
          </a:p>
        </p:txBody>
      </p:sp>
      <p:sp>
        <p:nvSpPr>
          <p:cNvPr id="14" name="Shape 11"/>
          <p:cNvSpPr/>
          <p:nvPr/>
        </p:nvSpPr>
        <p:spPr>
          <a:xfrm>
            <a:off x="603504" y="4526280"/>
            <a:ext cx="109728" cy="1078992"/>
          </a:xfrm>
          <a:prstGeom prst="roundRect">
            <a:avLst>
              <a:gd name="adj" fmla="val 41667"/>
            </a:avLst>
          </a:prstGeom>
          <a:solidFill>
            <a:srgbClr val="89B4FA"/>
          </a:solidFill>
          <a:ln/>
        </p:spPr>
      </p:sp>
      <p:sp>
        <p:nvSpPr>
          <p:cNvPr id="15" name="Text 12"/>
          <p:cNvSpPr/>
          <p:nvPr/>
        </p:nvSpPr>
        <p:spPr>
          <a:xfrm>
            <a:off x="868680" y="4480560"/>
            <a:ext cx="5120640" cy="365760"/>
          </a:xfrm>
          <a:prstGeom prst="rect">
            <a:avLst/>
          </a:prstGeom>
          <a:noFill/>
          <a:ln/>
        </p:spPr>
        <p:txBody>
          <a:bodyPr wrap="square" lIns="0" tIns="0" rIns="0" bIns="0" rtlCol="0" anchor="ctr"/>
          <a:lstStyle/>
          <a:p>
            <a:pPr marL="0" indent="0">
              <a:buNone/>
            </a:pPr>
            <a:r>
              <a:rPr lang="en-US" sz="1800" b="1" dirty="0">
                <a:solidFill>
                  <a:srgbClr val="CDD6F4"/>
                </a:solidFill>
                <a:latin typeface="Georgia" pitchFamily="34" charset="0"/>
                <a:ea typeface="Georgia" pitchFamily="34" charset="-122"/>
                <a:cs typeface="Georgia" pitchFamily="34" charset="-120"/>
              </a:rPr>
              <a:t>Honnêteté académique</a:t>
            </a:r>
            <a:endParaRPr lang="en-US" sz="1800" dirty="0"/>
          </a:p>
        </p:txBody>
      </p:sp>
      <p:sp>
        <p:nvSpPr>
          <p:cNvPr id="16" name="Text 13"/>
          <p:cNvSpPr/>
          <p:nvPr/>
        </p:nvSpPr>
        <p:spPr>
          <a:xfrm>
            <a:off x="868680" y="4864608"/>
            <a:ext cx="5212080" cy="777240"/>
          </a:xfrm>
          <a:prstGeom prst="rect">
            <a:avLst/>
          </a:prstGeom>
          <a:noFill/>
          <a:ln/>
        </p:spPr>
        <p:txBody>
          <a:bodyPr wrap="square" lIns="0" tIns="0" rIns="0" bIns="0" rtlCol="0" anchor="ctr"/>
          <a:lstStyle/>
          <a:p>
            <a:pPr marL="0" indent="0">
              <a:lnSpc>
                <a:spcPct val="112000"/>
              </a:lnSpc>
              <a:buNone/>
            </a:pPr>
            <a:r>
              <a:rPr lang="en-US" sz="1300" dirty="0">
                <a:solidFill>
                  <a:srgbClr val="A6ADC8"/>
                </a:solidFill>
                <a:latin typeface="Calibri" pitchFamily="34" charset="0"/>
                <a:ea typeface="Calibri" pitchFamily="34" charset="-122"/>
                <a:cs typeface="Calibri" pitchFamily="34" charset="-120"/>
              </a:rPr>
              <a:t>Copier-coller désactivé, validation du code en temps réel, et un quiz généré à partir du code réel de l'étudiant.</a:t>
            </a:r>
            <a:endParaRPr lang="en-US" sz="1300" dirty="0"/>
          </a:p>
        </p:txBody>
      </p:sp>
      <p:sp>
        <p:nvSpPr>
          <p:cNvPr id="17" name="Shape 14"/>
          <p:cNvSpPr/>
          <p:nvPr/>
        </p:nvSpPr>
        <p:spPr>
          <a:xfrm>
            <a:off x="6355080" y="1783080"/>
            <a:ext cx="5760720" cy="3059295"/>
          </a:xfrm>
          <a:prstGeom prst="roundRect">
            <a:avLst>
              <a:gd name="adj" fmla="val 2690"/>
            </a:avLst>
          </a:prstGeom>
          <a:solidFill>
            <a:srgbClr val="11111B"/>
          </a:solidFill>
          <a:ln w="12700">
            <a:solidFill>
              <a:srgbClr val="45475A"/>
            </a:solidFill>
            <a:prstDash val="solid"/>
          </a:ln>
          <a:effectLst>
            <a:outerShdw blurRad="114300" dist="38100" dir="5400000" algn="bl" rotWithShape="0">
              <a:srgbClr val="000000">
                <a:alpha val="35000"/>
              </a:srgbClr>
            </a:outerShdw>
          </a:effectLst>
        </p:spPr>
      </p:sp>
      <p:pic>
        <p:nvPicPr>
          <p:cNvPr id="18" name="Image 1" descr="assets/explanation_agent.png"/>
          <p:cNvPicPr>
            <a:picLocks noChangeAspect="1"/>
          </p:cNvPicPr>
          <p:nvPr/>
        </p:nvPicPr>
        <p:blipFill>
          <a:blip r:embed="rId4"/>
          <a:stretch>
            <a:fillRect/>
          </a:stretch>
        </p:blipFill>
        <p:spPr>
          <a:xfrm>
            <a:off x="6492240" y="1920240"/>
            <a:ext cx="5486400" cy="2784975"/>
          </a:xfrm>
          <a:prstGeom prst="rect">
            <a:avLst/>
          </a:prstGeom>
        </p:spPr>
      </p:pic>
      <p:sp>
        <p:nvSpPr>
          <p:cNvPr id="19" name="Text 15"/>
          <p:cNvSpPr/>
          <p:nvPr/>
        </p:nvSpPr>
        <p:spPr>
          <a:xfrm>
            <a:off x="6492240" y="4888095"/>
            <a:ext cx="5486400" cy="274320"/>
          </a:xfrm>
          <a:prstGeom prst="rect">
            <a:avLst/>
          </a:prstGeom>
          <a:noFill/>
          <a:ln/>
        </p:spPr>
        <p:txBody>
          <a:bodyPr wrap="square" lIns="0" tIns="0" rIns="0" bIns="0" rtlCol="0" anchor="ctr"/>
          <a:lstStyle/>
          <a:p>
            <a:pPr marL="0" indent="0" algn="ctr">
              <a:buNone/>
            </a:pPr>
            <a:r>
              <a:rPr lang="en-US" sz="1000" dirty="0">
                <a:solidFill>
                  <a:srgbClr val="6C7086"/>
                </a:solidFill>
                <a:latin typeface="Consolas" pitchFamily="34" charset="0"/>
                <a:ea typeface="Consolas" pitchFamily="34" charset="-122"/>
                <a:cs typeface="Consolas" pitchFamily="34" charset="-120"/>
              </a:rPr>
              <a:t>Agent d'explication — guidage socratique, sans code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F9E2AF"/>
            </a:solidFill>
            <a:prstDash val="solid"/>
          </a:ln>
        </p:spPr>
      </p:sp>
      <p:pic>
        <p:nvPicPr>
          <p:cNvPr id="3" name="Image 0" descr="assets/ic_star.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F9E2AF"/>
                </a:solidFill>
                <a:latin typeface="Calibri" pitchFamily="34" charset="0"/>
                <a:ea typeface="Calibri" pitchFamily="34" charset="-122"/>
                <a:cs typeface="Calibri" pitchFamily="34" charset="-120"/>
              </a:rPr>
              <a:t>CAHIER DES CHARGES</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Objectifs &amp; exigences clés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04</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2697480" cy="3383280"/>
          </a:xfrm>
          <a:prstGeom prst="roundRect">
            <a:avLst>
              <a:gd name="adj" fmla="val 3051"/>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9" name="Shape 6"/>
          <p:cNvSpPr/>
          <p:nvPr/>
        </p:nvSpPr>
        <p:spPr>
          <a:xfrm>
            <a:off x="841248" y="1984248"/>
            <a:ext cx="713232" cy="713232"/>
          </a:xfrm>
          <a:prstGeom prst="roundRect">
            <a:avLst>
              <a:gd name="adj" fmla="val 20513"/>
            </a:avLst>
          </a:prstGeom>
          <a:solidFill>
            <a:srgbClr val="232338"/>
          </a:solidFill>
          <a:ln w="12700">
            <a:solidFill>
              <a:srgbClr val="CBA6F7"/>
            </a:solidFill>
            <a:prstDash val="solid"/>
          </a:ln>
        </p:spPr>
      </p:sp>
      <p:pic>
        <p:nvPicPr>
          <p:cNvPr id="10" name="Image 1" descr="assets/ic_robot.png"/>
          <p:cNvPicPr>
            <a:picLocks noChangeAspect="1"/>
          </p:cNvPicPr>
          <p:nvPr/>
        </p:nvPicPr>
        <p:blipFill>
          <a:blip r:embed="rId4"/>
          <a:stretch>
            <a:fillRect/>
          </a:stretch>
        </p:blipFill>
        <p:spPr>
          <a:xfrm>
            <a:off x="1014984" y="2157984"/>
            <a:ext cx="365760" cy="365760"/>
          </a:xfrm>
          <a:prstGeom prst="rect">
            <a:avLst/>
          </a:prstGeom>
        </p:spPr>
      </p:pic>
      <p:sp>
        <p:nvSpPr>
          <p:cNvPr id="11" name="Text 7"/>
          <p:cNvSpPr/>
          <p:nvPr/>
        </p:nvSpPr>
        <p:spPr>
          <a:xfrm>
            <a:off x="841248" y="2880360"/>
            <a:ext cx="2194560" cy="640080"/>
          </a:xfrm>
          <a:prstGeom prst="rect">
            <a:avLst/>
          </a:prstGeom>
          <a:noFill/>
          <a:ln/>
        </p:spPr>
        <p:txBody>
          <a:bodyPr wrap="square" lIns="0" tIns="0" rIns="0" bIns="0" rtlCol="0" anchor="ctr"/>
          <a:lstStyle/>
          <a:p>
            <a:pPr marL="0" indent="0">
              <a:lnSpc>
                <a:spcPct val="98000"/>
              </a:lnSpc>
              <a:buNone/>
            </a:pPr>
            <a:r>
              <a:rPr lang="en-US" sz="1700" b="1" dirty="0">
                <a:solidFill>
                  <a:srgbClr val="CDD6F4"/>
                </a:solidFill>
                <a:latin typeface="Georgia" pitchFamily="34" charset="0"/>
                <a:ea typeface="Georgia" pitchFamily="34" charset="-122"/>
                <a:cs typeface="Georgia" pitchFamily="34" charset="-120"/>
              </a:rPr>
              <a:t>3 + 1 Agents IA</a:t>
            </a:r>
            <a:endParaRPr lang="en-US" sz="1700" dirty="0"/>
          </a:p>
        </p:txBody>
      </p:sp>
      <p:sp>
        <p:nvSpPr>
          <p:cNvPr id="12" name="Text 8"/>
          <p:cNvSpPr/>
          <p:nvPr/>
        </p:nvSpPr>
        <p:spPr>
          <a:xfrm>
            <a:off x="841248" y="3566160"/>
            <a:ext cx="2194560" cy="1325880"/>
          </a:xfrm>
          <a:prstGeom prst="rect">
            <a:avLst/>
          </a:prstGeom>
          <a:noFill/>
          <a:ln/>
        </p:spPr>
        <p:txBody>
          <a:bodyPr wrap="square" lIns="0" tIns="0" rIns="0" bIns="0" rtlCol="0" anchor="ctr"/>
          <a:lstStyle/>
          <a:p>
            <a:pPr marL="0" indent="0">
              <a:lnSpc>
                <a:spcPct val="114000"/>
              </a:lnSpc>
              <a:buNone/>
            </a:pPr>
            <a:r>
              <a:rPr lang="en-US" sz="1200" dirty="0">
                <a:solidFill>
                  <a:srgbClr val="A6ADC8"/>
                </a:solidFill>
                <a:latin typeface="Calibri" pitchFamily="34" charset="0"/>
                <a:ea typeface="Calibri" pitchFamily="34" charset="-122"/>
                <a:cs typeface="Calibri" pitchFamily="34" charset="-120"/>
              </a:rPr>
              <a:t>Explication · Indice · Évaluation, coordonnés par un Orchestrateur. Chacun a son modèle, son prompt système et ses outils.</a:t>
            </a:r>
            <a:endParaRPr lang="en-US" sz="1200" dirty="0"/>
          </a:p>
        </p:txBody>
      </p:sp>
      <p:sp>
        <p:nvSpPr>
          <p:cNvPr id="13" name="Shape 9"/>
          <p:cNvSpPr/>
          <p:nvPr/>
        </p:nvSpPr>
        <p:spPr>
          <a:xfrm>
            <a:off x="3429000" y="1691640"/>
            <a:ext cx="2697480" cy="3383280"/>
          </a:xfrm>
          <a:prstGeom prst="roundRect">
            <a:avLst>
              <a:gd name="adj" fmla="val 3051"/>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14" name="Shape 10"/>
          <p:cNvSpPr/>
          <p:nvPr/>
        </p:nvSpPr>
        <p:spPr>
          <a:xfrm>
            <a:off x="3703320" y="1984248"/>
            <a:ext cx="713232" cy="713232"/>
          </a:xfrm>
          <a:prstGeom prst="roundRect">
            <a:avLst>
              <a:gd name="adj" fmla="val 20513"/>
            </a:avLst>
          </a:prstGeom>
          <a:solidFill>
            <a:srgbClr val="232338"/>
          </a:solidFill>
          <a:ln w="12700">
            <a:solidFill>
              <a:srgbClr val="A6E3A1"/>
            </a:solidFill>
            <a:prstDash val="solid"/>
          </a:ln>
        </p:spPr>
      </p:sp>
      <p:pic>
        <p:nvPicPr>
          <p:cNvPr id="15" name="Image 2" descr="assets/ic_server.png"/>
          <p:cNvPicPr>
            <a:picLocks noChangeAspect="1"/>
          </p:cNvPicPr>
          <p:nvPr/>
        </p:nvPicPr>
        <p:blipFill>
          <a:blip r:embed="rId5"/>
          <a:stretch>
            <a:fillRect/>
          </a:stretch>
        </p:blipFill>
        <p:spPr>
          <a:xfrm>
            <a:off x="3877056" y="2157984"/>
            <a:ext cx="365760" cy="365760"/>
          </a:xfrm>
          <a:prstGeom prst="rect">
            <a:avLst/>
          </a:prstGeom>
        </p:spPr>
      </p:pic>
      <p:sp>
        <p:nvSpPr>
          <p:cNvPr id="16" name="Text 11"/>
          <p:cNvSpPr/>
          <p:nvPr/>
        </p:nvSpPr>
        <p:spPr>
          <a:xfrm>
            <a:off x="3703320" y="2880360"/>
            <a:ext cx="2194560" cy="640080"/>
          </a:xfrm>
          <a:prstGeom prst="rect">
            <a:avLst/>
          </a:prstGeom>
          <a:noFill/>
          <a:ln/>
        </p:spPr>
        <p:txBody>
          <a:bodyPr wrap="square" lIns="0" tIns="0" rIns="0" bIns="0" rtlCol="0" anchor="ctr"/>
          <a:lstStyle/>
          <a:p>
            <a:pPr marL="0" indent="0">
              <a:lnSpc>
                <a:spcPct val="98000"/>
              </a:lnSpc>
              <a:buNone/>
            </a:pPr>
            <a:r>
              <a:rPr lang="en-US" sz="1700" b="1" dirty="0">
                <a:solidFill>
                  <a:srgbClr val="CDD6F4"/>
                </a:solidFill>
                <a:latin typeface="Georgia" pitchFamily="34" charset="0"/>
                <a:ea typeface="Georgia" pitchFamily="34" charset="-122"/>
                <a:cs typeface="Georgia" pitchFamily="34" charset="-120"/>
              </a:rPr>
              <a:t>LLMs 100% locaux</a:t>
            </a:r>
            <a:endParaRPr lang="en-US" sz="1700" dirty="0"/>
          </a:p>
        </p:txBody>
      </p:sp>
      <p:sp>
        <p:nvSpPr>
          <p:cNvPr id="17" name="Text 12"/>
          <p:cNvSpPr/>
          <p:nvPr/>
        </p:nvSpPr>
        <p:spPr>
          <a:xfrm>
            <a:off x="3703320" y="3566160"/>
            <a:ext cx="2194560" cy="1325880"/>
          </a:xfrm>
          <a:prstGeom prst="rect">
            <a:avLst/>
          </a:prstGeom>
          <a:noFill/>
          <a:ln/>
        </p:spPr>
        <p:txBody>
          <a:bodyPr wrap="square" lIns="0" tIns="0" rIns="0" bIns="0" rtlCol="0" anchor="ctr"/>
          <a:lstStyle/>
          <a:p>
            <a:pPr marL="0" indent="0">
              <a:lnSpc>
                <a:spcPct val="114000"/>
              </a:lnSpc>
              <a:buNone/>
            </a:pPr>
            <a:r>
              <a:rPr lang="en-US" sz="1200" dirty="0">
                <a:solidFill>
                  <a:srgbClr val="A6ADC8"/>
                </a:solidFill>
                <a:latin typeface="Calibri" pitchFamily="34" charset="0"/>
                <a:ea typeface="Calibri" pitchFamily="34" charset="-122"/>
                <a:cs typeface="Calibri" pitchFamily="34" charset="-120"/>
              </a:rPr>
              <a:t>mistral · deepseek-coder · gemma4 · deepseek-v3.2 servis par Ollama. Architecture « un modèle par agent ».</a:t>
            </a:r>
            <a:endParaRPr lang="en-US" sz="1200" dirty="0"/>
          </a:p>
        </p:txBody>
      </p:sp>
      <p:sp>
        <p:nvSpPr>
          <p:cNvPr id="18" name="Shape 13"/>
          <p:cNvSpPr/>
          <p:nvPr/>
        </p:nvSpPr>
        <p:spPr>
          <a:xfrm>
            <a:off x="6291072" y="1691640"/>
            <a:ext cx="2697480" cy="3383280"/>
          </a:xfrm>
          <a:prstGeom prst="roundRect">
            <a:avLst>
              <a:gd name="adj" fmla="val 3051"/>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19" name="Shape 14"/>
          <p:cNvSpPr/>
          <p:nvPr/>
        </p:nvSpPr>
        <p:spPr>
          <a:xfrm>
            <a:off x="6565392" y="1984248"/>
            <a:ext cx="713232" cy="713232"/>
          </a:xfrm>
          <a:prstGeom prst="roundRect">
            <a:avLst>
              <a:gd name="adj" fmla="val 20513"/>
            </a:avLst>
          </a:prstGeom>
          <a:solidFill>
            <a:srgbClr val="232338"/>
          </a:solidFill>
          <a:ln w="12700">
            <a:solidFill>
              <a:srgbClr val="89B4FA"/>
            </a:solidFill>
            <a:prstDash val="solid"/>
          </a:ln>
        </p:spPr>
      </p:sp>
      <p:pic>
        <p:nvPicPr>
          <p:cNvPr id="20" name="Image 3" descr="assets/ic_shield.png"/>
          <p:cNvPicPr>
            <a:picLocks noChangeAspect="1"/>
          </p:cNvPicPr>
          <p:nvPr/>
        </p:nvPicPr>
        <p:blipFill>
          <a:blip r:embed="rId6"/>
          <a:stretch>
            <a:fillRect/>
          </a:stretch>
        </p:blipFill>
        <p:spPr>
          <a:xfrm>
            <a:off x="6739128" y="2157984"/>
            <a:ext cx="365760" cy="365760"/>
          </a:xfrm>
          <a:prstGeom prst="rect">
            <a:avLst/>
          </a:prstGeom>
        </p:spPr>
      </p:pic>
      <p:sp>
        <p:nvSpPr>
          <p:cNvPr id="21" name="Text 15"/>
          <p:cNvSpPr/>
          <p:nvPr/>
        </p:nvSpPr>
        <p:spPr>
          <a:xfrm>
            <a:off x="6565392" y="2880360"/>
            <a:ext cx="2194560" cy="640080"/>
          </a:xfrm>
          <a:prstGeom prst="rect">
            <a:avLst/>
          </a:prstGeom>
          <a:noFill/>
          <a:ln/>
        </p:spPr>
        <p:txBody>
          <a:bodyPr wrap="square" lIns="0" tIns="0" rIns="0" bIns="0" rtlCol="0" anchor="ctr"/>
          <a:lstStyle/>
          <a:p>
            <a:pPr marL="0" indent="0">
              <a:lnSpc>
                <a:spcPct val="98000"/>
              </a:lnSpc>
              <a:buNone/>
            </a:pPr>
            <a:r>
              <a:rPr lang="en-US" sz="1700" b="1" dirty="0">
                <a:solidFill>
                  <a:srgbClr val="CDD6F4"/>
                </a:solidFill>
                <a:latin typeface="Georgia" pitchFamily="34" charset="0"/>
                <a:ea typeface="Georgia" pitchFamily="34" charset="-122"/>
                <a:cs typeface="Georgia" pitchFamily="34" charset="-120"/>
              </a:rPr>
              <a:t>Anti-triche intégré</a:t>
            </a:r>
            <a:endParaRPr lang="en-US" sz="1700" dirty="0"/>
          </a:p>
        </p:txBody>
      </p:sp>
      <p:sp>
        <p:nvSpPr>
          <p:cNvPr id="22" name="Text 16"/>
          <p:cNvSpPr/>
          <p:nvPr/>
        </p:nvSpPr>
        <p:spPr>
          <a:xfrm>
            <a:off x="6565392" y="3566160"/>
            <a:ext cx="2194560" cy="1325880"/>
          </a:xfrm>
          <a:prstGeom prst="rect">
            <a:avLst/>
          </a:prstGeom>
          <a:noFill/>
          <a:ln/>
        </p:spPr>
        <p:txBody>
          <a:bodyPr wrap="square" lIns="0" tIns="0" rIns="0" bIns="0" rtlCol="0" anchor="ctr"/>
          <a:lstStyle/>
          <a:p>
            <a:pPr marL="0" indent="0">
              <a:lnSpc>
                <a:spcPct val="114000"/>
              </a:lnSpc>
              <a:buNone/>
            </a:pPr>
            <a:r>
              <a:rPr lang="en-US" sz="1200" dirty="0">
                <a:solidFill>
                  <a:srgbClr val="A6ADC8"/>
                </a:solidFill>
                <a:latin typeface="Calibri" pitchFamily="34" charset="0"/>
                <a:ea typeface="Calibri" pitchFamily="34" charset="-122"/>
                <a:cs typeface="Calibri" pitchFamily="34" charset="-120"/>
              </a:rPr>
              <a:t>Copier-coller désactivé, minuteur de session, validation du code et suivi des indices utilisés.</a:t>
            </a:r>
            <a:endParaRPr lang="en-US" sz="1200" dirty="0"/>
          </a:p>
        </p:txBody>
      </p:sp>
      <p:sp>
        <p:nvSpPr>
          <p:cNvPr id="23" name="Shape 17"/>
          <p:cNvSpPr/>
          <p:nvPr/>
        </p:nvSpPr>
        <p:spPr>
          <a:xfrm>
            <a:off x="9153144" y="1691640"/>
            <a:ext cx="2697480" cy="3383280"/>
          </a:xfrm>
          <a:prstGeom prst="roundRect">
            <a:avLst>
              <a:gd name="adj" fmla="val 3051"/>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24" name="Shape 18"/>
          <p:cNvSpPr/>
          <p:nvPr/>
        </p:nvSpPr>
        <p:spPr>
          <a:xfrm>
            <a:off x="9427464" y="1984248"/>
            <a:ext cx="713232" cy="713232"/>
          </a:xfrm>
          <a:prstGeom prst="roundRect">
            <a:avLst>
              <a:gd name="adj" fmla="val 20513"/>
            </a:avLst>
          </a:prstGeom>
          <a:solidFill>
            <a:srgbClr val="232338"/>
          </a:solidFill>
          <a:ln w="12700">
            <a:solidFill>
              <a:srgbClr val="F9E2AF"/>
            </a:solidFill>
            <a:prstDash val="solid"/>
          </a:ln>
        </p:spPr>
      </p:sp>
      <p:pic>
        <p:nvPicPr>
          <p:cNvPr id="25" name="Image 4" descr="assets/ic_chart.png"/>
          <p:cNvPicPr>
            <a:picLocks noChangeAspect="1"/>
          </p:cNvPicPr>
          <p:nvPr/>
        </p:nvPicPr>
        <p:blipFill>
          <a:blip r:embed="rId7"/>
          <a:stretch>
            <a:fillRect/>
          </a:stretch>
        </p:blipFill>
        <p:spPr>
          <a:xfrm>
            <a:off x="9601200" y="2157984"/>
            <a:ext cx="365760" cy="365760"/>
          </a:xfrm>
          <a:prstGeom prst="rect">
            <a:avLst/>
          </a:prstGeom>
        </p:spPr>
      </p:pic>
      <p:sp>
        <p:nvSpPr>
          <p:cNvPr id="26" name="Text 19"/>
          <p:cNvSpPr/>
          <p:nvPr/>
        </p:nvSpPr>
        <p:spPr>
          <a:xfrm>
            <a:off x="9427464" y="2880360"/>
            <a:ext cx="2194560" cy="640080"/>
          </a:xfrm>
          <a:prstGeom prst="rect">
            <a:avLst/>
          </a:prstGeom>
          <a:noFill/>
          <a:ln/>
        </p:spPr>
        <p:txBody>
          <a:bodyPr wrap="square" lIns="0" tIns="0" rIns="0" bIns="0" rtlCol="0" anchor="ctr"/>
          <a:lstStyle/>
          <a:p>
            <a:pPr marL="0" indent="0">
              <a:lnSpc>
                <a:spcPct val="98000"/>
              </a:lnSpc>
              <a:buNone/>
            </a:pPr>
            <a:r>
              <a:rPr lang="en-US" sz="1700" b="1" dirty="0">
                <a:solidFill>
                  <a:srgbClr val="CDD6F4"/>
                </a:solidFill>
                <a:latin typeface="Georgia" pitchFamily="34" charset="0"/>
                <a:ea typeface="Georgia" pitchFamily="34" charset="-122"/>
                <a:cs typeface="Georgia" pitchFamily="34" charset="-120"/>
              </a:rPr>
              <a:t>Analytique enseignant</a:t>
            </a:r>
            <a:endParaRPr lang="en-US" sz="1700" dirty="0"/>
          </a:p>
        </p:txBody>
      </p:sp>
      <p:sp>
        <p:nvSpPr>
          <p:cNvPr id="27" name="Text 20"/>
          <p:cNvSpPr/>
          <p:nvPr/>
        </p:nvSpPr>
        <p:spPr>
          <a:xfrm>
            <a:off x="9427464" y="3566160"/>
            <a:ext cx="2194560" cy="1325880"/>
          </a:xfrm>
          <a:prstGeom prst="rect">
            <a:avLst/>
          </a:prstGeom>
          <a:noFill/>
          <a:ln/>
        </p:spPr>
        <p:txBody>
          <a:bodyPr wrap="square" lIns="0" tIns="0" rIns="0" bIns="0" rtlCol="0" anchor="ctr"/>
          <a:lstStyle/>
          <a:p>
            <a:pPr marL="0" indent="0">
              <a:lnSpc>
                <a:spcPct val="114000"/>
              </a:lnSpc>
              <a:buNone/>
            </a:pPr>
            <a:r>
              <a:rPr lang="en-US" sz="1200" dirty="0">
                <a:solidFill>
                  <a:srgbClr val="A6ADC8"/>
                </a:solidFill>
                <a:latin typeface="Calibri" pitchFamily="34" charset="0"/>
                <a:ea typeface="Calibri" pitchFamily="34" charset="-122"/>
                <a:cs typeface="Calibri" pitchFamily="34" charset="-120"/>
              </a:rPr>
              <a:t>Progression par étudiant, indices consommés et scores de compréhension, en quasi temps réel.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users.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03</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89B4FA"/>
                </a:solidFill>
                <a:latin typeface="Calibri" pitchFamily="34" charset="0"/>
                <a:ea typeface="Calibri" pitchFamily="34" charset="-122"/>
                <a:cs typeface="Calibri" pitchFamily="34" charset="-120"/>
              </a:rPr>
              <a:t>PARTIE 03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Conception fonctionnelle</a:t>
            </a:r>
            <a:endParaRPr lang="en-US" sz="4400" dirty="0"/>
          </a:p>
        </p:txBody>
      </p:sp>
      <p:sp>
        <p:nvSpPr>
          <p:cNvPr id="8" name="Shape 5"/>
          <p:cNvSpPr/>
          <p:nvPr/>
        </p:nvSpPr>
        <p:spPr>
          <a:xfrm>
            <a:off x="658368" y="4114800"/>
            <a:ext cx="1554480" cy="54864"/>
          </a:xfrm>
          <a:prstGeom prst="rect">
            <a:avLst/>
          </a:prstGeom>
          <a:solidFill>
            <a:srgbClr val="89B4FA"/>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Les acteurs du système, leurs cas d'usage, la décomposition en agents et les parcours étudiant et enseignant.</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users.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89B4FA"/>
                </a:solidFill>
                <a:latin typeface="Calibri" pitchFamily="34" charset="0"/>
                <a:ea typeface="Calibri" pitchFamily="34" charset="-122"/>
                <a:cs typeface="Calibri" pitchFamily="34" charset="-120"/>
              </a:rPr>
              <a:t>CONCEPTION FONCTIONNELLE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Acteurs &amp; cas d'usage</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05</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737360"/>
            <a:ext cx="3246120" cy="4160520"/>
          </a:xfrm>
          <a:prstGeom prst="roundRect">
            <a:avLst>
              <a:gd name="adj" fmla="val 2535"/>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9" name="Shape 6"/>
          <p:cNvSpPr/>
          <p:nvPr/>
        </p:nvSpPr>
        <p:spPr>
          <a:xfrm>
            <a:off x="1778508" y="1938528"/>
            <a:ext cx="822960" cy="822960"/>
          </a:xfrm>
          <a:prstGeom prst="roundRect">
            <a:avLst>
              <a:gd name="adj" fmla="val 20000"/>
            </a:avLst>
          </a:prstGeom>
          <a:solidFill>
            <a:srgbClr val="232338"/>
          </a:solidFill>
          <a:ln w="12700">
            <a:solidFill>
              <a:srgbClr val="CBA6F7"/>
            </a:solidFill>
            <a:prstDash val="solid"/>
          </a:ln>
        </p:spPr>
      </p:sp>
      <p:pic>
        <p:nvPicPr>
          <p:cNvPr id="10" name="Image 1" descr="assets/ic_student.png"/>
          <p:cNvPicPr>
            <a:picLocks noChangeAspect="1"/>
          </p:cNvPicPr>
          <p:nvPr/>
        </p:nvPicPr>
        <p:blipFill>
          <a:blip r:embed="rId4"/>
          <a:stretch>
            <a:fillRect/>
          </a:stretch>
        </p:blipFill>
        <p:spPr>
          <a:xfrm>
            <a:off x="1961388" y="2121408"/>
            <a:ext cx="457200" cy="457200"/>
          </a:xfrm>
          <a:prstGeom prst="rect">
            <a:avLst/>
          </a:prstGeom>
        </p:spPr>
      </p:pic>
      <p:sp>
        <p:nvSpPr>
          <p:cNvPr id="11" name="Text 7"/>
          <p:cNvSpPr/>
          <p:nvPr/>
        </p:nvSpPr>
        <p:spPr>
          <a:xfrm>
            <a:off x="566928" y="2816352"/>
            <a:ext cx="3246120" cy="365760"/>
          </a:xfrm>
          <a:prstGeom prst="rect">
            <a:avLst/>
          </a:prstGeom>
          <a:noFill/>
          <a:ln/>
        </p:spPr>
        <p:txBody>
          <a:bodyPr wrap="square" lIns="0" tIns="0" rIns="0" bIns="0" rtlCol="0" anchor="ctr"/>
          <a:lstStyle/>
          <a:p>
            <a:pPr marL="0" indent="0" algn="ctr">
              <a:buNone/>
            </a:pPr>
            <a:r>
              <a:rPr lang="en-US" sz="1700" b="1" dirty="0">
                <a:solidFill>
                  <a:srgbClr val="CBA6F7"/>
                </a:solidFill>
                <a:latin typeface="Georgia" pitchFamily="34" charset="0"/>
                <a:ea typeface="Georgia" pitchFamily="34" charset="-122"/>
                <a:cs typeface="Georgia" pitchFamily="34" charset="-120"/>
              </a:rPr>
              <a:t>Étudiant</a:t>
            </a:r>
            <a:endParaRPr lang="en-US" sz="1700" dirty="0"/>
          </a:p>
        </p:txBody>
      </p:sp>
      <p:sp>
        <p:nvSpPr>
          <p:cNvPr id="12" name="Shape 8"/>
          <p:cNvSpPr/>
          <p:nvPr/>
        </p:nvSpPr>
        <p:spPr>
          <a:xfrm>
            <a:off x="822960" y="3355848"/>
            <a:ext cx="91440" cy="91440"/>
          </a:xfrm>
          <a:prstGeom prst="ellipse">
            <a:avLst/>
          </a:prstGeom>
          <a:solidFill>
            <a:srgbClr val="CBA6F7"/>
          </a:solidFill>
          <a:ln/>
        </p:spPr>
      </p:sp>
      <p:sp>
        <p:nvSpPr>
          <p:cNvPr id="13" name="Text 9"/>
          <p:cNvSpPr/>
          <p:nvPr/>
        </p:nvSpPr>
        <p:spPr>
          <a:xfrm>
            <a:off x="1060704" y="326440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Suivre un TP guidé étape par étape</a:t>
            </a:r>
            <a:endParaRPr lang="en-US" sz="1150" dirty="0"/>
          </a:p>
        </p:txBody>
      </p:sp>
      <p:sp>
        <p:nvSpPr>
          <p:cNvPr id="14" name="Shape 10"/>
          <p:cNvSpPr/>
          <p:nvPr/>
        </p:nvSpPr>
        <p:spPr>
          <a:xfrm>
            <a:off x="822960" y="3858768"/>
            <a:ext cx="91440" cy="91440"/>
          </a:xfrm>
          <a:prstGeom prst="ellipse">
            <a:avLst/>
          </a:prstGeom>
          <a:solidFill>
            <a:srgbClr val="CBA6F7"/>
          </a:solidFill>
          <a:ln/>
        </p:spPr>
      </p:sp>
      <p:sp>
        <p:nvSpPr>
          <p:cNvPr id="15" name="Text 11"/>
          <p:cNvSpPr/>
          <p:nvPr/>
        </p:nvSpPr>
        <p:spPr>
          <a:xfrm>
            <a:off x="1060704" y="376732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Poser des questions à l'agent d'explication</a:t>
            </a:r>
            <a:endParaRPr lang="en-US" sz="1150" dirty="0"/>
          </a:p>
        </p:txBody>
      </p:sp>
      <p:sp>
        <p:nvSpPr>
          <p:cNvPr id="16" name="Shape 12"/>
          <p:cNvSpPr/>
          <p:nvPr/>
        </p:nvSpPr>
        <p:spPr>
          <a:xfrm>
            <a:off x="822960" y="4361688"/>
            <a:ext cx="91440" cy="91440"/>
          </a:xfrm>
          <a:prstGeom prst="ellipse">
            <a:avLst/>
          </a:prstGeom>
          <a:solidFill>
            <a:srgbClr val="CBA6F7"/>
          </a:solidFill>
          <a:ln/>
        </p:spPr>
      </p:sp>
      <p:sp>
        <p:nvSpPr>
          <p:cNvPr id="17" name="Text 13"/>
          <p:cNvSpPr/>
          <p:nvPr/>
        </p:nvSpPr>
        <p:spPr>
          <a:xfrm>
            <a:off x="1060704" y="427024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Demander des indices progressifs</a:t>
            </a:r>
            <a:endParaRPr lang="en-US" sz="1150" dirty="0"/>
          </a:p>
        </p:txBody>
      </p:sp>
      <p:sp>
        <p:nvSpPr>
          <p:cNvPr id="18" name="Shape 14"/>
          <p:cNvSpPr/>
          <p:nvPr/>
        </p:nvSpPr>
        <p:spPr>
          <a:xfrm>
            <a:off x="822960" y="4864608"/>
            <a:ext cx="91440" cy="91440"/>
          </a:xfrm>
          <a:prstGeom prst="ellipse">
            <a:avLst/>
          </a:prstGeom>
          <a:solidFill>
            <a:srgbClr val="CBA6F7"/>
          </a:solidFill>
          <a:ln/>
        </p:spPr>
      </p:sp>
      <p:sp>
        <p:nvSpPr>
          <p:cNvPr id="19" name="Text 15"/>
          <p:cNvSpPr/>
          <p:nvPr/>
        </p:nvSpPr>
        <p:spPr>
          <a:xfrm>
            <a:off x="1060704" y="477316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Coder dans l'IDE avec preview live</a:t>
            </a:r>
            <a:endParaRPr lang="en-US" sz="1150" dirty="0"/>
          </a:p>
        </p:txBody>
      </p:sp>
      <p:sp>
        <p:nvSpPr>
          <p:cNvPr id="20" name="Shape 16"/>
          <p:cNvSpPr/>
          <p:nvPr/>
        </p:nvSpPr>
        <p:spPr>
          <a:xfrm>
            <a:off x="822960" y="5367528"/>
            <a:ext cx="91440" cy="91440"/>
          </a:xfrm>
          <a:prstGeom prst="ellipse">
            <a:avLst/>
          </a:prstGeom>
          <a:solidFill>
            <a:srgbClr val="CBA6F7"/>
          </a:solidFill>
          <a:ln/>
        </p:spPr>
      </p:sp>
      <p:sp>
        <p:nvSpPr>
          <p:cNvPr id="21" name="Text 17"/>
          <p:cNvSpPr/>
          <p:nvPr/>
        </p:nvSpPr>
        <p:spPr>
          <a:xfrm>
            <a:off x="1060704" y="527608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Passer le quiz généré sur son code</a:t>
            </a:r>
            <a:endParaRPr lang="en-US" sz="1150" dirty="0"/>
          </a:p>
        </p:txBody>
      </p:sp>
      <p:sp>
        <p:nvSpPr>
          <p:cNvPr id="22" name="Shape 18"/>
          <p:cNvSpPr/>
          <p:nvPr/>
        </p:nvSpPr>
        <p:spPr>
          <a:xfrm>
            <a:off x="4114800" y="2148840"/>
            <a:ext cx="3959352" cy="3337560"/>
          </a:xfrm>
          <a:prstGeom prst="roundRect">
            <a:avLst>
              <a:gd name="adj" fmla="val 2466"/>
            </a:avLst>
          </a:prstGeom>
          <a:solidFill>
            <a:srgbClr val="232338"/>
          </a:solidFill>
          <a:ln w="17780">
            <a:solidFill>
              <a:srgbClr val="CBA6F7"/>
            </a:solidFill>
            <a:prstDash val="solid"/>
          </a:ln>
          <a:effectLst>
            <a:outerShdw blurRad="114300" dist="38100" dir="5400000" algn="bl" rotWithShape="0">
              <a:srgbClr val="000000">
                <a:alpha val="35000"/>
              </a:srgbClr>
            </a:outerShdw>
          </a:effectLst>
        </p:spPr>
      </p:sp>
      <p:pic>
        <p:nvPicPr>
          <p:cNvPr id="23" name="Image 2" descr="assets/ic_robot.png"/>
          <p:cNvPicPr>
            <a:picLocks noChangeAspect="1"/>
          </p:cNvPicPr>
          <p:nvPr/>
        </p:nvPicPr>
        <p:blipFill>
          <a:blip r:embed="rId5"/>
          <a:stretch>
            <a:fillRect/>
          </a:stretch>
        </p:blipFill>
        <p:spPr>
          <a:xfrm>
            <a:off x="5847588" y="2377440"/>
            <a:ext cx="493776" cy="493776"/>
          </a:xfrm>
          <a:prstGeom prst="rect">
            <a:avLst/>
          </a:prstGeom>
        </p:spPr>
      </p:pic>
      <p:sp>
        <p:nvSpPr>
          <p:cNvPr id="24" name="Text 19"/>
          <p:cNvSpPr/>
          <p:nvPr/>
        </p:nvSpPr>
        <p:spPr>
          <a:xfrm>
            <a:off x="4114800" y="2926080"/>
            <a:ext cx="3959352" cy="320040"/>
          </a:xfrm>
          <a:prstGeom prst="rect">
            <a:avLst/>
          </a:prstGeom>
          <a:noFill/>
          <a:ln/>
        </p:spPr>
        <p:txBody>
          <a:bodyPr wrap="square" lIns="0" tIns="0" rIns="0" bIns="0" rtlCol="0" anchor="ctr"/>
          <a:lstStyle/>
          <a:p>
            <a:pPr marL="0" indent="0" algn="ctr">
              <a:buNone/>
            </a:pPr>
            <a:r>
              <a:rPr lang="en-US" sz="1500" b="1" dirty="0">
                <a:solidFill>
                  <a:srgbClr val="CDD6F4"/>
                </a:solidFill>
                <a:latin typeface="Georgia" pitchFamily="34" charset="0"/>
                <a:ea typeface="Georgia" pitchFamily="34" charset="-122"/>
                <a:cs typeface="Georgia" pitchFamily="34" charset="-120"/>
              </a:rPr>
              <a:t>Plateforme Agentic TP</a:t>
            </a:r>
            <a:endParaRPr lang="en-US" sz="1500" dirty="0"/>
          </a:p>
        </p:txBody>
      </p:sp>
      <p:sp>
        <p:nvSpPr>
          <p:cNvPr id="25" name="Text 20"/>
          <p:cNvSpPr/>
          <p:nvPr/>
        </p:nvSpPr>
        <p:spPr>
          <a:xfrm>
            <a:off x="4114800" y="3246120"/>
            <a:ext cx="3959352" cy="256032"/>
          </a:xfrm>
          <a:prstGeom prst="rect">
            <a:avLst/>
          </a:prstGeom>
          <a:noFill/>
          <a:ln/>
        </p:spPr>
        <p:txBody>
          <a:bodyPr wrap="square" lIns="0" tIns="0" rIns="0" bIns="0" rtlCol="0" anchor="ctr"/>
          <a:lstStyle/>
          <a:p>
            <a:pPr marL="0" indent="0" algn="ctr">
              <a:buNone/>
            </a:pPr>
            <a:r>
              <a:rPr lang="en-US" sz="1050" i="1" dirty="0">
                <a:solidFill>
                  <a:srgbClr val="A6ADC8"/>
                </a:solidFill>
                <a:latin typeface="Calibri" pitchFamily="34" charset="0"/>
                <a:ea typeface="Calibri" pitchFamily="34" charset="-122"/>
                <a:cs typeface="Calibri" pitchFamily="34" charset="-120"/>
              </a:rPr>
              <a:t>Orchestration de 4 agents IA</a:t>
            </a:r>
            <a:endParaRPr lang="en-US" sz="1050" dirty="0"/>
          </a:p>
        </p:txBody>
      </p:sp>
      <p:sp>
        <p:nvSpPr>
          <p:cNvPr id="26" name="Shape 21"/>
          <p:cNvSpPr/>
          <p:nvPr/>
        </p:nvSpPr>
        <p:spPr>
          <a:xfrm>
            <a:off x="4343400" y="3611880"/>
            <a:ext cx="3502152" cy="420624"/>
          </a:xfrm>
          <a:prstGeom prst="roundRect">
            <a:avLst>
              <a:gd name="adj" fmla="val 13043"/>
            </a:avLst>
          </a:prstGeom>
          <a:solidFill>
            <a:srgbClr val="11111B"/>
          </a:solidFill>
          <a:ln w="12700">
            <a:solidFill>
              <a:srgbClr val="89B4FA"/>
            </a:solidFill>
            <a:prstDash val="solid"/>
          </a:ln>
        </p:spPr>
      </p:sp>
      <p:sp>
        <p:nvSpPr>
          <p:cNvPr id="27" name="Text 22"/>
          <p:cNvSpPr/>
          <p:nvPr/>
        </p:nvSpPr>
        <p:spPr>
          <a:xfrm>
            <a:off x="4480560" y="3611880"/>
            <a:ext cx="3291840" cy="420624"/>
          </a:xfrm>
          <a:prstGeom prst="rect">
            <a:avLst/>
          </a:prstGeom>
          <a:noFill/>
          <a:ln/>
        </p:spPr>
        <p:txBody>
          <a:bodyPr wrap="square" lIns="0" tIns="0" rIns="0" bIns="0" rtlCol="0" anchor="ctr"/>
          <a:lstStyle/>
          <a:p>
            <a:pPr marL="0" indent="0">
              <a:buNone/>
            </a:pPr>
            <a:r>
              <a:rPr lang="en-US" sz="1100" b="1" dirty="0">
                <a:solidFill>
                  <a:srgbClr val="89B4FA"/>
                </a:solidFill>
                <a:latin typeface="Calibri" pitchFamily="34" charset="0"/>
                <a:ea typeface="Calibri" pitchFamily="34" charset="-122"/>
                <a:cs typeface="Calibri" pitchFamily="34" charset="-120"/>
              </a:rPr>
              <a:t>Explanation</a:t>
            </a:r>
            <a:r>
              <a:rPr lang="en-US" sz="1100" dirty="0">
                <a:solidFill>
                  <a:srgbClr val="A6ADC8"/>
                </a:solidFill>
                <a:latin typeface="Calibri" pitchFamily="34" charset="0"/>
                <a:ea typeface="Calibri" pitchFamily="34" charset="-122"/>
                <a:cs typeface="Calibri" pitchFamily="34" charset="-120"/>
              </a:rPr>
              <a:t>  —  explique l'étape</a:t>
            </a:r>
            <a:endParaRPr lang="en-US" sz="1100" dirty="0"/>
          </a:p>
        </p:txBody>
      </p:sp>
      <p:sp>
        <p:nvSpPr>
          <p:cNvPr id="28" name="Shape 23"/>
          <p:cNvSpPr/>
          <p:nvPr/>
        </p:nvSpPr>
        <p:spPr>
          <a:xfrm>
            <a:off x="4343400" y="4078224"/>
            <a:ext cx="3502152" cy="420624"/>
          </a:xfrm>
          <a:prstGeom prst="roundRect">
            <a:avLst>
              <a:gd name="adj" fmla="val 13043"/>
            </a:avLst>
          </a:prstGeom>
          <a:solidFill>
            <a:srgbClr val="11111B"/>
          </a:solidFill>
          <a:ln w="12700">
            <a:solidFill>
              <a:srgbClr val="A6E3A1"/>
            </a:solidFill>
            <a:prstDash val="solid"/>
          </a:ln>
        </p:spPr>
      </p:sp>
      <p:sp>
        <p:nvSpPr>
          <p:cNvPr id="29" name="Text 24"/>
          <p:cNvSpPr/>
          <p:nvPr/>
        </p:nvSpPr>
        <p:spPr>
          <a:xfrm>
            <a:off x="4480560" y="4078224"/>
            <a:ext cx="3291840" cy="420624"/>
          </a:xfrm>
          <a:prstGeom prst="rect">
            <a:avLst/>
          </a:prstGeom>
          <a:noFill/>
          <a:ln/>
        </p:spPr>
        <p:txBody>
          <a:bodyPr wrap="square" lIns="0" tIns="0" rIns="0" bIns="0" rtlCol="0" anchor="ctr"/>
          <a:lstStyle/>
          <a:p>
            <a:pPr marL="0" indent="0">
              <a:buNone/>
            </a:pPr>
            <a:r>
              <a:rPr lang="en-US" sz="1100" b="1" dirty="0">
                <a:solidFill>
                  <a:srgbClr val="A6E3A1"/>
                </a:solidFill>
                <a:latin typeface="Calibri" pitchFamily="34" charset="0"/>
                <a:ea typeface="Calibri" pitchFamily="34" charset="-122"/>
                <a:cs typeface="Calibri" pitchFamily="34" charset="-120"/>
              </a:rPr>
              <a:t>Hint</a:t>
            </a:r>
            <a:r>
              <a:rPr lang="en-US" sz="1100" dirty="0">
                <a:solidFill>
                  <a:srgbClr val="A6ADC8"/>
                </a:solidFill>
                <a:latin typeface="Calibri" pitchFamily="34" charset="0"/>
                <a:ea typeface="Calibri" pitchFamily="34" charset="-122"/>
                <a:cs typeface="Calibri" pitchFamily="34" charset="-120"/>
              </a:rPr>
              <a:t>  —  indices progressifs</a:t>
            </a:r>
            <a:endParaRPr lang="en-US" sz="1100" dirty="0"/>
          </a:p>
        </p:txBody>
      </p:sp>
      <p:sp>
        <p:nvSpPr>
          <p:cNvPr id="30" name="Shape 25"/>
          <p:cNvSpPr/>
          <p:nvPr/>
        </p:nvSpPr>
        <p:spPr>
          <a:xfrm>
            <a:off x="4343400" y="4544568"/>
            <a:ext cx="3502152" cy="420624"/>
          </a:xfrm>
          <a:prstGeom prst="roundRect">
            <a:avLst>
              <a:gd name="adj" fmla="val 13043"/>
            </a:avLst>
          </a:prstGeom>
          <a:solidFill>
            <a:srgbClr val="11111B"/>
          </a:solidFill>
          <a:ln w="12700">
            <a:solidFill>
              <a:srgbClr val="F9E2AF"/>
            </a:solidFill>
            <a:prstDash val="solid"/>
          </a:ln>
        </p:spPr>
      </p:sp>
      <p:sp>
        <p:nvSpPr>
          <p:cNvPr id="31" name="Text 26"/>
          <p:cNvSpPr/>
          <p:nvPr/>
        </p:nvSpPr>
        <p:spPr>
          <a:xfrm>
            <a:off x="4480560" y="4544568"/>
            <a:ext cx="3291840" cy="420624"/>
          </a:xfrm>
          <a:prstGeom prst="rect">
            <a:avLst/>
          </a:prstGeom>
          <a:noFill/>
          <a:ln/>
        </p:spPr>
        <p:txBody>
          <a:bodyPr wrap="square" lIns="0" tIns="0" rIns="0" bIns="0" rtlCol="0" anchor="ctr"/>
          <a:lstStyle/>
          <a:p>
            <a:pPr marL="0" indent="0">
              <a:buNone/>
            </a:pPr>
            <a:r>
              <a:rPr lang="en-US" sz="1100" b="1" dirty="0">
                <a:solidFill>
                  <a:srgbClr val="F9E2AF"/>
                </a:solidFill>
                <a:latin typeface="Calibri" pitchFamily="34" charset="0"/>
                <a:ea typeface="Calibri" pitchFamily="34" charset="-122"/>
                <a:cs typeface="Calibri" pitchFamily="34" charset="-120"/>
              </a:rPr>
              <a:t>Evaluation</a:t>
            </a:r>
            <a:r>
              <a:rPr lang="en-US" sz="1100" dirty="0">
                <a:solidFill>
                  <a:srgbClr val="A6ADC8"/>
                </a:solidFill>
                <a:latin typeface="Calibri" pitchFamily="34" charset="0"/>
                <a:ea typeface="Calibri" pitchFamily="34" charset="-122"/>
                <a:cs typeface="Calibri" pitchFamily="34" charset="-120"/>
              </a:rPr>
              <a:t>  —  génère &amp; note le quiz</a:t>
            </a:r>
            <a:endParaRPr lang="en-US" sz="1100" dirty="0"/>
          </a:p>
        </p:txBody>
      </p:sp>
      <p:sp>
        <p:nvSpPr>
          <p:cNvPr id="32" name="Shape 27"/>
          <p:cNvSpPr/>
          <p:nvPr/>
        </p:nvSpPr>
        <p:spPr>
          <a:xfrm>
            <a:off x="4343400" y="5010912"/>
            <a:ext cx="3502152" cy="420624"/>
          </a:xfrm>
          <a:prstGeom prst="roundRect">
            <a:avLst>
              <a:gd name="adj" fmla="val 13043"/>
            </a:avLst>
          </a:prstGeom>
          <a:solidFill>
            <a:srgbClr val="11111B"/>
          </a:solidFill>
          <a:ln w="12700">
            <a:solidFill>
              <a:srgbClr val="CBA6F7"/>
            </a:solidFill>
            <a:prstDash val="solid"/>
          </a:ln>
        </p:spPr>
      </p:sp>
      <p:sp>
        <p:nvSpPr>
          <p:cNvPr id="33" name="Text 28"/>
          <p:cNvSpPr/>
          <p:nvPr/>
        </p:nvSpPr>
        <p:spPr>
          <a:xfrm>
            <a:off x="4480560" y="5010912"/>
            <a:ext cx="3291840" cy="420624"/>
          </a:xfrm>
          <a:prstGeom prst="rect">
            <a:avLst/>
          </a:prstGeom>
          <a:noFill/>
          <a:ln/>
        </p:spPr>
        <p:txBody>
          <a:bodyPr wrap="square" lIns="0" tIns="0" rIns="0" bIns="0" rtlCol="0" anchor="ctr"/>
          <a:lstStyle/>
          <a:p>
            <a:pPr marL="0" indent="0">
              <a:buNone/>
            </a:pPr>
            <a:r>
              <a:rPr lang="en-US" sz="1100" b="1" dirty="0">
                <a:solidFill>
                  <a:srgbClr val="CBA6F7"/>
                </a:solidFill>
                <a:latin typeface="Calibri" pitchFamily="34" charset="0"/>
                <a:ea typeface="Calibri" pitchFamily="34" charset="-122"/>
                <a:cs typeface="Calibri" pitchFamily="34" charset="-120"/>
              </a:rPr>
              <a:t>Orchestrator</a:t>
            </a:r>
            <a:r>
              <a:rPr lang="en-US" sz="1100" dirty="0">
                <a:solidFill>
                  <a:srgbClr val="A6ADC8"/>
                </a:solidFill>
                <a:latin typeface="Calibri" pitchFamily="34" charset="0"/>
                <a:ea typeface="Calibri" pitchFamily="34" charset="-122"/>
                <a:cs typeface="Calibri" pitchFamily="34" charset="-120"/>
              </a:rPr>
              <a:t>  —  route les requêtes</a:t>
            </a:r>
            <a:endParaRPr lang="en-US" sz="1100" dirty="0"/>
          </a:p>
        </p:txBody>
      </p:sp>
      <p:sp>
        <p:nvSpPr>
          <p:cNvPr id="34" name="Shape 29"/>
          <p:cNvSpPr/>
          <p:nvPr/>
        </p:nvSpPr>
        <p:spPr>
          <a:xfrm>
            <a:off x="8375904" y="1737360"/>
            <a:ext cx="3246120" cy="4160520"/>
          </a:xfrm>
          <a:prstGeom prst="roundRect">
            <a:avLst>
              <a:gd name="adj" fmla="val 2535"/>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35" name="Shape 30"/>
          <p:cNvSpPr/>
          <p:nvPr/>
        </p:nvSpPr>
        <p:spPr>
          <a:xfrm>
            <a:off x="9587484" y="1938528"/>
            <a:ext cx="822960" cy="822960"/>
          </a:xfrm>
          <a:prstGeom prst="roundRect">
            <a:avLst>
              <a:gd name="adj" fmla="val 20000"/>
            </a:avLst>
          </a:prstGeom>
          <a:solidFill>
            <a:srgbClr val="232338"/>
          </a:solidFill>
          <a:ln w="12700">
            <a:solidFill>
              <a:srgbClr val="A6E3A1"/>
            </a:solidFill>
            <a:prstDash val="solid"/>
          </a:ln>
        </p:spPr>
      </p:sp>
      <p:pic>
        <p:nvPicPr>
          <p:cNvPr id="36" name="Image 3" descr="assets/ic_teacher.png"/>
          <p:cNvPicPr>
            <a:picLocks noChangeAspect="1"/>
          </p:cNvPicPr>
          <p:nvPr/>
        </p:nvPicPr>
        <p:blipFill>
          <a:blip r:embed="rId6"/>
          <a:stretch>
            <a:fillRect/>
          </a:stretch>
        </p:blipFill>
        <p:spPr>
          <a:xfrm>
            <a:off x="9770364" y="2121408"/>
            <a:ext cx="457200" cy="457200"/>
          </a:xfrm>
          <a:prstGeom prst="rect">
            <a:avLst/>
          </a:prstGeom>
        </p:spPr>
      </p:pic>
      <p:sp>
        <p:nvSpPr>
          <p:cNvPr id="37" name="Text 31"/>
          <p:cNvSpPr/>
          <p:nvPr/>
        </p:nvSpPr>
        <p:spPr>
          <a:xfrm>
            <a:off x="8375904" y="2816352"/>
            <a:ext cx="3246120" cy="365760"/>
          </a:xfrm>
          <a:prstGeom prst="rect">
            <a:avLst/>
          </a:prstGeom>
          <a:noFill/>
          <a:ln/>
        </p:spPr>
        <p:txBody>
          <a:bodyPr wrap="square" lIns="0" tIns="0" rIns="0" bIns="0" rtlCol="0" anchor="ctr"/>
          <a:lstStyle/>
          <a:p>
            <a:pPr marL="0" indent="0" algn="ctr">
              <a:buNone/>
            </a:pPr>
            <a:r>
              <a:rPr lang="en-US" sz="1700" b="1" dirty="0">
                <a:solidFill>
                  <a:srgbClr val="A6E3A1"/>
                </a:solidFill>
                <a:latin typeface="Georgia" pitchFamily="34" charset="0"/>
                <a:ea typeface="Georgia" pitchFamily="34" charset="-122"/>
                <a:cs typeface="Georgia" pitchFamily="34" charset="-120"/>
              </a:rPr>
              <a:t>Enseignant</a:t>
            </a:r>
            <a:endParaRPr lang="en-US" sz="1700" dirty="0"/>
          </a:p>
        </p:txBody>
      </p:sp>
      <p:sp>
        <p:nvSpPr>
          <p:cNvPr id="38" name="Shape 32"/>
          <p:cNvSpPr/>
          <p:nvPr/>
        </p:nvSpPr>
        <p:spPr>
          <a:xfrm>
            <a:off x="8631936" y="3355848"/>
            <a:ext cx="91440" cy="91440"/>
          </a:xfrm>
          <a:prstGeom prst="ellipse">
            <a:avLst/>
          </a:prstGeom>
          <a:solidFill>
            <a:srgbClr val="A6E3A1"/>
          </a:solidFill>
          <a:ln/>
        </p:spPr>
      </p:sp>
      <p:sp>
        <p:nvSpPr>
          <p:cNvPr id="39" name="Text 33"/>
          <p:cNvSpPr/>
          <p:nvPr/>
        </p:nvSpPr>
        <p:spPr>
          <a:xfrm>
            <a:off x="8869680" y="326440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Créer un TP (manuellement ou via l'IA)</a:t>
            </a:r>
            <a:endParaRPr lang="en-US" sz="1150" dirty="0"/>
          </a:p>
        </p:txBody>
      </p:sp>
      <p:sp>
        <p:nvSpPr>
          <p:cNvPr id="40" name="Shape 34"/>
          <p:cNvSpPr/>
          <p:nvPr/>
        </p:nvSpPr>
        <p:spPr>
          <a:xfrm>
            <a:off x="8631936" y="3858768"/>
            <a:ext cx="91440" cy="91440"/>
          </a:xfrm>
          <a:prstGeom prst="ellipse">
            <a:avLst/>
          </a:prstGeom>
          <a:solidFill>
            <a:srgbClr val="A6E3A1"/>
          </a:solidFill>
          <a:ln/>
        </p:spPr>
      </p:sp>
      <p:sp>
        <p:nvSpPr>
          <p:cNvPr id="41" name="Text 35"/>
          <p:cNvSpPr/>
          <p:nvPr/>
        </p:nvSpPr>
        <p:spPr>
          <a:xfrm>
            <a:off x="8869680" y="376732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Assigner le TP et fixer une échéance</a:t>
            </a:r>
            <a:endParaRPr lang="en-US" sz="1150" dirty="0"/>
          </a:p>
        </p:txBody>
      </p:sp>
      <p:sp>
        <p:nvSpPr>
          <p:cNvPr id="42" name="Shape 36"/>
          <p:cNvSpPr/>
          <p:nvPr/>
        </p:nvSpPr>
        <p:spPr>
          <a:xfrm>
            <a:off x="8631936" y="4361688"/>
            <a:ext cx="91440" cy="91440"/>
          </a:xfrm>
          <a:prstGeom prst="ellipse">
            <a:avLst/>
          </a:prstGeom>
          <a:solidFill>
            <a:srgbClr val="A6E3A1"/>
          </a:solidFill>
          <a:ln/>
        </p:spPr>
      </p:sp>
      <p:sp>
        <p:nvSpPr>
          <p:cNvPr id="43" name="Text 37"/>
          <p:cNvSpPr/>
          <p:nvPr/>
        </p:nvSpPr>
        <p:spPr>
          <a:xfrm>
            <a:off x="8869680" y="427024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Suivre la progression en direct</a:t>
            </a:r>
            <a:endParaRPr lang="en-US" sz="1150" dirty="0"/>
          </a:p>
        </p:txBody>
      </p:sp>
      <p:sp>
        <p:nvSpPr>
          <p:cNvPr id="44" name="Shape 38"/>
          <p:cNvSpPr/>
          <p:nvPr/>
        </p:nvSpPr>
        <p:spPr>
          <a:xfrm>
            <a:off x="8631936" y="4864608"/>
            <a:ext cx="91440" cy="91440"/>
          </a:xfrm>
          <a:prstGeom prst="ellipse">
            <a:avLst/>
          </a:prstGeom>
          <a:solidFill>
            <a:srgbClr val="A6E3A1"/>
          </a:solidFill>
          <a:ln/>
        </p:spPr>
      </p:sp>
      <p:sp>
        <p:nvSpPr>
          <p:cNvPr id="45" name="Text 39"/>
          <p:cNvSpPr/>
          <p:nvPr/>
        </p:nvSpPr>
        <p:spPr>
          <a:xfrm>
            <a:off x="8869680" y="477316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Consulter les scores et feedbacks</a:t>
            </a:r>
            <a:endParaRPr lang="en-US" sz="1150" dirty="0"/>
          </a:p>
        </p:txBody>
      </p:sp>
      <p:sp>
        <p:nvSpPr>
          <p:cNvPr id="46" name="Shape 40"/>
          <p:cNvSpPr/>
          <p:nvPr/>
        </p:nvSpPr>
        <p:spPr>
          <a:xfrm>
            <a:off x="8631936" y="5367528"/>
            <a:ext cx="91440" cy="91440"/>
          </a:xfrm>
          <a:prstGeom prst="ellipse">
            <a:avLst/>
          </a:prstGeom>
          <a:solidFill>
            <a:srgbClr val="A6E3A1"/>
          </a:solidFill>
          <a:ln/>
        </p:spPr>
      </p:sp>
      <p:sp>
        <p:nvSpPr>
          <p:cNvPr id="47" name="Text 41"/>
          <p:cNvSpPr/>
          <p:nvPr/>
        </p:nvSpPr>
        <p:spPr>
          <a:xfrm>
            <a:off x="8869680" y="5276088"/>
            <a:ext cx="2743200" cy="457200"/>
          </a:xfrm>
          <a:prstGeom prst="rect">
            <a:avLst/>
          </a:prstGeom>
          <a:noFill/>
          <a:ln/>
        </p:spPr>
        <p:txBody>
          <a:bodyPr wrap="square" lIns="0" tIns="0" rIns="0" bIns="0" rtlCol="0" anchor="ctr"/>
          <a:lstStyle/>
          <a:p>
            <a:pPr marL="0" indent="0">
              <a:lnSpc>
                <a:spcPct val="105000"/>
              </a:lnSpc>
              <a:buNone/>
            </a:pPr>
            <a:r>
              <a:rPr lang="en-US" sz="1150" dirty="0">
                <a:solidFill>
                  <a:srgbClr val="BAC2DE"/>
                </a:solidFill>
                <a:latin typeface="Calibri" pitchFamily="34" charset="0"/>
                <a:ea typeface="Calibri" pitchFamily="34" charset="-122"/>
                <a:cs typeface="Calibri" pitchFamily="34" charset="-120"/>
              </a:rPr>
              <a:t>Mesurer la compréhension réelle</a:t>
            </a:r>
            <a:endParaRPr lang="en-US" sz="1150" dirty="0"/>
          </a:p>
        </p:txBody>
      </p:sp>
      <p:sp>
        <p:nvSpPr>
          <p:cNvPr id="48" name="Shape 42"/>
          <p:cNvSpPr/>
          <p:nvPr/>
        </p:nvSpPr>
        <p:spPr>
          <a:xfrm>
            <a:off x="3813048" y="3749040"/>
            <a:ext cx="301752" cy="0"/>
          </a:xfrm>
          <a:prstGeom prst="line">
            <a:avLst/>
          </a:prstGeom>
          <a:noFill/>
          <a:ln w="17780">
            <a:solidFill>
              <a:srgbClr val="CBA6F7"/>
            </a:solidFill>
            <a:prstDash val="solid"/>
            <a:tailEnd type="triangle"/>
          </a:ln>
        </p:spPr>
      </p:sp>
      <p:sp>
        <p:nvSpPr>
          <p:cNvPr id="49" name="Shape 43"/>
          <p:cNvSpPr/>
          <p:nvPr/>
        </p:nvSpPr>
        <p:spPr>
          <a:xfrm>
            <a:off x="8375904" y="3749040"/>
            <a:ext cx="0" cy="0"/>
          </a:xfrm>
          <a:prstGeom prst="line">
            <a:avLst/>
          </a:prstGeom>
          <a:noFill/>
          <a:ln w="17780">
            <a:solidFill>
              <a:srgbClr val="A6E3A1"/>
            </a:solidFill>
            <a:prstDash val="solid"/>
            <a:tailEnd type="triangle"/>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robo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89B4FA"/>
                </a:solidFill>
                <a:latin typeface="Calibri" pitchFamily="34" charset="0"/>
                <a:ea typeface="Calibri" pitchFamily="34" charset="-122"/>
                <a:cs typeface="Calibri" pitchFamily="34" charset="-120"/>
              </a:rPr>
              <a:t>CONCEPTION FONCTIONNELLE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Décomposition en agents — un rôle, un modèle</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06</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27632"/>
            <a:ext cx="5486400" cy="2212848"/>
          </a:xfrm>
          <a:prstGeom prst="roundRect">
            <a:avLst>
              <a:gd name="adj" fmla="val 3719"/>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9" name="Shape 6"/>
          <p:cNvSpPr/>
          <p:nvPr/>
        </p:nvSpPr>
        <p:spPr>
          <a:xfrm>
            <a:off x="822960" y="1883664"/>
            <a:ext cx="603504" cy="603504"/>
          </a:xfrm>
          <a:prstGeom prst="roundRect">
            <a:avLst>
              <a:gd name="adj" fmla="val 21212"/>
            </a:avLst>
          </a:prstGeom>
          <a:solidFill>
            <a:srgbClr val="232338"/>
          </a:solidFill>
          <a:ln w="12700">
            <a:solidFill>
              <a:srgbClr val="89B4FA"/>
            </a:solidFill>
            <a:prstDash val="solid"/>
          </a:ln>
        </p:spPr>
      </p:sp>
      <p:pic>
        <p:nvPicPr>
          <p:cNvPr id="10" name="Image 1" descr="assets/ic_chat.png"/>
          <p:cNvPicPr>
            <a:picLocks noChangeAspect="1"/>
          </p:cNvPicPr>
          <p:nvPr/>
        </p:nvPicPr>
        <p:blipFill>
          <a:blip r:embed="rId4"/>
          <a:stretch>
            <a:fillRect/>
          </a:stretch>
        </p:blipFill>
        <p:spPr>
          <a:xfrm>
            <a:off x="969264" y="2029968"/>
            <a:ext cx="310896" cy="310896"/>
          </a:xfrm>
          <a:prstGeom prst="rect">
            <a:avLst/>
          </a:prstGeom>
        </p:spPr>
      </p:pic>
      <p:sp>
        <p:nvSpPr>
          <p:cNvPr id="11" name="Text 7"/>
          <p:cNvSpPr/>
          <p:nvPr/>
        </p:nvSpPr>
        <p:spPr>
          <a:xfrm>
            <a:off x="1572768" y="1865376"/>
            <a:ext cx="4297680" cy="310896"/>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1 · Explanation Agent</a:t>
            </a:r>
            <a:endParaRPr lang="en-US" sz="1600" dirty="0"/>
          </a:p>
        </p:txBody>
      </p:sp>
      <p:sp>
        <p:nvSpPr>
          <p:cNvPr id="12" name="Text 8"/>
          <p:cNvSpPr/>
          <p:nvPr/>
        </p:nvSpPr>
        <p:spPr>
          <a:xfrm>
            <a:off x="1572768" y="2194560"/>
            <a:ext cx="4297680" cy="274320"/>
          </a:xfrm>
          <a:prstGeom prst="rect">
            <a:avLst/>
          </a:prstGeom>
          <a:noFill/>
          <a:ln/>
        </p:spPr>
        <p:txBody>
          <a:bodyPr wrap="square" lIns="0" tIns="0" rIns="0" bIns="0" rtlCol="0" anchor="ctr"/>
          <a:lstStyle/>
          <a:p>
            <a:pPr marL="0" indent="0">
              <a:buNone/>
            </a:pPr>
            <a:r>
              <a:rPr lang="en-US" sz="800" dirty="0">
                <a:solidFill>
                  <a:srgbClr val="89B4FA"/>
                </a:solidFill>
                <a:latin typeface="Consolas" pitchFamily="34" charset="0"/>
                <a:ea typeface="Consolas" pitchFamily="34" charset="-122"/>
                <a:cs typeface="Consolas" pitchFamily="34" charset="-120"/>
              </a:rPr>
              <a:t>⬤ </a:t>
            </a:r>
            <a:r>
              <a:rPr lang="en-US" sz="950" b="1" dirty="0">
                <a:solidFill>
                  <a:srgbClr val="89B4FA"/>
                </a:solidFill>
                <a:latin typeface="Consolas" pitchFamily="34" charset="0"/>
                <a:ea typeface="Consolas" pitchFamily="34" charset="-122"/>
                <a:cs typeface="Consolas" pitchFamily="34" charset="-120"/>
              </a:rPr>
              <a:t>mistral</a:t>
            </a:r>
            <a:r>
              <a:rPr lang="en-US" sz="950" dirty="0">
                <a:solidFill>
                  <a:srgbClr val="A6ADC8"/>
                </a:solidFill>
                <a:latin typeface="Consolas" pitchFamily="34" charset="0"/>
                <a:ea typeface="Consolas" pitchFamily="34" charset="-122"/>
                <a:cs typeface="Consolas" pitchFamily="34" charset="-120"/>
              </a:rPr>
              <a:t>   8001 · POST /explain</a:t>
            </a:r>
            <a:endParaRPr lang="en-US" sz="950" dirty="0"/>
          </a:p>
        </p:txBody>
      </p:sp>
      <p:sp>
        <p:nvSpPr>
          <p:cNvPr id="13" name="Text 9"/>
          <p:cNvSpPr/>
          <p:nvPr/>
        </p:nvSpPr>
        <p:spPr>
          <a:xfrm>
            <a:off x="841248" y="2596896"/>
            <a:ext cx="4956048" cy="566928"/>
          </a:xfrm>
          <a:prstGeom prst="rect">
            <a:avLst/>
          </a:prstGeom>
          <a:noFill/>
          <a:ln/>
        </p:spPr>
        <p:txBody>
          <a:bodyPr wrap="square" lIns="0" tIns="0" rIns="0" bIns="0" rtlCol="0" anchor="ctr"/>
          <a:lstStyle/>
          <a:p>
            <a:pPr marL="0" indent="0">
              <a:lnSpc>
                <a:spcPct val="108000"/>
              </a:lnSpc>
              <a:buNone/>
            </a:pPr>
            <a:r>
              <a:rPr lang="en-US" sz="1200" dirty="0">
                <a:solidFill>
                  <a:srgbClr val="BAC2DE"/>
                </a:solidFill>
                <a:latin typeface="Calibri" pitchFamily="34" charset="0"/>
                <a:ea typeface="Calibri" pitchFamily="34" charset="-122"/>
                <a:cs typeface="Calibri" pitchFamily="34" charset="-120"/>
              </a:rPr>
              <a:t>Phase d'accueil. Explique les étapes du TP par la méthode socratique — jamais de code.</a:t>
            </a:r>
            <a:endParaRPr lang="en-US" sz="1200" dirty="0"/>
          </a:p>
        </p:txBody>
      </p:sp>
      <p:sp>
        <p:nvSpPr>
          <p:cNvPr id="14" name="Shape 10"/>
          <p:cNvSpPr/>
          <p:nvPr/>
        </p:nvSpPr>
        <p:spPr>
          <a:xfrm>
            <a:off x="841248" y="3200400"/>
            <a:ext cx="4937760" cy="502920"/>
          </a:xfrm>
          <a:prstGeom prst="roundRect">
            <a:avLst>
              <a:gd name="adj" fmla="val 10909"/>
            </a:avLst>
          </a:prstGeom>
          <a:solidFill>
            <a:srgbClr val="11111B"/>
          </a:solidFill>
          <a:ln w="9525">
            <a:solidFill>
              <a:srgbClr val="313244"/>
            </a:solidFill>
            <a:prstDash val="solid"/>
          </a:ln>
        </p:spPr>
      </p:sp>
      <p:sp>
        <p:nvSpPr>
          <p:cNvPr id="15" name="Text 11"/>
          <p:cNvSpPr/>
          <p:nvPr/>
        </p:nvSpPr>
        <p:spPr>
          <a:xfrm>
            <a:off x="969264" y="3200400"/>
            <a:ext cx="4718304" cy="502920"/>
          </a:xfrm>
          <a:prstGeom prst="rect">
            <a:avLst/>
          </a:prstGeom>
          <a:noFill/>
          <a:ln/>
        </p:spPr>
        <p:txBody>
          <a:bodyPr wrap="square" lIns="0" tIns="0" rIns="0" bIns="0" rtlCol="0" anchor="ctr"/>
          <a:lstStyle/>
          <a:p>
            <a:pPr marL="0" indent="0">
              <a:lnSpc>
                <a:spcPct val="100000"/>
              </a:lnSpc>
              <a:buNone/>
            </a:pPr>
            <a:r>
              <a:rPr lang="en-US" sz="820" b="1" kern="0" spc="100" dirty="0">
                <a:solidFill>
                  <a:srgbClr val="89B4FA"/>
                </a:solidFill>
                <a:latin typeface="Consolas" pitchFamily="34" charset="0"/>
                <a:ea typeface="Consolas" pitchFamily="34" charset="-122"/>
                <a:cs typeface="Consolas" pitchFamily="34" charset="-120"/>
              </a:rPr>
              <a:t>TOOLS  </a:t>
            </a:r>
            <a:r>
              <a:rPr lang="en-US" sz="820" dirty="0">
                <a:solidFill>
                  <a:srgbClr val="A6ADC8"/>
                </a:solidFill>
                <a:latin typeface="Consolas" pitchFamily="34" charset="0"/>
                <a:ea typeface="Consolas" pitchFamily="34" charset="-122"/>
                <a:cs typeface="Consolas" pitchFamily="34" charset="-120"/>
              </a:rPr>
              <a:t>explain_tp_step · get_learning_objectives · structure_clarification · detect_misconception</a:t>
            </a:r>
            <a:endParaRPr lang="en-US" sz="820" dirty="0"/>
          </a:p>
        </p:txBody>
      </p:sp>
      <p:sp>
        <p:nvSpPr>
          <p:cNvPr id="16" name="Shape 12"/>
          <p:cNvSpPr/>
          <p:nvPr/>
        </p:nvSpPr>
        <p:spPr>
          <a:xfrm>
            <a:off x="6135624" y="1627632"/>
            <a:ext cx="5486400" cy="2212848"/>
          </a:xfrm>
          <a:prstGeom prst="roundRect">
            <a:avLst>
              <a:gd name="adj" fmla="val 3719"/>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17" name="Shape 13"/>
          <p:cNvSpPr/>
          <p:nvPr/>
        </p:nvSpPr>
        <p:spPr>
          <a:xfrm>
            <a:off x="6391656" y="1883664"/>
            <a:ext cx="603504" cy="603504"/>
          </a:xfrm>
          <a:prstGeom prst="roundRect">
            <a:avLst>
              <a:gd name="adj" fmla="val 21212"/>
            </a:avLst>
          </a:prstGeom>
          <a:solidFill>
            <a:srgbClr val="232338"/>
          </a:solidFill>
          <a:ln w="12700">
            <a:solidFill>
              <a:srgbClr val="A6E3A1"/>
            </a:solidFill>
            <a:prstDash val="solid"/>
          </a:ln>
        </p:spPr>
      </p:sp>
      <p:pic>
        <p:nvPicPr>
          <p:cNvPr id="18" name="Image 2" descr="assets/ic_bulb.png"/>
          <p:cNvPicPr>
            <a:picLocks noChangeAspect="1"/>
          </p:cNvPicPr>
          <p:nvPr/>
        </p:nvPicPr>
        <p:blipFill>
          <a:blip r:embed="rId5"/>
          <a:stretch>
            <a:fillRect/>
          </a:stretch>
        </p:blipFill>
        <p:spPr>
          <a:xfrm>
            <a:off x="6537960" y="2029968"/>
            <a:ext cx="310896" cy="310896"/>
          </a:xfrm>
          <a:prstGeom prst="rect">
            <a:avLst/>
          </a:prstGeom>
        </p:spPr>
      </p:pic>
      <p:sp>
        <p:nvSpPr>
          <p:cNvPr id="19" name="Text 14"/>
          <p:cNvSpPr/>
          <p:nvPr/>
        </p:nvSpPr>
        <p:spPr>
          <a:xfrm>
            <a:off x="7141464" y="1865376"/>
            <a:ext cx="4297680" cy="310896"/>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2 · Hint Agent</a:t>
            </a:r>
            <a:endParaRPr lang="en-US" sz="1600" dirty="0"/>
          </a:p>
        </p:txBody>
      </p:sp>
      <p:sp>
        <p:nvSpPr>
          <p:cNvPr id="20" name="Text 15"/>
          <p:cNvSpPr/>
          <p:nvPr/>
        </p:nvSpPr>
        <p:spPr>
          <a:xfrm>
            <a:off x="7141464" y="2194560"/>
            <a:ext cx="4297680" cy="274320"/>
          </a:xfrm>
          <a:prstGeom prst="rect">
            <a:avLst/>
          </a:prstGeom>
          <a:noFill/>
          <a:ln/>
        </p:spPr>
        <p:txBody>
          <a:bodyPr wrap="square" lIns="0" tIns="0" rIns="0" bIns="0" rtlCol="0" anchor="ctr"/>
          <a:lstStyle/>
          <a:p>
            <a:pPr marL="0" indent="0">
              <a:buNone/>
            </a:pPr>
            <a:r>
              <a:rPr lang="en-US" sz="800" dirty="0">
                <a:solidFill>
                  <a:srgbClr val="A6E3A1"/>
                </a:solidFill>
                <a:latin typeface="Consolas" pitchFamily="34" charset="0"/>
                <a:ea typeface="Consolas" pitchFamily="34" charset="-122"/>
                <a:cs typeface="Consolas" pitchFamily="34" charset="-120"/>
              </a:rPr>
              <a:t>⬤ </a:t>
            </a:r>
            <a:r>
              <a:rPr lang="en-US" sz="950" b="1" dirty="0">
                <a:solidFill>
                  <a:srgbClr val="A6E3A1"/>
                </a:solidFill>
                <a:latin typeface="Consolas" pitchFamily="34" charset="0"/>
                <a:ea typeface="Consolas" pitchFamily="34" charset="-122"/>
                <a:cs typeface="Consolas" pitchFamily="34" charset="-120"/>
              </a:rPr>
              <a:t>deepseek-coder:6.7b</a:t>
            </a:r>
            <a:r>
              <a:rPr lang="en-US" sz="950" dirty="0">
                <a:solidFill>
                  <a:srgbClr val="A6ADC8"/>
                </a:solidFill>
                <a:latin typeface="Consolas" pitchFamily="34" charset="0"/>
                <a:ea typeface="Consolas" pitchFamily="34" charset="-122"/>
                <a:cs typeface="Consolas" pitchFamily="34" charset="-120"/>
              </a:rPr>
              <a:t>   8002 · POST /hint</a:t>
            </a:r>
            <a:endParaRPr lang="en-US" sz="950" dirty="0"/>
          </a:p>
        </p:txBody>
      </p:sp>
      <p:sp>
        <p:nvSpPr>
          <p:cNvPr id="21" name="Text 16"/>
          <p:cNvSpPr/>
          <p:nvPr/>
        </p:nvSpPr>
        <p:spPr>
          <a:xfrm>
            <a:off x="6409944" y="2596896"/>
            <a:ext cx="4956048" cy="566928"/>
          </a:xfrm>
          <a:prstGeom prst="rect">
            <a:avLst/>
          </a:prstGeom>
          <a:noFill/>
          <a:ln/>
        </p:spPr>
        <p:txBody>
          <a:bodyPr wrap="square" lIns="0" tIns="0" rIns="0" bIns="0" rtlCol="0" anchor="ctr"/>
          <a:lstStyle/>
          <a:p>
            <a:pPr marL="0" indent="0">
              <a:lnSpc>
                <a:spcPct val="108000"/>
              </a:lnSpc>
              <a:buNone/>
            </a:pPr>
            <a:r>
              <a:rPr lang="en-US" sz="1200" dirty="0">
                <a:solidFill>
                  <a:srgbClr val="BAC2DE"/>
                </a:solidFill>
                <a:latin typeface="Calibri" pitchFamily="34" charset="0"/>
                <a:ea typeface="Calibri" pitchFamily="34" charset="-122"/>
                <a:cs typeface="Calibri" pitchFamily="34" charset="-120"/>
              </a:rPr>
              <a:t>Phase de codage. Analyse le HTML live et délivre des indices progressifs (4 niveaux).</a:t>
            </a:r>
            <a:endParaRPr lang="en-US" sz="1200" dirty="0"/>
          </a:p>
        </p:txBody>
      </p:sp>
      <p:sp>
        <p:nvSpPr>
          <p:cNvPr id="22" name="Shape 17"/>
          <p:cNvSpPr/>
          <p:nvPr/>
        </p:nvSpPr>
        <p:spPr>
          <a:xfrm>
            <a:off x="6409944" y="3200400"/>
            <a:ext cx="4937760" cy="502920"/>
          </a:xfrm>
          <a:prstGeom prst="roundRect">
            <a:avLst>
              <a:gd name="adj" fmla="val 10909"/>
            </a:avLst>
          </a:prstGeom>
          <a:solidFill>
            <a:srgbClr val="11111B"/>
          </a:solidFill>
          <a:ln w="9525">
            <a:solidFill>
              <a:srgbClr val="313244"/>
            </a:solidFill>
            <a:prstDash val="solid"/>
          </a:ln>
        </p:spPr>
      </p:sp>
      <p:sp>
        <p:nvSpPr>
          <p:cNvPr id="23" name="Text 18"/>
          <p:cNvSpPr/>
          <p:nvPr/>
        </p:nvSpPr>
        <p:spPr>
          <a:xfrm>
            <a:off x="6537960" y="3200400"/>
            <a:ext cx="4718304" cy="502920"/>
          </a:xfrm>
          <a:prstGeom prst="rect">
            <a:avLst/>
          </a:prstGeom>
          <a:noFill/>
          <a:ln/>
        </p:spPr>
        <p:txBody>
          <a:bodyPr wrap="square" lIns="0" tIns="0" rIns="0" bIns="0" rtlCol="0" anchor="ctr"/>
          <a:lstStyle/>
          <a:p>
            <a:pPr marL="0" indent="0">
              <a:lnSpc>
                <a:spcPct val="100000"/>
              </a:lnSpc>
              <a:buNone/>
            </a:pPr>
            <a:r>
              <a:rPr lang="en-US" sz="820" b="1" kern="0" spc="100" dirty="0">
                <a:solidFill>
                  <a:srgbClr val="A6E3A1"/>
                </a:solidFill>
                <a:latin typeface="Consolas" pitchFamily="34" charset="0"/>
                <a:ea typeface="Consolas" pitchFamily="34" charset="-122"/>
                <a:cs typeface="Consolas" pitchFamily="34" charset="-120"/>
              </a:rPr>
              <a:t>TOOLS  </a:t>
            </a:r>
            <a:r>
              <a:rPr lang="en-US" sz="820" dirty="0">
                <a:solidFill>
                  <a:srgbClr val="A6ADC8"/>
                </a:solidFill>
                <a:latin typeface="Consolas" pitchFamily="34" charset="0"/>
                <a:ea typeface="Consolas" pitchFamily="34" charset="-122"/>
                <a:cs typeface="Consolas" pitchFamily="34" charset="-120"/>
              </a:rPr>
              <a:t>validate_html_tags · analyze_html_structure · generate_progressive_hint · assess_hint_level</a:t>
            </a:r>
            <a:endParaRPr lang="en-US" sz="820" dirty="0"/>
          </a:p>
        </p:txBody>
      </p:sp>
      <p:sp>
        <p:nvSpPr>
          <p:cNvPr id="24" name="Shape 19"/>
          <p:cNvSpPr/>
          <p:nvPr/>
        </p:nvSpPr>
        <p:spPr>
          <a:xfrm>
            <a:off x="566928" y="3950208"/>
            <a:ext cx="5486400" cy="2212848"/>
          </a:xfrm>
          <a:prstGeom prst="roundRect">
            <a:avLst>
              <a:gd name="adj" fmla="val 3719"/>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25" name="Shape 20"/>
          <p:cNvSpPr/>
          <p:nvPr/>
        </p:nvSpPr>
        <p:spPr>
          <a:xfrm>
            <a:off x="822960" y="4206240"/>
            <a:ext cx="603504" cy="603504"/>
          </a:xfrm>
          <a:prstGeom prst="roundRect">
            <a:avLst>
              <a:gd name="adj" fmla="val 21212"/>
            </a:avLst>
          </a:prstGeom>
          <a:solidFill>
            <a:srgbClr val="232338"/>
          </a:solidFill>
          <a:ln w="12700">
            <a:solidFill>
              <a:srgbClr val="F9E2AF"/>
            </a:solidFill>
            <a:prstDash val="solid"/>
          </a:ln>
        </p:spPr>
      </p:sp>
      <p:pic>
        <p:nvPicPr>
          <p:cNvPr id="26" name="Image 3" descr="assets/ic_chart.png"/>
          <p:cNvPicPr>
            <a:picLocks noChangeAspect="1"/>
          </p:cNvPicPr>
          <p:nvPr/>
        </p:nvPicPr>
        <p:blipFill>
          <a:blip r:embed="rId6"/>
          <a:stretch>
            <a:fillRect/>
          </a:stretch>
        </p:blipFill>
        <p:spPr>
          <a:xfrm>
            <a:off x="969264" y="4352544"/>
            <a:ext cx="310896" cy="310896"/>
          </a:xfrm>
          <a:prstGeom prst="rect">
            <a:avLst/>
          </a:prstGeom>
        </p:spPr>
      </p:pic>
      <p:sp>
        <p:nvSpPr>
          <p:cNvPr id="27" name="Text 21"/>
          <p:cNvSpPr/>
          <p:nvPr/>
        </p:nvSpPr>
        <p:spPr>
          <a:xfrm>
            <a:off x="1572768" y="4187952"/>
            <a:ext cx="4297680" cy="310896"/>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3 · Evaluation Agent</a:t>
            </a:r>
            <a:endParaRPr lang="en-US" sz="1600" dirty="0"/>
          </a:p>
        </p:txBody>
      </p:sp>
      <p:sp>
        <p:nvSpPr>
          <p:cNvPr id="28" name="Text 22"/>
          <p:cNvSpPr/>
          <p:nvPr/>
        </p:nvSpPr>
        <p:spPr>
          <a:xfrm>
            <a:off x="1572768" y="4517136"/>
            <a:ext cx="4297680" cy="274320"/>
          </a:xfrm>
          <a:prstGeom prst="rect">
            <a:avLst/>
          </a:prstGeom>
          <a:noFill/>
          <a:ln/>
        </p:spPr>
        <p:txBody>
          <a:bodyPr wrap="square" lIns="0" tIns="0" rIns="0" bIns="0" rtlCol="0" anchor="ctr"/>
          <a:lstStyle/>
          <a:p>
            <a:pPr marL="0" indent="0">
              <a:buNone/>
            </a:pPr>
            <a:r>
              <a:rPr lang="en-US" sz="800" dirty="0">
                <a:solidFill>
                  <a:srgbClr val="F9E2AF"/>
                </a:solidFill>
                <a:latin typeface="Consolas" pitchFamily="34" charset="0"/>
                <a:ea typeface="Consolas" pitchFamily="34" charset="-122"/>
                <a:cs typeface="Consolas" pitchFamily="34" charset="-120"/>
              </a:rPr>
              <a:t>⬤ </a:t>
            </a:r>
            <a:r>
              <a:rPr lang="en-US" sz="950" b="1" dirty="0">
                <a:solidFill>
                  <a:srgbClr val="F9E2AF"/>
                </a:solidFill>
                <a:latin typeface="Consolas" pitchFamily="34" charset="0"/>
                <a:ea typeface="Consolas" pitchFamily="34" charset="-122"/>
                <a:cs typeface="Consolas" pitchFamily="34" charset="-120"/>
              </a:rPr>
              <a:t>gemma4:31b-cloud</a:t>
            </a:r>
            <a:r>
              <a:rPr lang="en-US" sz="950" dirty="0">
                <a:solidFill>
                  <a:srgbClr val="A6ADC8"/>
                </a:solidFill>
                <a:latin typeface="Consolas" pitchFamily="34" charset="0"/>
                <a:ea typeface="Consolas" pitchFamily="34" charset="-122"/>
                <a:cs typeface="Consolas" pitchFamily="34" charset="-120"/>
              </a:rPr>
              <a:t>   8003 · /generate-quiz · /evaluate</a:t>
            </a:r>
            <a:endParaRPr lang="en-US" sz="950" dirty="0"/>
          </a:p>
        </p:txBody>
      </p:sp>
      <p:sp>
        <p:nvSpPr>
          <p:cNvPr id="29" name="Text 23"/>
          <p:cNvSpPr/>
          <p:nvPr/>
        </p:nvSpPr>
        <p:spPr>
          <a:xfrm>
            <a:off x="841248" y="4919472"/>
            <a:ext cx="4956048" cy="566928"/>
          </a:xfrm>
          <a:prstGeom prst="rect">
            <a:avLst/>
          </a:prstGeom>
          <a:noFill/>
          <a:ln/>
        </p:spPr>
        <p:txBody>
          <a:bodyPr wrap="square" lIns="0" tIns="0" rIns="0" bIns="0" rtlCol="0" anchor="ctr"/>
          <a:lstStyle/>
          <a:p>
            <a:pPr marL="0" indent="0">
              <a:lnSpc>
                <a:spcPct val="108000"/>
              </a:lnSpc>
              <a:buNone/>
            </a:pPr>
            <a:r>
              <a:rPr lang="en-US" sz="1200" dirty="0">
                <a:solidFill>
                  <a:srgbClr val="BAC2DE"/>
                </a:solidFill>
                <a:latin typeface="Calibri" pitchFamily="34" charset="0"/>
                <a:ea typeface="Calibri" pitchFamily="34" charset="-122"/>
                <a:cs typeface="Calibri" pitchFamily="34" charset="-120"/>
              </a:rPr>
              <a:t>Post-session. Génère 3–5 QCM ancrés dans le code réel de l'étudiant, puis note et commente.</a:t>
            </a:r>
            <a:endParaRPr lang="en-US" sz="1200" dirty="0"/>
          </a:p>
        </p:txBody>
      </p:sp>
      <p:sp>
        <p:nvSpPr>
          <p:cNvPr id="30" name="Shape 24"/>
          <p:cNvSpPr/>
          <p:nvPr/>
        </p:nvSpPr>
        <p:spPr>
          <a:xfrm>
            <a:off x="841248" y="5522976"/>
            <a:ext cx="4937760" cy="502920"/>
          </a:xfrm>
          <a:prstGeom prst="roundRect">
            <a:avLst>
              <a:gd name="adj" fmla="val 10909"/>
            </a:avLst>
          </a:prstGeom>
          <a:solidFill>
            <a:srgbClr val="11111B"/>
          </a:solidFill>
          <a:ln w="9525">
            <a:solidFill>
              <a:srgbClr val="313244"/>
            </a:solidFill>
            <a:prstDash val="solid"/>
          </a:ln>
        </p:spPr>
      </p:sp>
      <p:sp>
        <p:nvSpPr>
          <p:cNvPr id="31" name="Text 25"/>
          <p:cNvSpPr/>
          <p:nvPr/>
        </p:nvSpPr>
        <p:spPr>
          <a:xfrm>
            <a:off x="969264" y="5522976"/>
            <a:ext cx="4718304" cy="502920"/>
          </a:xfrm>
          <a:prstGeom prst="rect">
            <a:avLst/>
          </a:prstGeom>
          <a:noFill/>
          <a:ln/>
        </p:spPr>
        <p:txBody>
          <a:bodyPr wrap="square" lIns="0" tIns="0" rIns="0" bIns="0" rtlCol="0" anchor="ctr"/>
          <a:lstStyle/>
          <a:p>
            <a:pPr marL="0" indent="0">
              <a:lnSpc>
                <a:spcPct val="100000"/>
              </a:lnSpc>
              <a:buNone/>
            </a:pPr>
            <a:r>
              <a:rPr lang="en-US" sz="820" b="1" kern="0" spc="100" dirty="0">
                <a:solidFill>
                  <a:srgbClr val="F9E2AF"/>
                </a:solidFill>
                <a:latin typeface="Consolas" pitchFamily="34" charset="0"/>
                <a:ea typeface="Consolas" pitchFamily="34" charset="-122"/>
                <a:cs typeface="Consolas" pitchFamily="34" charset="-120"/>
              </a:rPr>
              <a:t>TOOLS  </a:t>
            </a:r>
            <a:r>
              <a:rPr lang="en-US" sz="820" dirty="0">
                <a:solidFill>
                  <a:srgbClr val="A6ADC8"/>
                </a:solidFill>
                <a:latin typeface="Consolas" pitchFamily="34" charset="0"/>
                <a:ea typeface="Consolas" pitchFamily="34" charset="-122"/>
                <a:cs typeface="Consolas" pitchFamily="34" charset="-120"/>
              </a:rPr>
              <a:t>build_quiz_generation_prompt · validate_quiz_structure · calculate_quiz_score · generate_feedback</a:t>
            </a:r>
            <a:endParaRPr lang="en-US" sz="820" dirty="0"/>
          </a:p>
        </p:txBody>
      </p:sp>
      <p:sp>
        <p:nvSpPr>
          <p:cNvPr id="32" name="Shape 26"/>
          <p:cNvSpPr/>
          <p:nvPr/>
        </p:nvSpPr>
        <p:spPr>
          <a:xfrm>
            <a:off x="6135624" y="3950208"/>
            <a:ext cx="5486400" cy="2212848"/>
          </a:xfrm>
          <a:prstGeom prst="roundRect">
            <a:avLst>
              <a:gd name="adj" fmla="val 3719"/>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33" name="Shape 27"/>
          <p:cNvSpPr/>
          <p:nvPr/>
        </p:nvSpPr>
        <p:spPr>
          <a:xfrm>
            <a:off x="6391656" y="4206240"/>
            <a:ext cx="603504" cy="603504"/>
          </a:xfrm>
          <a:prstGeom prst="roundRect">
            <a:avLst>
              <a:gd name="adj" fmla="val 21212"/>
            </a:avLst>
          </a:prstGeom>
          <a:solidFill>
            <a:srgbClr val="232338"/>
          </a:solidFill>
          <a:ln w="12700">
            <a:solidFill>
              <a:srgbClr val="CBA6F7"/>
            </a:solidFill>
            <a:prstDash val="solid"/>
          </a:ln>
        </p:spPr>
      </p:sp>
      <p:pic>
        <p:nvPicPr>
          <p:cNvPr id="34" name="Image 4" descr="assets/ic_route.png"/>
          <p:cNvPicPr>
            <a:picLocks noChangeAspect="1"/>
          </p:cNvPicPr>
          <p:nvPr/>
        </p:nvPicPr>
        <p:blipFill>
          <a:blip r:embed="rId7"/>
          <a:stretch>
            <a:fillRect/>
          </a:stretch>
        </p:blipFill>
        <p:spPr>
          <a:xfrm>
            <a:off x="6537960" y="4352544"/>
            <a:ext cx="310896" cy="310896"/>
          </a:xfrm>
          <a:prstGeom prst="rect">
            <a:avLst/>
          </a:prstGeom>
        </p:spPr>
      </p:pic>
      <p:sp>
        <p:nvSpPr>
          <p:cNvPr id="35" name="Text 28"/>
          <p:cNvSpPr/>
          <p:nvPr/>
        </p:nvSpPr>
        <p:spPr>
          <a:xfrm>
            <a:off x="7141464" y="4187952"/>
            <a:ext cx="4297680" cy="310896"/>
          </a:xfrm>
          <a:prstGeom prst="rect">
            <a:avLst/>
          </a:prstGeom>
          <a:noFill/>
          <a:ln/>
        </p:spPr>
        <p:txBody>
          <a:bodyPr wrap="square" lIns="0" tIns="0" rIns="0" bIns="0" rtlCol="0" anchor="ctr"/>
          <a:lstStyle/>
          <a:p>
            <a:pPr marL="0" indent="0">
              <a:buNone/>
            </a:pPr>
            <a:r>
              <a:rPr lang="en-US" sz="1600" b="1" dirty="0">
                <a:solidFill>
                  <a:srgbClr val="CDD6F4"/>
                </a:solidFill>
                <a:latin typeface="Georgia" pitchFamily="34" charset="0"/>
                <a:ea typeface="Georgia" pitchFamily="34" charset="-122"/>
                <a:cs typeface="Georgia" pitchFamily="34" charset="-120"/>
              </a:rPr>
              <a:t>4 · Orchestrator</a:t>
            </a:r>
            <a:endParaRPr lang="en-US" sz="1600" dirty="0"/>
          </a:p>
        </p:txBody>
      </p:sp>
      <p:sp>
        <p:nvSpPr>
          <p:cNvPr id="36" name="Text 29"/>
          <p:cNvSpPr/>
          <p:nvPr/>
        </p:nvSpPr>
        <p:spPr>
          <a:xfrm>
            <a:off x="7141464" y="4517136"/>
            <a:ext cx="4297680" cy="274320"/>
          </a:xfrm>
          <a:prstGeom prst="rect">
            <a:avLst/>
          </a:prstGeom>
          <a:noFill/>
          <a:ln/>
        </p:spPr>
        <p:txBody>
          <a:bodyPr wrap="square" lIns="0" tIns="0" rIns="0" bIns="0" rtlCol="0" anchor="ctr"/>
          <a:lstStyle/>
          <a:p>
            <a:pPr marL="0" indent="0">
              <a:buNone/>
            </a:pPr>
            <a:r>
              <a:rPr lang="en-US" sz="800" dirty="0">
                <a:solidFill>
                  <a:srgbClr val="CBA6F7"/>
                </a:solidFill>
                <a:latin typeface="Consolas" pitchFamily="34" charset="0"/>
                <a:ea typeface="Consolas" pitchFamily="34" charset="-122"/>
                <a:cs typeface="Consolas" pitchFamily="34" charset="-120"/>
              </a:rPr>
              <a:t>⬤ </a:t>
            </a:r>
            <a:r>
              <a:rPr lang="en-US" sz="950" b="1" dirty="0">
                <a:solidFill>
                  <a:srgbClr val="CBA6F7"/>
                </a:solidFill>
                <a:latin typeface="Consolas" pitchFamily="34" charset="0"/>
                <a:ea typeface="Consolas" pitchFamily="34" charset="-122"/>
                <a:cs typeface="Consolas" pitchFamily="34" charset="-120"/>
              </a:rPr>
              <a:t>deepseek-v3.2:cloud</a:t>
            </a:r>
            <a:r>
              <a:rPr lang="en-US" sz="950" dirty="0">
                <a:solidFill>
                  <a:srgbClr val="A6ADC8"/>
                </a:solidFill>
                <a:latin typeface="Consolas" pitchFamily="34" charset="0"/>
                <a:ea typeface="Consolas" pitchFamily="34" charset="-122"/>
                <a:cs typeface="Consolas" pitchFamily="34" charset="-120"/>
              </a:rPr>
              <a:t>   8004 · POST /orchestrate</a:t>
            </a:r>
            <a:endParaRPr lang="en-US" sz="950" dirty="0"/>
          </a:p>
        </p:txBody>
      </p:sp>
      <p:sp>
        <p:nvSpPr>
          <p:cNvPr id="37" name="Text 30"/>
          <p:cNvSpPr/>
          <p:nvPr/>
        </p:nvSpPr>
        <p:spPr>
          <a:xfrm>
            <a:off x="6409944" y="4919472"/>
            <a:ext cx="4956048" cy="566928"/>
          </a:xfrm>
          <a:prstGeom prst="rect">
            <a:avLst/>
          </a:prstGeom>
          <a:noFill/>
          <a:ln/>
        </p:spPr>
        <p:txBody>
          <a:bodyPr wrap="square" lIns="0" tIns="0" rIns="0" bIns="0" rtlCol="0" anchor="ctr"/>
          <a:lstStyle/>
          <a:p>
            <a:pPr marL="0" indent="0">
              <a:lnSpc>
                <a:spcPct val="108000"/>
              </a:lnSpc>
              <a:buNone/>
            </a:pPr>
            <a:r>
              <a:rPr lang="en-US" sz="1200" dirty="0">
                <a:solidFill>
                  <a:srgbClr val="BAC2DE"/>
                </a:solidFill>
                <a:latin typeface="Calibri" pitchFamily="34" charset="0"/>
                <a:ea typeface="Calibri" pitchFamily="34" charset="-122"/>
                <a:cs typeface="Calibri" pitchFamily="34" charset="-120"/>
              </a:rPr>
              <a:t>Routage multi-agents. Décide quel(s) agent(s) invoquer en séquence via LangGraph.</a:t>
            </a:r>
            <a:endParaRPr lang="en-US" sz="1200" dirty="0"/>
          </a:p>
        </p:txBody>
      </p:sp>
      <p:sp>
        <p:nvSpPr>
          <p:cNvPr id="38" name="Shape 31"/>
          <p:cNvSpPr/>
          <p:nvPr/>
        </p:nvSpPr>
        <p:spPr>
          <a:xfrm>
            <a:off x="6409944" y="5522976"/>
            <a:ext cx="4937760" cy="502920"/>
          </a:xfrm>
          <a:prstGeom prst="roundRect">
            <a:avLst>
              <a:gd name="adj" fmla="val 10909"/>
            </a:avLst>
          </a:prstGeom>
          <a:solidFill>
            <a:srgbClr val="11111B"/>
          </a:solidFill>
          <a:ln w="9525">
            <a:solidFill>
              <a:srgbClr val="313244"/>
            </a:solidFill>
            <a:prstDash val="solid"/>
          </a:ln>
        </p:spPr>
      </p:sp>
      <p:sp>
        <p:nvSpPr>
          <p:cNvPr id="39" name="Text 32"/>
          <p:cNvSpPr/>
          <p:nvPr/>
        </p:nvSpPr>
        <p:spPr>
          <a:xfrm>
            <a:off x="6537960" y="5522976"/>
            <a:ext cx="4718304" cy="502920"/>
          </a:xfrm>
          <a:prstGeom prst="rect">
            <a:avLst/>
          </a:prstGeom>
          <a:noFill/>
          <a:ln/>
        </p:spPr>
        <p:txBody>
          <a:bodyPr wrap="square" lIns="0" tIns="0" rIns="0" bIns="0" rtlCol="0" anchor="ctr"/>
          <a:lstStyle/>
          <a:p>
            <a:pPr marL="0" indent="0">
              <a:lnSpc>
                <a:spcPct val="100000"/>
              </a:lnSpc>
              <a:buNone/>
            </a:pPr>
            <a:r>
              <a:rPr lang="en-US" sz="820" b="1" kern="0" spc="100" dirty="0">
                <a:solidFill>
                  <a:srgbClr val="CBA6F7"/>
                </a:solidFill>
                <a:latin typeface="Consolas" pitchFamily="34" charset="0"/>
                <a:ea typeface="Consolas" pitchFamily="34" charset="-122"/>
                <a:cs typeface="Consolas" pitchFamily="34" charset="-120"/>
              </a:rPr>
              <a:t>TOOLS  </a:t>
            </a:r>
            <a:r>
              <a:rPr lang="en-US" sz="820" dirty="0">
                <a:solidFill>
                  <a:srgbClr val="A6ADC8"/>
                </a:solidFill>
                <a:latin typeface="Consolas" pitchFamily="34" charset="0"/>
                <a:ea typeface="Consolas" pitchFamily="34" charset="-122"/>
                <a:cs typeface="Consolas" pitchFamily="34" charset="-120"/>
              </a:rPr>
              <a:t>call_explanation_agent · call_hint_agent · call_evaluation_agent_quiz · call_evaluation_agent_score</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studen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89B4FA"/>
                </a:solidFill>
                <a:latin typeface="Calibri" pitchFamily="34" charset="0"/>
                <a:ea typeface="Calibri" pitchFamily="34" charset="-122"/>
                <a:cs typeface="Calibri" pitchFamily="34" charset="-120"/>
              </a:rPr>
              <a:t>CONCEPTION FONCTIONNELLE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Parcours étudiant — trois phases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07</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3657600" cy="4526280"/>
          </a:xfrm>
          <a:prstGeom prst="roundRect">
            <a:avLst>
              <a:gd name="adj" fmla="val 2250"/>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9" name="Shape 6"/>
          <p:cNvSpPr/>
          <p:nvPr/>
        </p:nvSpPr>
        <p:spPr>
          <a:xfrm>
            <a:off x="749808" y="1874520"/>
            <a:ext cx="3291840" cy="1670985"/>
          </a:xfrm>
          <a:prstGeom prst="rect">
            <a:avLst/>
          </a:prstGeom>
          <a:solidFill>
            <a:srgbClr val="11111B"/>
          </a:solidFill>
          <a:ln w="12700">
            <a:solidFill>
              <a:srgbClr val="45475A"/>
            </a:solidFill>
            <a:prstDash val="solid"/>
          </a:ln>
        </p:spPr>
      </p:sp>
      <p:sp>
        <p:nvSpPr>
          <p:cNvPr id="11" name="Text 7"/>
          <p:cNvSpPr/>
          <p:nvPr/>
        </p:nvSpPr>
        <p:spPr>
          <a:xfrm>
            <a:off x="822960" y="3710097"/>
            <a:ext cx="3154680" cy="365760"/>
          </a:xfrm>
          <a:prstGeom prst="rect">
            <a:avLst/>
          </a:prstGeom>
          <a:noFill/>
          <a:ln/>
        </p:spPr>
        <p:txBody>
          <a:bodyPr wrap="square" lIns="0" tIns="0" rIns="0" bIns="0" rtlCol="0" anchor="ctr"/>
          <a:lstStyle/>
          <a:p>
            <a:pPr marL="0" indent="0">
              <a:buNone/>
            </a:pPr>
            <a:r>
              <a:rPr lang="en-US" sz="1600" b="1" dirty="0">
                <a:solidFill>
                  <a:srgbClr val="CBA6F7"/>
                </a:solidFill>
                <a:latin typeface="Georgia" pitchFamily="34" charset="0"/>
                <a:ea typeface="Georgia" pitchFamily="34" charset="-122"/>
                <a:cs typeface="Georgia" pitchFamily="34" charset="-120"/>
              </a:rPr>
              <a:t>Phase 1 — Explication</a:t>
            </a:r>
            <a:endParaRPr lang="en-US" sz="1600" dirty="0"/>
          </a:p>
        </p:txBody>
      </p:sp>
      <p:sp>
        <p:nvSpPr>
          <p:cNvPr id="12" name="Text 8"/>
          <p:cNvSpPr/>
          <p:nvPr/>
        </p:nvSpPr>
        <p:spPr>
          <a:xfrm>
            <a:off x="822960" y="4094145"/>
            <a:ext cx="3154680" cy="1371600"/>
          </a:xfrm>
          <a:prstGeom prst="rect">
            <a:avLst/>
          </a:prstGeom>
          <a:noFill/>
          <a:ln/>
        </p:spPr>
        <p:txBody>
          <a:bodyPr wrap="square" lIns="0" tIns="0" rIns="0" bIns="0" rtlCol="0" anchor="ctr"/>
          <a:lstStyle/>
          <a:p>
            <a:pPr marL="0" indent="0">
              <a:lnSpc>
                <a:spcPct val="112000"/>
              </a:lnSpc>
              <a:buNone/>
            </a:pPr>
            <a:r>
              <a:rPr lang="en-US" sz="1150" dirty="0">
                <a:solidFill>
                  <a:srgbClr val="A6ADC8"/>
                </a:solidFill>
                <a:latin typeface="Calibri" pitchFamily="34" charset="0"/>
                <a:ea typeface="Calibri" pitchFamily="34" charset="-122"/>
                <a:cs typeface="Calibri" pitchFamily="34" charset="-120"/>
              </a:rPr>
              <a:t>L'Explanation Agent (Mistral) explique l'étape par la méthode socratique. L'étudiant pose ses questions dans le chat. Copier-coller désactivé, minuteur lancé.</a:t>
            </a:r>
            <a:endParaRPr lang="en-US" sz="1150" dirty="0"/>
          </a:p>
        </p:txBody>
      </p:sp>
      <p:sp>
        <p:nvSpPr>
          <p:cNvPr id="13" name="Shape 9"/>
          <p:cNvSpPr/>
          <p:nvPr/>
        </p:nvSpPr>
        <p:spPr>
          <a:xfrm>
            <a:off x="4343400" y="1691640"/>
            <a:ext cx="3657600" cy="4526280"/>
          </a:xfrm>
          <a:prstGeom prst="roundRect">
            <a:avLst>
              <a:gd name="adj" fmla="val 2250"/>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14" name="Shape 10"/>
          <p:cNvSpPr/>
          <p:nvPr/>
        </p:nvSpPr>
        <p:spPr>
          <a:xfrm>
            <a:off x="4526280" y="1874520"/>
            <a:ext cx="3291840" cy="1670985"/>
          </a:xfrm>
          <a:prstGeom prst="rect">
            <a:avLst/>
          </a:prstGeom>
          <a:solidFill>
            <a:srgbClr val="11111B"/>
          </a:solidFill>
          <a:ln w="12700">
            <a:solidFill>
              <a:srgbClr val="45475A"/>
            </a:solidFill>
            <a:prstDash val="solid"/>
          </a:ln>
        </p:spPr>
      </p:sp>
      <p:pic>
        <p:nvPicPr>
          <p:cNvPr id="15" name="Image 2" descr="assets/student_ide.png"/>
          <p:cNvPicPr>
            <a:picLocks noChangeAspect="1"/>
          </p:cNvPicPr>
          <p:nvPr/>
        </p:nvPicPr>
        <p:blipFill>
          <a:blip r:embed="rId4"/>
          <a:stretch>
            <a:fillRect/>
          </a:stretch>
        </p:blipFill>
        <p:spPr>
          <a:xfrm>
            <a:off x="4526280" y="1874520"/>
            <a:ext cx="3291840" cy="1670985"/>
          </a:xfrm>
          <a:prstGeom prst="rect">
            <a:avLst/>
          </a:prstGeom>
        </p:spPr>
      </p:pic>
      <p:sp>
        <p:nvSpPr>
          <p:cNvPr id="16" name="Text 11"/>
          <p:cNvSpPr/>
          <p:nvPr/>
        </p:nvSpPr>
        <p:spPr>
          <a:xfrm>
            <a:off x="4599432" y="3710097"/>
            <a:ext cx="3154680" cy="365760"/>
          </a:xfrm>
          <a:prstGeom prst="rect">
            <a:avLst/>
          </a:prstGeom>
          <a:noFill/>
          <a:ln/>
        </p:spPr>
        <p:txBody>
          <a:bodyPr wrap="square" lIns="0" tIns="0" rIns="0" bIns="0" rtlCol="0" anchor="ctr"/>
          <a:lstStyle/>
          <a:p>
            <a:pPr marL="0" indent="0">
              <a:buNone/>
            </a:pPr>
            <a:r>
              <a:rPr lang="en-US" sz="1600" b="1" dirty="0">
                <a:solidFill>
                  <a:srgbClr val="A6E3A1"/>
                </a:solidFill>
                <a:latin typeface="Georgia" pitchFamily="34" charset="0"/>
                <a:ea typeface="Georgia" pitchFamily="34" charset="-122"/>
                <a:cs typeface="Georgia" pitchFamily="34" charset="-120"/>
              </a:rPr>
              <a:t>Phase 2 — Codage</a:t>
            </a:r>
            <a:endParaRPr lang="en-US" sz="1600" dirty="0"/>
          </a:p>
        </p:txBody>
      </p:sp>
      <p:sp>
        <p:nvSpPr>
          <p:cNvPr id="17" name="Text 12"/>
          <p:cNvSpPr/>
          <p:nvPr/>
        </p:nvSpPr>
        <p:spPr>
          <a:xfrm>
            <a:off x="4599432" y="4094145"/>
            <a:ext cx="3154680" cy="1371600"/>
          </a:xfrm>
          <a:prstGeom prst="rect">
            <a:avLst/>
          </a:prstGeom>
          <a:noFill/>
          <a:ln/>
        </p:spPr>
        <p:txBody>
          <a:bodyPr wrap="square" lIns="0" tIns="0" rIns="0" bIns="0" rtlCol="0" anchor="ctr"/>
          <a:lstStyle/>
          <a:p>
            <a:pPr marL="0" indent="0">
              <a:lnSpc>
                <a:spcPct val="112000"/>
              </a:lnSpc>
              <a:buNone/>
            </a:pPr>
            <a:r>
              <a:rPr lang="en-US" sz="1150" dirty="0">
                <a:solidFill>
                  <a:srgbClr val="A6ADC8"/>
                </a:solidFill>
                <a:latin typeface="Calibri" pitchFamily="34" charset="0"/>
                <a:ea typeface="Calibri" pitchFamily="34" charset="-122"/>
                <a:cs typeface="Calibri" pitchFamily="34" charset="-120"/>
              </a:rPr>
              <a:t>IDE avec preview live en iframe sandboxée. Le Hint Agent (deepseek-coder) fournit des indices progressifs. Les balises HTML requises sont validées en temps réel.</a:t>
            </a:r>
            <a:endParaRPr lang="en-US" sz="1150" dirty="0"/>
          </a:p>
        </p:txBody>
      </p:sp>
      <p:sp>
        <p:nvSpPr>
          <p:cNvPr id="18" name="Shape 13"/>
          <p:cNvSpPr/>
          <p:nvPr/>
        </p:nvSpPr>
        <p:spPr>
          <a:xfrm>
            <a:off x="8119872" y="1691640"/>
            <a:ext cx="3657600" cy="4526280"/>
          </a:xfrm>
          <a:prstGeom prst="roundRect">
            <a:avLst>
              <a:gd name="adj" fmla="val 2250"/>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19" name="Shape 14"/>
          <p:cNvSpPr/>
          <p:nvPr/>
        </p:nvSpPr>
        <p:spPr>
          <a:xfrm>
            <a:off x="8302752" y="1874520"/>
            <a:ext cx="3291840" cy="1670985"/>
          </a:xfrm>
          <a:prstGeom prst="rect">
            <a:avLst/>
          </a:prstGeom>
          <a:solidFill>
            <a:srgbClr val="11111B"/>
          </a:solidFill>
          <a:ln w="12700">
            <a:solidFill>
              <a:srgbClr val="45475A"/>
            </a:solidFill>
            <a:prstDash val="solid"/>
          </a:ln>
        </p:spPr>
      </p:sp>
      <p:pic>
        <p:nvPicPr>
          <p:cNvPr id="20" name="Image 3" descr="assets/evaluation.png"/>
          <p:cNvPicPr>
            <a:picLocks noChangeAspect="1"/>
          </p:cNvPicPr>
          <p:nvPr/>
        </p:nvPicPr>
        <p:blipFill>
          <a:blip r:embed="rId5"/>
          <a:stretch>
            <a:fillRect/>
          </a:stretch>
        </p:blipFill>
        <p:spPr>
          <a:xfrm>
            <a:off x="8302752" y="1874520"/>
            <a:ext cx="3291840" cy="1670985"/>
          </a:xfrm>
          <a:prstGeom prst="rect">
            <a:avLst/>
          </a:prstGeom>
        </p:spPr>
      </p:pic>
      <p:sp>
        <p:nvSpPr>
          <p:cNvPr id="21" name="Text 15"/>
          <p:cNvSpPr/>
          <p:nvPr/>
        </p:nvSpPr>
        <p:spPr>
          <a:xfrm>
            <a:off x="8375904" y="3710097"/>
            <a:ext cx="3154680" cy="365760"/>
          </a:xfrm>
          <a:prstGeom prst="rect">
            <a:avLst/>
          </a:prstGeom>
          <a:noFill/>
          <a:ln/>
        </p:spPr>
        <p:txBody>
          <a:bodyPr wrap="square" lIns="0" tIns="0" rIns="0" bIns="0" rtlCol="0" anchor="ctr"/>
          <a:lstStyle/>
          <a:p>
            <a:pPr marL="0" indent="0">
              <a:buNone/>
            </a:pPr>
            <a:r>
              <a:rPr lang="en-US" sz="1600" b="1" dirty="0">
                <a:solidFill>
                  <a:srgbClr val="F9E2AF"/>
                </a:solidFill>
                <a:latin typeface="Georgia" pitchFamily="34" charset="0"/>
                <a:ea typeface="Georgia" pitchFamily="34" charset="-122"/>
                <a:cs typeface="Georgia" pitchFamily="34" charset="-120"/>
              </a:rPr>
              <a:t>Phase 3 — Évaluation</a:t>
            </a:r>
            <a:endParaRPr lang="en-US" sz="1600" dirty="0"/>
          </a:p>
        </p:txBody>
      </p:sp>
      <p:sp>
        <p:nvSpPr>
          <p:cNvPr id="22" name="Text 16"/>
          <p:cNvSpPr/>
          <p:nvPr/>
        </p:nvSpPr>
        <p:spPr>
          <a:xfrm>
            <a:off x="8375904" y="4094145"/>
            <a:ext cx="3154680" cy="1371600"/>
          </a:xfrm>
          <a:prstGeom prst="rect">
            <a:avLst/>
          </a:prstGeom>
          <a:noFill/>
          <a:ln/>
        </p:spPr>
        <p:txBody>
          <a:bodyPr wrap="square" lIns="0" tIns="0" rIns="0" bIns="0" rtlCol="0" anchor="ctr"/>
          <a:lstStyle/>
          <a:p>
            <a:pPr marL="0" indent="0">
              <a:lnSpc>
                <a:spcPct val="112000"/>
              </a:lnSpc>
              <a:buNone/>
            </a:pPr>
            <a:r>
              <a:rPr lang="en-US" sz="1150" dirty="0">
                <a:solidFill>
                  <a:srgbClr val="A6ADC8"/>
                </a:solidFill>
                <a:latin typeface="Calibri" pitchFamily="34" charset="0"/>
                <a:ea typeface="Calibri" pitchFamily="34" charset="-122"/>
                <a:cs typeface="Calibri" pitchFamily="34" charset="-120"/>
              </a:rPr>
              <a:t>L'Evaluation Agent (gemma4:31b) génère 3–5 QCM à partir du code réel. L'IA note et donne un feedback personnalisé. Le score est transmis à l'enseignant.</a:t>
            </a:r>
            <a:endParaRPr lang="en-US" sz="1150" dirty="0"/>
          </a:p>
        </p:txBody>
      </p:sp>
      <p:pic>
        <p:nvPicPr>
          <p:cNvPr id="24" name="Picture 23">
            <a:extLst>
              <a:ext uri="{FF2B5EF4-FFF2-40B4-BE49-F238E27FC236}">
                <a16:creationId xmlns:a16="http://schemas.microsoft.com/office/drawing/2014/main" id="{36A8AF99-AFD4-D910-2CBB-D1D785D4CE1C}"/>
              </a:ext>
            </a:extLst>
          </p:cNvPr>
          <p:cNvPicPr>
            <a:picLocks noChangeAspect="1"/>
          </p:cNvPicPr>
          <p:nvPr/>
        </p:nvPicPr>
        <p:blipFill>
          <a:blip r:embed="rId6"/>
          <a:stretch>
            <a:fillRect/>
          </a:stretch>
        </p:blipFill>
        <p:spPr>
          <a:xfrm>
            <a:off x="749807" y="1883663"/>
            <a:ext cx="3291839" cy="167097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teacher.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A6E3A1"/>
                </a:solidFill>
                <a:latin typeface="Calibri" pitchFamily="34" charset="0"/>
                <a:ea typeface="Calibri" pitchFamily="34" charset="-122"/>
                <a:cs typeface="Calibri" pitchFamily="34" charset="-120"/>
              </a:rPr>
              <a:t>CONCEPTION FONCTIONNELLE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Parcours enseignant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08</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737360"/>
            <a:ext cx="5577840" cy="1024128"/>
          </a:xfrm>
          <a:prstGeom prst="roundRect">
            <a:avLst>
              <a:gd name="adj" fmla="val 8036"/>
            </a:avLst>
          </a:prstGeom>
          <a:solidFill>
            <a:srgbClr val="232338"/>
          </a:solidFill>
          <a:ln w="12700">
            <a:solidFill>
              <a:srgbClr val="CBA6F7"/>
            </a:solidFill>
            <a:prstDash val="solid"/>
          </a:ln>
          <a:effectLst>
            <a:outerShdw blurRad="114300" dist="38100" dir="5400000" algn="bl" rotWithShape="0">
              <a:srgbClr val="000000">
                <a:alpha val="35000"/>
              </a:srgbClr>
            </a:outerShdw>
          </a:effectLst>
        </p:spPr>
      </p:sp>
      <p:sp>
        <p:nvSpPr>
          <p:cNvPr id="9" name="Shape 6"/>
          <p:cNvSpPr/>
          <p:nvPr/>
        </p:nvSpPr>
        <p:spPr>
          <a:xfrm>
            <a:off x="777240" y="1984248"/>
            <a:ext cx="530352" cy="530352"/>
          </a:xfrm>
          <a:prstGeom prst="roundRect">
            <a:avLst>
              <a:gd name="adj" fmla="val 20690"/>
            </a:avLst>
          </a:prstGeom>
          <a:solidFill>
            <a:srgbClr val="11111B"/>
          </a:solidFill>
          <a:ln w="12700">
            <a:solidFill>
              <a:srgbClr val="CBA6F7"/>
            </a:solidFill>
            <a:prstDash val="solid"/>
          </a:ln>
        </p:spPr>
      </p:sp>
      <p:pic>
        <p:nvPicPr>
          <p:cNvPr id="10" name="Image 1" descr="assets/ic_school.png"/>
          <p:cNvPicPr>
            <a:picLocks noChangeAspect="1"/>
          </p:cNvPicPr>
          <p:nvPr/>
        </p:nvPicPr>
        <p:blipFill>
          <a:blip r:embed="rId4"/>
          <a:stretch>
            <a:fillRect/>
          </a:stretch>
        </p:blipFill>
        <p:spPr>
          <a:xfrm>
            <a:off x="905256" y="2112264"/>
            <a:ext cx="274320" cy="274320"/>
          </a:xfrm>
          <a:prstGeom prst="rect">
            <a:avLst/>
          </a:prstGeom>
        </p:spPr>
      </p:pic>
      <p:sp>
        <p:nvSpPr>
          <p:cNvPr id="11" name="Text 7"/>
          <p:cNvSpPr/>
          <p:nvPr/>
        </p:nvSpPr>
        <p:spPr>
          <a:xfrm>
            <a:off x="1481328" y="1883664"/>
            <a:ext cx="4480560" cy="310896"/>
          </a:xfrm>
          <a:prstGeom prst="rect">
            <a:avLst/>
          </a:prstGeom>
          <a:noFill/>
          <a:ln/>
        </p:spPr>
        <p:txBody>
          <a:bodyPr wrap="square" lIns="0" tIns="0" rIns="0" bIns="0" rtlCol="0" anchor="ctr"/>
          <a:lstStyle/>
          <a:p>
            <a:pPr marL="0" indent="0">
              <a:buNone/>
            </a:pPr>
            <a:r>
              <a:rPr lang="en-US" sz="1500" b="1" dirty="0">
                <a:solidFill>
                  <a:srgbClr val="CBA6F7"/>
                </a:solidFill>
                <a:latin typeface="Georgia" pitchFamily="34" charset="0"/>
                <a:ea typeface="Georgia" pitchFamily="34" charset="-122"/>
                <a:cs typeface="Georgia" pitchFamily="34" charset="-120"/>
              </a:rPr>
              <a:t>1 · Créer</a:t>
            </a:r>
            <a:endParaRPr lang="en-US" sz="1500" dirty="0"/>
          </a:p>
        </p:txBody>
      </p:sp>
      <p:sp>
        <p:nvSpPr>
          <p:cNvPr id="12" name="Text 8"/>
          <p:cNvSpPr/>
          <p:nvPr/>
        </p:nvSpPr>
        <p:spPr>
          <a:xfrm>
            <a:off x="1481328" y="2194560"/>
            <a:ext cx="4526280" cy="502920"/>
          </a:xfrm>
          <a:prstGeom prst="rect">
            <a:avLst/>
          </a:prstGeom>
          <a:noFill/>
          <a:ln/>
        </p:spPr>
        <p:txBody>
          <a:bodyPr wrap="square" lIns="0" tIns="0" rIns="0" bIns="0" rtlCol="0" anchor="ctr"/>
          <a:lstStyle/>
          <a:p>
            <a:pPr marL="0" indent="0">
              <a:lnSpc>
                <a:spcPct val="105000"/>
              </a:lnSpc>
              <a:buNone/>
            </a:pPr>
            <a:r>
              <a:rPr lang="en-US" sz="1100" dirty="0">
                <a:solidFill>
                  <a:srgbClr val="A6ADC8"/>
                </a:solidFill>
                <a:latin typeface="Calibri" pitchFamily="34" charset="0"/>
                <a:ea typeface="Calibri" pitchFamily="34" charset="-122"/>
                <a:cs typeface="Calibri" pitchFamily="34" charset="-120"/>
              </a:rPr>
              <a:t>Manuellement ou via l'Agent IA : titre, énoncé, difficulté, code de départ, étapes, balises requises, questions de quiz.</a:t>
            </a:r>
            <a:endParaRPr lang="en-US" sz="1100" dirty="0"/>
          </a:p>
        </p:txBody>
      </p:sp>
      <p:sp>
        <p:nvSpPr>
          <p:cNvPr id="13" name="Shape 9"/>
          <p:cNvSpPr/>
          <p:nvPr/>
        </p:nvSpPr>
        <p:spPr>
          <a:xfrm>
            <a:off x="566928" y="2852928"/>
            <a:ext cx="5577840" cy="1024128"/>
          </a:xfrm>
          <a:prstGeom prst="roundRect">
            <a:avLst>
              <a:gd name="adj" fmla="val 8036"/>
            </a:avLst>
          </a:prstGeom>
          <a:solidFill>
            <a:srgbClr val="232338"/>
          </a:solidFill>
          <a:ln w="12700">
            <a:solidFill>
              <a:srgbClr val="89B4FA"/>
            </a:solidFill>
            <a:prstDash val="solid"/>
          </a:ln>
          <a:effectLst>
            <a:outerShdw blurRad="114300" dist="38100" dir="5400000" algn="bl" rotWithShape="0">
              <a:srgbClr val="000000">
                <a:alpha val="35000"/>
              </a:srgbClr>
            </a:outerShdw>
          </a:effectLst>
        </p:spPr>
      </p:sp>
      <p:sp>
        <p:nvSpPr>
          <p:cNvPr id="14" name="Shape 10"/>
          <p:cNvSpPr/>
          <p:nvPr/>
        </p:nvSpPr>
        <p:spPr>
          <a:xfrm>
            <a:off x="777240" y="3099816"/>
            <a:ext cx="530352" cy="530352"/>
          </a:xfrm>
          <a:prstGeom prst="roundRect">
            <a:avLst>
              <a:gd name="adj" fmla="val 20690"/>
            </a:avLst>
          </a:prstGeom>
          <a:solidFill>
            <a:srgbClr val="11111B"/>
          </a:solidFill>
          <a:ln w="12700">
            <a:solidFill>
              <a:srgbClr val="89B4FA"/>
            </a:solidFill>
            <a:prstDash val="solid"/>
          </a:ln>
        </p:spPr>
      </p:sp>
      <p:pic>
        <p:nvPicPr>
          <p:cNvPr id="15" name="Image 2" descr="assets/ic_users.png"/>
          <p:cNvPicPr>
            <a:picLocks noChangeAspect="1"/>
          </p:cNvPicPr>
          <p:nvPr/>
        </p:nvPicPr>
        <p:blipFill>
          <a:blip r:embed="rId5"/>
          <a:stretch>
            <a:fillRect/>
          </a:stretch>
        </p:blipFill>
        <p:spPr>
          <a:xfrm>
            <a:off x="905256" y="3227832"/>
            <a:ext cx="274320" cy="274320"/>
          </a:xfrm>
          <a:prstGeom prst="rect">
            <a:avLst/>
          </a:prstGeom>
        </p:spPr>
      </p:pic>
      <p:sp>
        <p:nvSpPr>
          <p:cNvPr id="16" name="Text 11"/>
          <p:cNvSpPr/>
          <p:nvPr/>
        </p:nvSpPr>
        <p:spPr>
          <a:xfrm>
            <a:off x="1481328" y="2999232"/>
            <a:ext cx="4480560" cy="310896"/>
          </a:xfrm>
          <a:prstGeom prst="rect">
            <a:avLst/>
          </a:prstGeom>
          <a:noFill/>
          <a:ln/>
        </p:spPr>
        <p:txBody>
          <a:bodyPr wrap="square" lIns="0" tIns="0" rIns="0" bIns="0" rtlCol="0" anchor="ctr"/>
          <a:lstStyle/>
          <a:p>
            <a:pPr marL="0" indent="0">
              <a:buNone/>
            </a:pPr>
            <a:r>
              <a:rPr lang="en-US" sz="1500" b="1" dirty="0">
                <a:solidFill>
                  <a:srgbClr val="89B4FA"/>
                </a:solidFill>
                <a:latin typeface="Georgia" pitchFamily="34" charset="0"/>
                <a:ea typeface="Georgia" pitchFamily="34" charset="-122"/>
                <a:cs typeface="Georgia" pitchFamily="34" charset="-120"/>
              </a:rPr>
              <a:t>2 · Assigner</a:t>
            </a:r>
            <a:endParaRPr lang="en-US" sz="1500" dirty="0"/>
          </a:p>
        </p:txBody>
      </p:sp>
      <p:sp>
        <p:nvSpPr>
          <p:cNvPr id="17" name="Text 12"/>
          <p:cNvSpPr/>
          <p:nvPr/>
        </p:nvSpPr>
        <p:spPr>
          <a:xfrm>
            <a:off x="1481328" y="3310128"/>
            <a:ext cx="4526280" cy="502920"/>
          </a:xfrm>
          <a:prstGeom prst="rect">
            <a:avLst/>
          </a:prstGeom>
          <a:noFill/>
          <a:ln/>
        </p:spPr>
        <p:txBody>
          <a:bodyPr wrap="square" lIns="0" tIns="0" rIns="0" bIns="0" rtlCol="0" anchor="ctr"/>
          <a:lstStyle/>
          <a:p>
            <a:pPr marL="0" indent="0">
              <a:lnSpc>
                <a:spcPct val="105000"/>
              </a:lnSpc>
              <a:buNone/>
            </a:pPr>
            <a:r>
              <a:rPr lang="en-US" sz="1100" dirty="0">
                <a:solidFill>
                  <a:srgbClr val="A6ADC8"/>
                </a:solidFill>
                <a:latin typeface="Calibri" pitchFamily="34" charset="0"/>
                <a:ea typeface="Calibri" pitchFamily="34" charset="-122"/>
                <a:cs typeface="Calibri" pitchFamily="34" charset="-120"/>
              </a:rPr>
              <a:t>Sélection des étudiants et date d'échéance pour chaque TP.</a:t>
            </a:r>
            <a:endParaRPr lang="en-US" sz="1100" dirty="0"/>
          </a:p>
        </p:txBody>
      </p:sp>
      <p:sp>
        <p:nvSpPr>
          <p:cNvPr id="18" name="Shape 13"/>
          <p:cNvSpPr/>
          <p:nvPr/>
        </p:nvSpPr>
        <p:spPr>
          <a:xfrm>
            <a:off x="566928" y="3968496"/>
            <a:ext cx="5577840" cy="1024128"/>
          </a:xfrm>
          <a:prstGeom prst="roundRect">
            <a:avLst>
              <a:gd name="adj" fmla="val 8036"/>
            </a:avLst>
          </a:prstGeom>
          <a:solidFill>
            <a:srgbClr val="232338"/>
          </a:solidFill>
          <a:ln w="12700">
            <a:solidFill>
              <a:srgbClr val="A6E3A1"/>
            </a:solidFill>
            <a:prstDash val="solid"/>
          </a:ln>
          <a:effectLst>
            <a:outerShdw blurRad="114300" dist="38100" dir="5400000" algn="bl" rotWithShape="0">
              <a:srgbClr val="000000">
                <a:alpha val="35000"/>
              </a:srgbClr>
            </a:outerShdw>
          </a:effectLst>
        </p:spPr>
      </p:sp>
      <p:sp>
        <p:nvSpPr>
          <p:cNvPr id="19" name="Shape 14"/>
          <p:cNvSpPr/>
          <p:nvPr/>
        </p:nvSpPr>
        <p:spPr>
          <a:xfrm>
            <a:off x="777240" y="4215384"/>
            <a:ext cx="530352" cy="530352"/>
          </a:xfrm>
          <a:prstGeom prst="roundRect">
            <a:avLst>
              <a:gd name="adj" fmla="val 20690"/>
            </a:avLst>
          </a:prstGeom>
          <a:solidFill>
            <a:srgbClr val="11111B"/>
          </a:solidFill>
          <a:ln w="12700">
            <a:solidFill>
              <a:srgbClr val="A6E3A1"/>
            </a:solidFill>
            <a:prstDash val="solid"/>
          </a:ln>
        </p:spPr>
      </p:sp>
      <p:pic>
        <p:nvPicPr>
          <p:cNvPr id="20" name="Image 3" descr="assets/ic_chart.png"/>
          <p:cNvPicPr>
            <a:picLocks noChangeAspect="1"/>
          </p:cNvPicPr>
          <p:nvPr/>
        </p:nvPicPr>
        <p:blipFill>
          <a:blip r:embed="rId6"/>
          <a:stretch>
            <a:fillRect/>
          </a:stretch>
        </p:blipFill>
        <p:spPr>
          <a:xfrm>
            <a:off x="905256" y="4343400"/>
            <a:ext cx="274320" cy="274320"/>
          </a:xfrm>
          <a:prstGeom prst="rect">
            <a:avLst/>
          </a:prstGeom>
        </p:spPr>
      </p:pic>
      <p:sp>
        <p:nvSpPr>
          <p:cNvPr id="21" name="Text 15"/>
          <p:cNvSpPr/>
          <p:nvPr/>
        </p:nvSpPr>
        <p:spPr>
          <a:xfrm>
            <a:off x="1481328" y="4114800"/>
            <a:ext cx="4480560" cy="310896"/>
          </a:xfrm>
          <a:prstGeom prst="rect">
            <a:avLst/>
          </a:prstGeom>
          <a:noFill/>
          <a:ln/>
        </p:spPr>
        <p:txBody>
          <a:bodyPr wrap="square" lIns="0" tIns="0" rIns="0" bIns="0" rtlCol="0" anchor="ctr"/>
          <a:lstStyle/>
          <a:p>
            <a:pPr marL="0" indent="0">
              <a:buNone/>
            </a:pPr>
            <a:r>
              <a:rPr lang="en-US" sz="1500" b="1" dirty="0">
                <a:solidFill>
                  <a:srgbClr val="A6E3A1"/>
                </a:solidFill>
                <a:latin typeface="Georgia" pitchFamily="34" charset="0"/>
                <a:ea typeface="Georgia" pitchFamily="34" charset="-122"/>
                <a:cs typeface="Georgia" pitchFamily="34" charset="-120"/>
              </a:rPr>
              <a:t>3 · Suivre</a:t>
            </a:r>
            <a:endParaRPr lang="en-US" sz="1500" dirty="0"/>
          </a:p>
        </p:txBody>
      </p:sp>
      <p:sp>
        <p:nvSpPr>
          <p:cNvPr id="22" name="Text 16"/>
          <p:cNvSpPr/>
          <p:nvPr/>
        </p:nvSpPr>
        <p:spPr>
          <a:xfrm>
            <a:off x="1481328" y="4425696"/>
            <a:ext cx="4526280" cy="502920"/>
          </a:xfrm>
          <a:prstGeom prst="rect">
            <a:avLst/>
          </a:prstGeom>
          <a:noFill/>
          <a:ln/>
        </p:spPr>
        <p:txBody>
          <a:bodyPr wrap="square" lIns="0" tIns="0" rIns="0" bIns="0" rtlCol="0" anchor="ctr"/>
          <a:lstStyle/>
          <a:p>
            <a:pPr marL="0" indent="0">
              <a:lnSpc>
                <a:spcPct val="105000"/>
              </a:lnSpc>
              <a:buNone/>
            </a:pPr>
            <a:r>
              <a:rPr lang="en-US" sz="1100" dirty="0">
                <a:solidFill>
                  <a:srgbClr val="A6ADC8"/>
                </a:solidFill>
                <a:latin typeface="Calibri" pitchFamily="34" charset="0"/>
                <a:ea typeface="Calibri" pitchFamily="34" charset="-122"/>
                <a:cs typeface="Calibri" pitchFamily="34" charset="-120"/>
              </a:rPr>
              <a:t>Tableau de bord de progression : étapes complétées, temps passé, indices utilisés.</a:t>
            </a:r>
            <a:endParaRPr lang="en-US" sz="1100" dirty="0"/>
          </a:p>
        </p:txBody>
      </p:sp>
      <p:sp>
        <p:nvSpPr>
          <p:cNvPr id="23" name="Shape 17"/>
          <p:cNvSpPr/>
          <p:nvPr/>
        </p:nvSpPr>
        <p:spPr>
          <a:xfrm>
            <a:off x="566928" y="5084064"/>
            <a:ext cx="5577840" cy="1024128"/>
          </a:xfrm>
          <a:prstGeom prst="roundRect">
            <a:avLst>
              <a:gd name="adj" fmla="val 8036"/>
            </a:avLst>
          </a:prstGeom>
          <a:solidFill>
            <a:srgbClr val="232338"/>
          </a:solidFill>
          <a:ln w="12700">
            <a:solidFill>
              <a:srgbClr val="F9E2AF"/>
            </a:solidFill>
            <a:prstDash val="solid"/>
          </a:ln>
          <a:effectLst>
            <a:outerShdw blurRad="114300" dist="38100" dir="5400000" algn="bl" rotWithShape="0">
              <a:srgbClr val="000000">
                <a:alpha val="35000"/>
              </a:srgbClr>
            </a:outerShdw>
          </a:effectLst>
        </p:spPr>
      </p:sp>
      <p:sp>
        <p:nvSpPr>
          <p:cNvPr id="24" name="Shape 18"/>
          <p:cNvSpPr/>
          <p:nvPr/>
        </p:nvSpPr>
        <p:spPr>
          <a:xfrm>
            <a:off x="777240" y="5330952"/>
            <a:ext cx="530352" cy="530352"/>
          </a:xfrm>
          <a:prstGeom prst="roundRect">
            <a:avLst>
              <a:gd name="adj" fmla="val 20690"/>
            </a:avLst>
          </a:prstGeom>
          <a:solidFill>
            <a:srgbClr val="11111B"/>
          </a:solidFill>
          <a:ln w="12700">
            <a:solidFill>
              <a:srgbClr val="F9E2AF"/>
            </a:solidFill>
            <a:prstDash val="solid"/>
          </a:ln>
        </p:spPr>
      </p:sp>
      <p:pic>
        <p:nvPicPr>
          <p:cNvPr id="25" name="Image 4" descr="assets/ic_check.png"/>
          <p:cNvPicPr>
            <a:picLocks noChangeAspect="1"/>
          </p:cNvPicPr>
          <p:nvPr/>
        </p:nvPicPr>
        <p:blipFill>
          <a:blip r:embed="rId7"/>
          <a:stretch>
            <a:fillRect/>
          </a:stretch>
        </p:blipFill>
        <p:spPr>
          <a:xfrm>
            <a:off x="905256" y="5458968"/>
            <a:ext cx="274320" cy="274320"/>
          </a:xfrm>
          <a:prstGeom prst="rect">
            <a:avLst/>
          </a:prstGeom>
        </p:spPr>
      </p:pic>
      <p:sp>
        <p:nvSpPr>
          <p:cNvPr id="26" name="Text 19"/>
          <p:cNvSpPr/>
          <p:nvPr/>
        </p:nvSpPr>
        <p:spPr>
          <a:xfrm>
            <a:off x="1481328" y="5230368"/>
            <a:ext cx="4480560" cy="310896"/>
          </a:xfrm>
          <a:prstGeom prst="rect">
            <a:avLst/>
          </a:prstGeom>
          <a:noFill/>
          <a:ln/>
        </p:spPr>
        <p:txBody>
          <a:bodyPr wrap="square" lIns="0" tIns="0" rIns="0" bIns="0" rtlCol="0" anchor="ctr"/>
          <a:lstStyle/>
          <a:p>
            <a:pPr marL="0" indent="0">
              <a:buNone/>
            </a:pPr>
            <a:r>
              <a:rPr lang="en-US" sz="1500" b="1" dirty="0">
                <a:solidFill>
                  <a:srgbClr val="F9E2AF"/>
                </a:solidFill>
                <a:latin typeface="Georgia" pitchFamily="34" charset="0"/>
                <a:ea typeface="Georgia" pitchFamily="34" charset="-122"/>
                <a:cs typeface="Georgia" pitchFamily="34" charset="-120"/>
              </a:rPr>
              <a:t>4 · Évaluer</a:t>
            </a:r>
            <a:endParaRPr lang="en-US" sz="1500" dirty="0"/>
          </a:p>
        </p:txBody>
      </p:sp>
      <p:sp>
        <p:nvSpPr>
          <p:cNvPr id="27" name="Text 20"/>
          <p:cNvSpPr/>
          <p:nvPr/>
        </p:nvSpPr>
        <p:spPr>
          <a:xfrm>
            <a:off x="1481328" y="5541264"/>
            <a:ext cx="4526280" cy="502920"/>
          </a:xfrm>
          <a:prstGeom prst="rect">
            <a:avLst/>
          </a:prstGeom>
          <a:noFill/>
          <a:ln/>
        </p:spPr>
        <p:txBody>
          <a:bodyPr wrap="square" lIns="0" tIns="0" rIns="0" bIns="0" rtlCol="0" anchor="ctr"/>
          <a:lstStyle/>
          <a:p>
            <a:pPr marL="0" indent="0">
              <a:lnSpc>
                <a:spcPct val="105000"/>
              </a:lnSpc>
              <a:buNone/>
            </a:pPr>
            <a:r>
              <a:rPr lang="en-US" sz="1100" dirty="0">
                <a:solidFill>
                  <a:srgbClr val="A6ADC8"/>
                </a:solidFill>
                <a:latin typeface="Calibri" pitchFamily="34" charset="0"/>
                <a:ea typeface="Calibri" pitchFamily="34" charset="-122"/>
                <a:cs typeface="Calibri" pitchFamily="34" charset="-120"/>
              </a:rPr>
              <a:t>Score de quiz par étudiant et feedback généré par l'IA.</a:t>
            </a:r>
            <a:endParaRPr lang="en-US" sz="1100" dirty="0"/>
          </a:p>
        </p:txBody>
      </p:sp>
      <p:sp>
        <p:nvSpPr>
          <p:cNvPr id="30" name="Text 22"/>
          <p:cNvSpPr/>
          <p:nvPr/>
        </p:nvSpPr>
        <p:spPr>
          <a:xfrm>
            <a:off x="6492240" y="4672993"/>
            <a:ext cx="534924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Dashboard enseignant — création &amp; suivi des TP</a:t>
            </a:r>
            <a:endParaRPr lang="en-US" sz="950" dirty="0"/>
          </a:p>
        </p:txBody>
      </p:sp>
      <p:sp>
        <p:nvSpPr>
          <p:cNvPr id="34" name="Shape 21">
            <a:extLst>
              <a:ext uri="{FF2B5EF4-FFF2-40B4-BE49-F238E27FC236}">
                <a16:creationId xmlns:a16="http://schemas.microsoft.com/office/drawing/2014/main" id="{38241E53-2184-46C2-3516-B89247DA83BC}"/>
              </a:ext>
            </a:extLst>
          </p:cNvPr>
          <p:cNvSpPr/>
          <p:nvPr/>
        </p:nvSpPr>
        <p:spPr>
          <a:xfrm>
            <a:off x="6428232" y="105516"/>
            <a:ext cx="5623560" cy="2935633"/>
          </a:xfrm>
          <a:prstGeom prst="roundRect">
            <a:avLst>
              <a:gd name="adj" fmla="val 2803"/>
            </a:avLst>
          </a:prstGeom>
          <a:solidFill>
            <a:srgbClr val="11111B"/>
          </a:solidFill>
          <a:ln w="12700">
            <a:solidFill>
              <a:srgbClr val="45475A"/>
            </a:solidFill>
            <a:prstDash val="solid"/>
          </a:ln>
          <a:effectLst>
            <a:outerShdw blurRad="114300" dist="38100" dir="5400000" algn="bl" rotWithShape="0">
              <a:srgbClr val="000000">
                <a:alpha val="35000"/>
              </a:srgbClr>
            </a:outerShdw>
          </a:effectLst>
        </p:spPr>
      </p:sp>
      <p:pic>
        <p:nvPicPr>
          <p:cNvPr id="35" name="Image 5" descr="assets/teacher_dashboard.png">
            <a:extLst>
              <a:ext uri="{FF2B5EF4-FFF2-40B4-BE49-F238E27FC236}">
                <a16:creationId xmlns:a16="http://schemas.microsoft.com/office/drawing/2014/main" id="{A33A768C-5C47-58BE-D8D7-E392FBC22209}"/>
              </a:ext>
            </a:extLst>
          </p:cNvPr>
          <p:cNvPicPr>
            <a:picLocks noChangeAspect="1"/>
          </p:cNvPicPr>
          <p:nvPr/>
        </p:nvPicPr>
        <p:blipFill>
          <a:blip r:embed="rId8"/>
          <a:stretch>
            <a:fillRect/>
          </a:stretch>
        </p:blipFill>
        <p:spPr>
          <a:xfrm>
            <a:off x="6565392" y="191615"/>
            <a:ext cx="5349240" cy="2661313"/>
          </a:xfrm>
          <a:prstGeom prst="rect">
            <a:avLst/>
          </a:prstGeom>
        </p:spPr>
      </p:pic>
      <p:sp>
        <p:nvSpPr>
          <p:cNvPr id="36" name="Text 22">
            <a:extLst>
              <a:ext uri="{FF2B5EF4-FFF2-40B4-BE49-F238E27FC236}">
                <a16:creationId xmlns:a16="http://schemas.microsoft.com/office/drawing/2014/main" id="{DD0A1411-AAC4-A3BB-8314-3A2EEC686013}"/>
              </a:ext>
            </a:extLst>
          </p:cNvPr>
          <p:cNvSpPr/>
          <p:nvPr/>
        </p:nvSpPr>
        <p:spPr>
          <a:xfrm>
            <a:off x="6565392" y="3041149"/>
            <a:ext cx="534924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Dashboard enseignant — création &amp; suivi des TP</a:t>
            </a:r>
            <a:endParaRPr lang="en-US" sz="950" dirty="0"/>
          </a:p>
        </p:txBody>
      </p:sp>
      <p:sp>
        <p:nvSpPr>
          <p:cNvPr id="37" name="Shape 23">
            <a:extLst>
              <a:ext uri="{FF2B5EF4-FFF2-40B4-BE49-F238E27FC236}">
                <a16:creationId xmlns:a16="http://schemas.microsoft.com/office/drawing/2014/main" id="{267EBA0D-76AC-E363-9228-C89711DCAFE7}"/>
              </a:ext>
            </a:extLst>
          </p:cNvPr>
          <p:cNvSpPr/>
          <p:nvPr/>
        </p:nvSpPr>
        <p:spPr>
          <a:xfrm>
            <a:off x="6428232" y="3406909"/>
            <a:ext cx="5623560" cy="2995195"/>
          </a:xfrm>
          <a:prstGeom prst="roundRect">
            <a:avLst>
              <a:gd name="adj" fmla="val 2748"/>
            </a:avLst>
          </a:prstGeom>
          <a:solidFill>
            <a:srgbClr val="11111B"/>
          </a:solidFill>
          <a:ln w="12700">
            <a:solidFill>
              <a:srgbClr val="45475A"/>
            </a:solidFill>
            <a:prstDash val="solid"/>
          </a:ln>
          <a:effectLst>
            <a:outerShdw blurRad="114300" dist="38100" dir="5400000" algn="bl" rotWithShape="0">
              <a:srgbClr val="000000">
                <a:alpha val="35000"/>
              </a:srgbClr>
            </a:outerShdw>
          </a:effectLst>
        </p:spPr>
      </p:sp>
      <p:pic>
        <p:nvPicPr>
          <p:cNvPr id="38" name="Image 6" descr="assets/agent_creator.png">
            <a:extLst>
              <a:ext uri="{FF2B5EF4-FFF2-40B4-BE49-F238E27FC236}">
                <a16:creationId xmlns:a16="http://schemas.microsoft.com/office/drawing/2014/main" id="{45C94769-739E-A127-C518-A908D6F1EE13}"/>
              </a:ext>
            </a:extLst>
          </p:cNvPr>
          <p:cNvPicPr>
            <a:picLocks noChangeAspect="1"/>
          </p:cNvPicPr>
          <p:nvPr/>
        </p:nvPicPr>
        <p:blipFill>
          <a:blip r:embed="rId9"/>
          <a:stretch>
            <a:fillRect/>
          </a:stretch>
        </p:blipFill>
        <p:spPr>
          <a:xfrm>
            <a:off x="6565392" y="3544069"/>
            <a:ext cx="5349240" cy="2720875"/>
          </a:xfrm>
          <a:prstGeom prst="rect">
            <a:avLst/>
          </a:prstGeom>
        </p:spPr>
      </p:pic>
      <p:sp>
        <p:nvSpPr>
          <p:cNvPr id="39" name="Text 24">
            <a:extLst>
              <a:ext uri="{FF2B5EF4-FFF2-40B4-BE49-F238E27FC236}">
                <a16:creationId xmlns:a16="http://schemas.microsoft.com/office/drawing/2014/main" id="{7694653B-D34A-A04B-6C0A-90D19DF848D4}"/>
              </a:ext>
            </a:extLst>
          </p:cNvPr>
          <p:cNvSpPr/>
          <p:nvPr/>
        </p:nvSpPr>
        <p:spPr>
          <a:xfrm>
            <a:off x="6565392" y="6402104"/>
            <a:ext cx="534924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Créateur de TP par l'Agent IA — énoncé PDF + paramètres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sitemap.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04</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A6E3A1"/>
                </a:solidFill>
                <a:latin typeface="Calibri" pitchFamily="34" charset="0"/>
                <a:ea typeface="Calibri" pitchFamily="34" charset="-122"/>
                <a:cs typeface="Calibri" pitchFamily="34" charset="-120"/>
              </a:rPr>
              <a:t>PARTIE 04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Conception technique</a:t>
            </a:r>
            <a:endParaRPr lang="en-US" sz="4400" dirty="0"/>
          </a:p>
        </p:txBody>
      </p:sp>
      <p:sp>
        <p:nvSpPr>
          <p:cNvPr id="8" name="Shape 5"/>
          <p:cNvSpPr/>
          <p:nvPr/>
        </p:nvSpPr>
        <p:spPr>
          <a:xfrm>
            <a:off x="658368" y="4114800"/>
            <a:ext cx="1554480" cy="54864"/>
          </a:xfrm>
          <a:prstGeom prst="rect">
            <a:avLst/>
          </a:prstGeom>
          <a:solidFill>
            <a:srgbClr val="A6E3A1"/>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Architecture microservices, diagrammes UML (classes, séquence), boucle ReAct LangGraph, stack et structure du code.</a:t>
            </a:r>
            <a:endParaRPr lang="en-US" sz="14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sitemap.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Architecture du système</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09</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1783080" y="1463040"/>
            <a:ext cx="9966960" cy="896112"/>
          </a:xfrm>
          <a:prstGeom prst="roundRect">
            <a:avLst>
              <a:gd name="adj" fmla="val 8163"/>
            </a:avLst>
          </a:prstGeom>
          <a:solidFill>
            <a:srgbClr val="CBA6F7">
              <a:alpha val="10000"/>
            </a:srgbClr>
          </a:solidFill>
          <a:ln w="12700">
            <a:solidFill>
              <a:srgbClr val="CBA6F7"/>
            </a:solidFill>
            <a:prstDash val="solid"/>
          </a:ln>
        </p:spPr>
      </p:sp>
      <p:pic>
        <p:nvPicPr>
          <p:cNvPr id="9" name="Image 1" descr="assets/ic_code.png"/>
          <p:cNvPicPr>
            <a:picLocks noChangeAspect="1"/>
          </p:cNvPicPr>
          <p:nvPr/>
        </p:nvPicPr>
        <p:blipFill>
          <a:blip r:embed="rId4"/>
          <a:stretch>
            <a:fillRect/>
          </a:stretch>
        </p:blipFill>
        <p:spPr>
          <a:xfrm>
            <a:off x="1929384" y="1719072"/>
            <a:ext cx="384048" cy="384048"/>
          </a:xfrm>
          <a:prstGeom prst="rect">
            <a:avLst/>
          </a:prstGeom>
        </p:spPr>
      </p:pic>
      <p:sp>
        <p:nvSpPr>
          <p:cNvPr id="10" name="Text 6"/>
          <p:cNvSpPr/>
          <p:nvPr/>
        </p:nvSpPr>
        <p:spPr>
          <a:xfrm>
            <a:off x="594360" y="1728216"/>
            <a:ext cx="1097280" cy="365760"/>
          </a:xfrm>
          <a:prstGeom prst="rect">
            <a:avLst/>
          </a:prstGeom>
          <a:noFill/>
          <a:ln/>
        </p:spPr>
        <p:txBody>
          <a:bodyPr wrap="square" lIns="0" tIns="0" rIns="0" bIns="0" rtlCol="0" anchor="ctr"/>
          <a:lstStyle/>
          <a:p>
            <a:pPr marL="0" indent="0" algn="r">
              <a:lnSpc>
                <a:spcPct val="90000"/>
              </a:lnSpc>
              <a:buNone/>
            </a:pPr>
            <a:r>
              <a:rPr lang="en-US" sz="1100" b="1" dirty="0">
                <a:solidFill>
                  <a:srgbClr val="CBA6F7"/>
                </a:solidFill>
                <a:latin typeface="Calibri" pitchFamily="34" charset="0"/>
                <a:ea typeface="Calibri" pitchFamily="34" charset="-122"/>
                <a:cs typeface="Calibri" pitchFamily="34" charset="-120"/>
              </a:rPr>
              <a:t>CLIENT</a:t>
            </a:r>
            <a:endParaRPr lang="en-US" sz="1100" dirty="0"/>
          </a:p>
        </p:txBody>
      </p:sp>
      <p:sp>
        <p:nvSpPr>
          <p:cNvPr id="11" name="Shape 7"/>
          <p:cNvSpPr/>
          <p:nvPr/>
        </p:nvSpPr>
        <p:spPr>
          <a:xfrm>
            <a:off x="1783080" y="2468880"/>
            <a:ext cx="9966960" cy="1024128"/>
          </a:xfrm>
          <a:prstGeom prst="roundRect">
            <a:avLst>
              <a:gd name="adj" fmla="val 7143"/>
            </a:avLst>
          </a:prstGeom>
          <a:solidFill>
            <a:srgbClr val="A6E3A1">
              <a:alpha val="10000"/>
            </a:srgbClr>
          </a:solidFill>
          <a:ln w="12700">
            <a:solidFill>
              <a:srgbClr val="A6E3A1"/>
            </a:solidFill>
            <a:prstDash val="solid"/>
          </a:ln>
        </p:spPr>
      </p:sp>
      <p:pic>
        <p:nvPicPr>
          <p:cNvPr id="12" name="Image 2" descr="assets/ic_server.png"/>
          <p:cNvPicPr>
            <a:picLocks noChangeAspect="1"/>
          </p:cNvPicPr>
          <p:nvPr/>
        </p:nvPicPr>
        <p:blipFill>
          <a:blip r:embed="rId5"/>
          <a:stretch>
            <a:fillRect/>
          </a:stretch>
        </p:blipFill>
        <p:spPr>
          <a:xfrm>
            <a:off x="1929384" y="2788920"/>
            <a:ext cx="384048" cy="384048"/>
          </a:xfrm>
          <a:prstGeom prst="rect">
            <a:avLst/>
          </a:prstGeom>
        </p:spPr>
      </p:pic>
      <p:sp>
        <p:nvSpPr>
          <p:cNvPr id="13" name="Text 8"/>
          <p:cNvSpPr/>
          <p:nvPr/>
        </p:nvSpPr>
        <p:spPr>
          <a:xfrm>
            <a:off x="594360" y="2798064"/>
            <a:ext cx="1097280" cy="365760"/>
          </a:xfrm>
          <a:prstGeom prst="rect">
            <a:avLst/>
          </a:prstGeom>
          <a:noFill/>
          <a:ln/>
        </p:spPr>
        <p:txBody>
          <a:bodyPr wrap="square" lIns="0" tIns="0" rIns="0" bIns="0" rtlCol="0" anchor="ctr"/>
          <a:lstStyle/>
          <a:p>
            <a:pPr marL="0" indent="0" algn="r">
              <a:lnSpc>
                <a:spcPct val="90000"/>
              </a:lnSpc>
              <a:buNone/>
            </a:pPr>
            <a:r>
              <a:rPr lang="en-US" sz="1100" b="1" dirty="0">
                <a:solidFill>
                  <a:srgbClr val="A6E3A1"/>
                </a:solidFill>
                <a:latin typeface="Calibri" pitchFamily="34" charset="0"/>
                <a:ea typeface="Calibri" pitchFamily="34" charset="-122"/>
                <a:cs typeface="Calibri" pitchFamily="34" charset="-120"/>
              </a:rPr>
              <a:t>SPRING CLOUD</a:t>
            </a:r>
            <a:endParaRPr lang="en-US" sz="1100" dirty="0"/>
          </a:p>
        </p:txBody>
      </p:sp>
      <p:sp>
        <p:nvSpPr>
          <p:cNvPr id="14" name="Shape 9"/>
          <p:cNvSpPr/>
          <p:nvPr/>
        </p:nvSpPr>
        <p:spPr>
          <a:xfrm>
            <a:off x="1783080" y="3602736"/>
            <a:ext cx="9966960" cy="1865376"/>
          </a:xfrm>
          <a:prstGeom prst="roundRect">
            <a:avLst>
              <a:gd name="adj" fmla="val 3922"/>
            </a:avLst>
          </a:prstGeom>
          <a:solidFill>
            <a:srgbClr val="89B4FA">
              <a:alpha val="10000"/>
            </a:srgbClr>
          </a:solidFill>
          <a:ln w="12700">
            <a:solidFill>
              <a:srgbClr val="89B4FA"/>
            </a:solidFill>
            <a:prstDash val="solid"/>
          </a:ln>
        </p:spPr>
      </p:sp>
      <p:pic>
        <p:nvPicPr>
          <p:cNvPr id="15" name="Image 3" descr="assets/ic_robot.png"/>
          <p:cNvPicPr>
            <a:picLocks noChangeAspect="1"/>
          </p:cNvPicPr>
          <p:nvPr/>
        </p:nvPicPr>
        <p:blipFill>
          <a:blip r:embed="rId6"/>
          <a:stretch>
            <a:fillRect/>
          </a:stretch>
        </p:blipFill>
        <p:spPr>
          <a:xfrm>
            <a:off x="1929384" y="4343400"/>
            <a:ext cx="384048" cy="384048"/>
          </a:xfrm>
          <a:prstGeom prst="rect">
            <a:avLst/>
          </a:prstGeom>
        </p:spPr>
      </p:pic>
      <p:sp>
        <p:nvSpPr>
          <p:cNvPr id="16" name="Text 10"/>
          <p:cNvSpPr/>
          <p:nvPr/>
        </p:nvSpPr>
        <p:spPr>
          <a:xfrm>
            <a:off x="594360" y="4352544"/>
            <a:ext cx="1097280" cy="365760"/>
          </a:xfrm>
          <a:prstGeom prst="rect">
            <a:avLst/>
          </a:prstGeom>
          <a:noFill/>
          <a:ln/>
        </p:spPr>
        <p:txBody>
          <a:bodyPr wrap="square" lIns="0" tIns="0" rIns="0" bIns="0" rtlCol="0" anchor="ctr"/>
          <a:lstStyle/>
          <a:p>
            <a:pPr marL="0" indent="0" algn="r">
              <a:lnSpc>
                <a:spcPct val="90000"/>
              </a:lnSpc>
              <a:buNone/>
            </a:pPr>
            <a:r>
              <a:rPr lang="en-US" sz="1100" b="1" dirty="0">
                <a:solidFill>
                  <a:srgbClr val="89B4FA"/>
                </a:solidFill>
                <a:latin typeface="Calibri" pitchFamily="34" charset="0"/>
                <a:ea typeface="Calibri" pitchFamily="34" charset="-122"/>
                <a:cs typeface="Calibri" pitchFamily="34" charset="-120"/>
              </a:rPr>
              <a:t>AGENTS IA</a:t>
            </a:r>
            <a:endParaRPr lang="en-US" sz="1100" dirty="0"/>
          </a:p>
        </p:txBody>
      </p:sp>
      <p:sp>
        <p:nvSpPr>
          <p:cNvPr id="17" name="Shape 11"/>
          <p:cNvSpPr/>
          <p:nvPr/>
        </p:nvSpPr>
        <p:spPr>
          <a:xfrm>
            <a:off x="1783080" y="5577840"/>
            <a:ext cx="9966960" cy="868680"/>
          </a:xfrm>
          <a:prstGeom prst="roundRect">
            <a:avLst>
              <a:gd name="adj" fmla="val 8421"/>
            </a:avLst>
          </a:prstGeom>
          <a:solidFill>
            <a:srgbClr val="F9E2AF">
              <a:alpha val="10000"/>
            </a:srgbClr>
          </a:solidFill>
          <a:ln w="12700">
            <a:solidFill>
              <a:srgbClr val="F9E2AF"/>
            </a:solidFill>
            <a:prstDash val="solid"/>
          </a:ln>
        </p:spPr>
      </p:sp>
      <p:pic>
        <p:nvPicPr>
          <p:cNvPr id="18" name="Image 4" descr="assets/ic_gears.png"/>
          <p:cNvPicPr>
            <a:picLocks noChangeAspect="1"/>
          </p:cNvPicPr>
          <p:nvPr/>
        </p:nvPicPr>
        <p:blipFill>
          <a:blip r:embed="rId7"/>
          <a:stretch>
            <a:fillRect/>
          </a:stretch>
        </p:blipFill>
        <p:spPr>
          <a:xfrm>
            <a:off x="1929384" y="5820156"/>
            <a:ext cx="384048" cy="384048"/>
          </a:xfrm>
          <a:prstGeom prst="rect">
            <a:avLst/>
          </a:prstGeom>
        </p:spPr>
      </p:pic>
      <p:sp>
        <p:nvSpPr>
          <p:cNvPr id="19" name="Text 12"/>
          <p:cNvSpPr/>
          <p:nvPr/>
        </p:nvSpPr>
        <p:spPr>
          <a:xfrm>
            <a:off x="594360" y="5829300"/>
            <a:ext cx="1097280" cy="365760"/>
          </a:xfrm>
          <a:prstGeom prst="rect">
            <a:avLst/>
          </a:prstGeom>
          <a:noFill/>
          <a:ln/>
        </p:spPr>
        <p:txBody>
          <a:bodyPr wrap="square" lIns="0" tIns="0" rIns="0" bIns="0" rtlCol="0" anchor="ctr"/>
          <a:lstStyle/>
          <a:p>
            <a:pPr marL="0" indent="0" algn="r">
              <a:lnSpc>
                <a:spcPct val="90000"/>
              </a:lnSpc>
              <a:buNone/>
            </a:pPr>
            <a:r>
              <a:rPr lang="en-US" sz="1100" b="1" dirty="0">
                <a:solidFill>
                  <a:srgbClr val="F9E2AF"/>
                </a:solidFill>
                <a:latin typeface="Calibri" pitchFamily="34" charset="0"/>
                <a:ea typeface="Calibri" pitchFamily="34" charset="-122"/>
                <a:cs typeface="Calibri" pitchFamily="34" charset="-120"/>
              </a:rPr>
              <a:t>RUNTIME</a:t>
            </a:r>
            <a:endParaRPr lang="en-US" sz="1100" dirty="0"/>
          </a:p>
        </p:txBody>
      </p:sp>
      <p:sp>
        <p:nvSpPr>
          <p:cNvPr id="20" name="Shape 13"/>
          <p:cNvSpPr/>
          <p:nvPr/>
        </p:nvSpPr>
        <p:spPr>
          <a:xfrm>
            <a:off x="1965960" y="1591056"/>
            <a:ext cx="9601200" cy="640080"/>
          </a:xfrm>
          <a:prstGeom prst="roundRect">
            <a:avLst>
              <a:gd name="adj" fmla="val 10000"/>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21" name="Text 14"/>
          <p:cNvSpPr/>
          <p:nvPr/>
        </p:nvSpPr>
        <p:spPr>
          <a:xfrm>
            <a:off x="2020824" y="1618488"/>
            <a:ext cx="9491472" cy="331013"/>
          </a:xfrm>
          <a:prstGeom prst="rect">
            <a:avLst/>
          </a:prstGeom>
          <a:noFill/>
          <a:ln/>
        </p:spPr>
        <p:txBody>
          <a:bodyPr wrap="square" lIns="0" tIns="0" rIns="0" bIns="0" rtlCol="0" anchor="ctr"/>
          <a:lstStyle/>
          <a:p>
            <a:pPr marL="0" indent="0" algn="ctr">
              <a:lnSpc>
                <a:spcPct val="92000"/>
              </a:lnSpc>
              <a:buNone/>
            </a:pPr>
            <a:r>
              <a:rPr lang="en-US" sz="1250" b="1" dirty="0">
                <a:solidFill>
                  <a:srgbClr val="CBA6F7"/>
                </a:solidFill>
                <a:latin typeface="Calibri" pitchFamily="34" charset="0"/>
                <a:ea typeface="Calibri" pitchFamily="34" charset="-122"/>
                <a:cs typeface="Calibri" pitchFamily="34" charset="-120"/>
              </a:rPr>
              <a:t>Next.js 14  ·  Student Workspace  ·  Teacher Dashboard</a:t>
            </a:r>
            <a:endParaRPr lang="en-US" sz="1250" dirty="0"/>
          </a:p>
        </p:txBody>
      </p:sp>
      <p:sp>
        <p:nvSpPr>
          <p:cNvPr id="22" name="Text 15"/>
          <p:cNvSpPr/>
          <p:nvPr/>
        </p:nvSpPr>
        <p:spPr>
          <a:xfrm>
            <a:off x="2020824" y="1949501"/>
            <a:ext cx="9491472" cy="245059"/>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:3000</a:t>
            </a:r>
            <a:endParaRPr lang="en-US" sz="850" dirty="0"/>
          </a:p>
        </p:txBody>
      </p:sp>
      <p:sp>
        <p:nvSpPr>
          <p:cNvPr id="23" name="Shape 16"/>
          <p:cNvSpPr/>
          <p:nvPr/>
        </p:nvSpPr>
        <p:spPr>
          <a:xfrm>
            <a:off x="1965960" y="2670048"/>
            <a:ext cx="1627632" cy="658368"/>
          </a:xfrm>
          <a:prstGeom prst="roundRect">
            <a:avLst>
              <a:gd name="adj" fmla="val 9722"/>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24" name="Text 17"/>
          <p:cNvSpPr/>
          <p:nvPr/>
        </p:nvSpPr>
        <p:spPr>
          <a:xfrm>
            <a:off x="2020824" y="2697480"/>
            <a:ext cx="1517904" cy="341254"/>
          </a:xfrm>
          <a:prstGeom prst="rect">
            <a:avLst/>
          </a:prstGeom>
          <a:noFill/>
          <a:ln/>
        </p:spPr>
        <p:txBody>
          <a:bodyPr wrap="square" lIns="0" tIns="0" rIns="0" bIns="0" rtlCol="0" anchor="ctr"/>
          <a:lstStyle/>
          <a:p>
            <a:pPr marL="0" indent="0" algn="ctr">
              <a:lnSpc>
                <a:spcPct val="92000"/>
              </a:lnSpc>
              <a:buNone/>
            </a:pPr>
            <a:r>
              <a:rPr lang="en-US" sz="1100" b="1" dirty="0">
                <a:solidFill>
                  <a:srgbClr val="A6E3A1"/>
                </a:solidFill>
                <a:latin typeface="Calibri" pitchFamily="34" charset="0"/>
                <a:ea typeface="Calibri" pitchFamily="34" charset="-122"/>
                <a:cs typeface="Calibri" pitchFamily="34" charset="-120"/>
              </a:rPr>
              <a:t>API Gateway</a:t>
            </a:r>
            <a:endParaRPr lang="en-US" sz="1100" dirty="0"/>
          </a:p>
        </p:txBody>
      </p:sp>
      <p:sp>
        <p:nvSpPr>
          <p:cNvPr id="25" name="Text 18"/>
          <p:cNvSpPr/>
          <p:nvPr/>
        </p:nvSpPr>
        <p:spPr>
          <a:xfrm>
            <a:off x="2020824" y="3038734"/>
            <a:ext cx="1517904" cy="25310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:8080</a:t>
            </a:r>
            <a:endParaRPr lang="en-US" sz="850" dirty="0"/>
          </a:p>
        </p:txBody>
      </p:sp>
      <p:sp>
        <p:nvSpPr>
          <p:cNvPr id="26" name="Shape 19"/>
          <p:cNvSpPr/>
          <p:nvPr/>
        </p:nvSpPr>
        <p:spPr>
          <a:xfrm>
            <a:off x="3703320" y="2670048"/>
            <a:ext cx="1481328" cy="658368"/>
          </a:xfrm>
          <a:prstGeom prst="roundRect">
            <a:avLst>
              <a:gd name="adj" fmla="val 9722"/>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27" name="Text 20"/>
          <p:cNvSpPr/>
          <p:nvPr/>
        </p:nvSpPr>
        <p:spPr>
          <a:xfrm>
            <a:off x="3758184" y="2697480"/>
            <a:ext cx="1371600" cy="341254"/>
          </a:xfrm>
          <a:prstGeom prst="rect">
            <a:avLst/>
          </a:prstGeom>
          <a:noFill/>
          <a:ln/>
        </p:spPr>
        <p:txBody>
          <a:bodyPr wrap="square" lIns="0" tIns="0" rIns="0" bIns="0" rtlCol="0" anchor="ctr"/>
          <a:lstStyle/>
          <a:p>
            <a:pPr marL="0" indent="0" algn="ctr">
              <a:lnSpc>
                <a:spcPct val="92000"/>
              </a:lnSpc>
              <a:buNone/>
            </a:pPr>
            <a:r>
              <a:rPr lang="en-US" sz="1100" b="1" dirty="0">
                <a:solidFill>
                  <a:srgbClr val="A6E3A1"/>
                </a:solidFill>
                <a:latin typeface="Calibri" pitchFamily="34" charset="0"/>
                <a:ea typeface="Calibri" pitchFamily="34" charset="-122"/>
                <a:cs typeface="Calibri" pitchFamily="34" charset="-120"/>
              </a:rPr>
              <a:t>Auth Service</a:t>
            </a:r>
            <a:endParaRPr lang="en-US" sz="1100" dirty="0"/>
          </a:p>
        </p:txBody>
      </p:sp>
      <p:sp>
        <p:nvSpPr>
          <p:cNvPr id="28" name="Text 21"/>
          <p:cNvSpPr/>
          <p:nvPr/>
        </p:nvSpPr>
        <p:spPr>
          <a:xfrm>
            <a:off x="3758184" y="3038734"/>
            <a:ext cx="1371600" cy="25310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:8081</a:t>
            </a:r>
            <a:endParaRPr lang="en-US" sz="850" dirty="0"/>
          </a:p>
        </p:txBody>
      </p:sp>
      <p:sp>
        <p:nvSpPr>
          <p:cNvPr id="29" name="Shape 22"/>
          <p:cNvSpPr/>
          <p:nvPr/>
        </p:nvSpPr>
        <p:spPr>
          <a:xfrm>
            <a:off x="5285232" y="2670048"/>
            <a:ext cx="1417320" cy="658368"/>
          </a:xfrm>
          <a:prstGeom prst="roundRect">
            <a:avLst>
              <a:gd name="adj" fmla="val 9722"/>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30" name="Text 23"/>
          <p:cNvSpPr/>
          <p:nvPr/>
        </p:nvSpPr>
        <p:spPr>
          <a:xfrm>
            <a:off x="5340096" y="2697480"/>
            <a:ext cx="1307592" cy="341254"/>
          </a:xfrm>
          <a:prstGeom prst="rect">
            <a:avLst/>
          </a:prstGeom>
          <a:noFill/>
          <a:ln/>
        </p:spPr>
        <p:txBody>
          <a:bodyPr wrap="square" lIns="0" tIns="0" rIns="0" bIns="0" rtlCol="0" anchor="ctr"/>
          <a:lstStyle/>
          <a:p>
            <a:pPr marL="0" indent="0" algn="ctr">
              <a:lnSpc>
                <a:spcPct val="92000"/>
              </a:lnSpc>
              <a:buNone/>
            </a:pPr>
            <a:r>
              <a:rPr lang="en-US" sz="1100" b="1" dirty="0">
                <a:solidFill>
                  <a:srgbClr val="A6E3A1"/>
                </a:solidFill>
                <a:latin typeface="Calibri" pitchFamily="34" charset="0"/>
                <a:ea typeface="Calibri" pitchFamily="34" charset="-122"/>
                <a:cs typeface="Calibri" pitchFamily="34" charset="-120"/>
              </a:rPr>
              <a:t>TP Service</a:t>
            </a:r>
            <a:endParaRPr lang="en-US" sz="1100" dirty="0"/>
          </a:p>
        </p:txBody>
      </p:sp>
      <p:sp>
        <p:nvSpPr>
          <p:cNvPr id="31" name="Text 24"/>
          <p:cNvSpPr/>
          <p:nvPr/>
        </p:nvSpPr>
        <p:spPr>
          <a:xfrm>
            <a:off x="5340096" y="3038734"/>
            <a:ext cx="1307592" cy="25310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:8082</a:t>
            </a:r>
            <a:endParaRPr lang="en-US" sz="850" dirty="0"/>
          </a:p>
        </p:txBody>
      </p:sp>
      <p:sp>
        <p:nvSpPr>
          <p:cNvPr id="32" name="Shape 25"/>
          <p:cNvSpPr/>
          <p:nvPr/>
        </p:nvSpPr>
        <p:spPr>
          <a:xfrm>
            <a:off x="6858000" y="2670048"/>
            <a:ext cx="1783080" cy="658368"/>
          </a:xfrm>
          <a:prstGeom prst="roundRect">
            <a:avLst>
              <a:gd name="adj" fmla="val 9722"/>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33" name="Text 26"/>
          <p:cNvSpPr/>
          <p:nvPr/>
        </p:nvSpPr>
        <p:spPr>
          <a:xfrm>
            <a:off x="6912864" y="2697480"/>
            <a:ext cx="1673352" cy="341254"/>
          </a:xfrm>
          <a:prstGeom prst="rect">
            <a:avLst/>
          </a:prstGeom>
          <a:noFill/>
          <a:ln/>
        </p:spPr>
        <p:txBody>
          <a:bodyPr wrap="square" lIns="0" tIns="0" rIns="0" bIns="0" rtlCol="0" anchor="ctr"/>
          <a:lstStyle/>
          <a:p>
            <a:pPr marL="0" indent="0" algn="ctr">
              <a:lnSpc>
                <a:spcPct val="92000"/>
              </a:lnSpc>
              <a:buNone/>
            </a:pPr>
            <a:r>
              <a:rPr lang="en-US" sz="1100" b="1" dirty="0">
                <a:solidFill>
                  <a:srgbClr val="F9E2AF"/>
                </a:solidFill>
                <a:latin typeface="Calibri" pitchFamily="34" charset="0"/>
                <a:ea typeface="Calibri" pitchFamily="34" charset="-122"/>
                <a:cs typeface="Calibri" pitchFamily="34" charset="-120"/>
              </a:rPr>
              <a:t>PostgreSQL</a:t>
            </a:r>
            <a:endParaRPr lang="en-US" sz="1100" dirty="0"/>
          </a:p>
        </p:txBody>
      </p:sp>
      <p:sp>
        <p:nvSpPr>
          <p:cNvPr id="34" name="Text 27"/>
          <p:cNvSpPr/>
          <p:nvPr/>
        </p:nvSpPr>
        <p:spPr>
          <a:xfrm>
            <a:off x="6912864" y="3038734"/>
            <a:ext cx="1673352" cy="253106"/>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auth_db · tp_db · :5432</a:t>
            </a:r>
            <a:endParaRPr lang="en-US" sz="800" dirty="0"/>
          </a:p>
        </p:txBody>
      </p:sp>
      <p:sp>
        <p:nvSpPr>
          <p:cNvPr id="35" name="Shape 28"/>
          <p:cNvSpPr/>
          <p:nvPr/>
        </p:nvSpPr>
        <p:spPr>
          <a:xfrm>
            <a:off x="9646920" y="2670048"/>
            <a:ext cx="1920240" cy="658368"/>
          </a:xfrm>
          <a:prstGeom prst="roundRect">
            <a:avLst>
              <a:gd name="adj" fmla="val 9722"/>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36" name="Text 29"/>
          <p:cNvSpPr/>
          <p:nvPr/>
        </p:nvSpPr>
        <p:spPr>
          <a:xfrm>
            <a:off x="9701784" y="2697480"/>
            <a:ext cx="1810512" cy="341254"/>
          </a:xfrm>
          <a:prstGeom prst="rect">
            <a:avLst/>
          </a:prstGeom>
          <a:noFill/>
          <a:ln/>
        </p:spPr>
        <p:txBody>
          <a:bodyPr wrap="square" lIns="0" tIns="0" rIns="0" bIns="0" rtlCol="0" anchor="ctr"/>
          <a:lstStyle/>
          <a:p>
            <a:pPr marL="0" indent="0" algn="ctr">
              <a:lnSpc>
                <a:spcPct val="92000"/>
              </a:lnSpc>
              <a:buNone/>
            </a:pPr>
            <a:r>
              <a:rPr lang="en-US" sz="1100" b="1" dirty="0">
                <a:solidFill>
                  <a:srgbClr val="A6E3A1"/>
                </a:solidFill>
                <a:latin typeface="Calibri" pitchFamily="34" charset="0"/>
                <a:ea typeface="Calibri" pitchFamily="34" charset="-122"/>
                <a:cs typeface="Calibri" pitchFamily="34" charset="-120"/>
              </a:rPr>
              <a:t>Eureka Discovery</a:t>
            </a:r>
            <a:endParaRPr lang="en-US" sz="1100" dirty="0"/>
          </a:p>
        </p:txBody>
      </p:sp>
      <p:sp>
        <p:nvSpPr>
          <p:cNvPr id="37" name="Text 30"/>
          <p:cNvSpPr/>
          <p:nvPr/>
        </p:nvSpPr>
        <p:spPr>
          <a:xfrm>
            <a:off x="9701784" y="3038734"/>
            <a:ext cx="1810512" cy="25310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registry · :8761</a:t>
            </a:r>
            <a:endParaRPr lang="en-US" sz="850" dirty="0"/>
          </a:p>
        </p:txBody>
      </p:sp>
      <p:sp>
        <p:nvSpPr>
          <p:cNvPr id="38" name="Shape 31"/>
          <p:cNvSpPr/>
          <p:nvPr/>
        </p:nvSpPr>
        <p:spPr>
          <a:xfrm>
            <a:off x="1965960" y="3767328"/>
            <a:ext cx="7498080" cy="530352"/>
          </a:xfrm>
          <a:prstGeom prst="roundRect">
            <a:avLst>
              <a:gd name="adj" fmla="val 12069"/>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39" name="Text 32"/>
          <p:cNvSpPr/>
          <p:nvPr/>
        </p:nvSpPr>
        <p:spPr>
          <a:xfrm>
            <a:off x="2039112" y="3767328"/>
            <a:ext cx="7351776" cy="530352"/>
          </a:xfrm>
          <a:prstGeom prst="rect">
            <a:avLst/>
          </a:prstGeom>
          <a:noFill/>
          <a:ln/>
        </p:spPr>
        <p:txBody>
          <a:bodyPr wrap="square" lIns="0" tIns="0" rIns="0" bIns="0" rtlCol="0" anchor="ctr"/>
          <a:lstStyle/>
          <a:p>
            <a:pPr marL="0" indent="0" algn="ctr">
              <a:lnSpc>
                <a:spcPct val="95000"/>
              </a:lnSpc>
              <a:buNone/>
            </a:pPr>
            <a:r>
              <a:rPr lang="en-US" sz="1050" b="1" dirty="0">
                <a:solidFill>
                  <a:srgbClr val="89B4FA"/>
                </a:solidFill>
                <a:latin typeface="Calibri" pitchFamily="34" charset="0"/>
                <a:ea typeface="Calibri" pitchFamily="34" charset="-122"/>
                <a:cs typeface="Calibri" pitchFamily="34" charset="-120"/>
              </a:rPr>
              <a:t>Agent Gateway   ·   explain · hint · quiz · evaluate · orchestrate · generate-tp · courses   ·   :8000</a:t>
            </a:r>
            <a:endParaRPr lang="en-US" sz="1050" dirty="0"/>
          </a:p>
        </p:txBody>
      </p:sp>
      <p:sp>
        <p:nvSpPr>
          <p:cNvPr id="40" name="Shape 33"/>
          <p:cNvSpPr/>
          <p:nvPr/>
        </p:nvSpPr>
        <p:spPr>
          <a:xfrm>
            <a:off x="2103120" y="4553712"/>
            <a:ext cx="1691640" cy="749808"/>
          </a:xfrm>
          <a:prstGeom prst="roundRect">
            <a:avLst>
              <a:gd name="adj" fmla="val 8537"/>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41" name="Text 34"/>
          <p:cNvSpPr/>
          <p:nvPr/>
        </p:nvSpPr>
        <p:spPr>
          <a:xfrm>
            <a:off x="2157984" y="4581144"/>
            <a:ext cx="1581912" cy="392460"/>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Explanation</a:t>
            </a:r>
            <a:endParaRPr lang="en-US" sz="1100" dirty="0"/>
          </a:p>
        </p:txBody>
      </p:sp>
      <p:sp>
        <p:nvSpPr>
          <p:cNvPr id="42" name="Text 35"/>
          <p:cNvSpPr/>
          <p:nvPr/>
        </p:nvSpPr>
        <p:spPr>
          <a:xfrm>
            <a:off x="2157984" y="4973604"/>
            <a:ext cx="1581912" cy="293340"/>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mistral · :8001</a:t>
            </a:r>
            <a:endParaRPr lang="en-US" sz="850" dirty="0"/>
          </a:p>
        </p:txBody>
      </p:sp>
      <p:sp>
        <p:nvSpPr>
          <p:cNvPr id="43" name="Shape 36"/>
          <p:cNvSpPr/>
          <p:nvPr/>
        </p:nvSpPr>
        <p:spPr>
          <a:xfrm>
            <a:off x="3931920" y="4553712"/>
            <a:ext cx="1691640" cy="749808"/>
          </a:xfrm>
          <a:prstGeom prst="roundRect">
            <a:avLst>
              <a:gd name="adj" fmla="val 8537"/>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44" name="Text 37"/>
          <p:cNvSpPr/>
          <p:nvPr/>
        </p:nvSpPr>
        <p:spPr>
          <a:xfrm>
            <a:off x="3986784" y="4581144"/>
            <a:ext cx="1581912" cy="392460"/>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Hint</a:t>
            </a:r>
            <a:endParaRPr lang="en-US" sz="1100" dirty="0"/>
          </a:p>
        </p:txBody>
      </p:sp>
      <p:sp>
        <p:nvSpPr>
          <p:cNvPr id="45" name="Text 38"/>
          <p:cNvSpPr/>
          <p:nvPr/>
        </p:nvSpPr>
        <p:spPr>
          <a:xfrm>
            <a:off x="3986784" y="4973604"/>
            <a:ext cx="1581912" cy="293340"/>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deepseek-coder · :8002</a:t>
            </a:r>
            <a:endParaRPr lang="en-US" sz="800" dirty="0"/>
          </a:p>
        </p:txBody>
      </p:sp>
      <p:sp>
        <p:nvSpPr>
          <p:cNvPr id="46" name="Shape 39"/>
          <p:cNvSpPr/>
          <p:nvPr/>
        </p:nvSpPr>
        <p:spPr>
          <a:xfrm>
            <a:off x="5760720" y="4553712"/>
            <a:ext cx="1691640" cy="749808"/>
          </a:xfrm>
          <a:prstGeom prst="roundRect">
            <a:avLst>
              <a:gd name="adj" fmla="val 8537"/>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47" name="Text 40"/>
          <p:cNvSpPr/>
          <p:nvPr/>
        </p:nvSpPr>
        <p:spPr>
          <a:xfrm>
            <a:off x="5815584" y="4581144"/>
            <a:ext cx="1581912" cy="392460"/>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Evaluation</a:t>
            </a:r>
            <a:endParaRPr lang="en-US" sz="1100" dirty="0"/>
          </a:p>
        </p:txBody>
      </p:sp>
      <p:sp>
        <p:nvSpPr>
          <p:cNvPr id="48" name="Text 41"/>
          <p:cNvSpPr/>
          <p:nvPr/>
        </p:nvSpPr>
        <p:spPr>
          <a:xfrm>
            <a:off x="5815584" y="4973604"/>
            <a:ext cx="1581912" cy="293340"/>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gemma4:31b · :8003</a:t>
            </a:r>
            <a:endParaRPr lang="en-US" sz="800" dirty="0"/>
          </a:p>
        </p:txBody>
      </p:sp>
      <p:sp>
        <p:nvSpPr>
          <p:cNvPr id="49" name="Shape 42"/>
          <p:cNvSpPr/>
          <p:nvPr/>
        </p:nvSpPr>
        <p:spPr>
          <a:xfrm>
            <a:off x="7589520" y="4553712"/>
            <a:ext cx="1874520" cy="749808"/>
          </a:xfrm>
          <a:prstGeom prst="roundRect">
            <a:avLst>
              <a:gd name="adj" fmla="val 8537"/>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50" name="Text 43"/>
          <p:cNvSpPr/>
          <p:nvPr/>
        </p:nvSpPr>
        <p:spPr>
          <a:xfrm>
            <a:off x="7644384" y="4581144"/>
            <a:ext cx="1764792" cy="392460"/>
          </a:xfrm>
          <a:prstGeom prst="rect">
            <a:avLst/>
          </a:prstGeom>
          <a:noFill/>
          <a:ln/>
        </p:spPr>
        <p:txBody>
          <a:bodyPr wrap="square" lIns="0" tIns="0" rIns="0" bIns="0" rtlCol="0" anchor="ctr"/>
          <a:lstStyle/>
          <a:p>
            <a:pPr marL="0" indent="0" algn="ctr">
              <a:lnSpc>
                <a:spcPct val="92000"/>
              </a:lnSpc>
              <a:buNone/>
            </a:pPr>
            <a:r>
              <a:rPr lang="en-US" sz="1100" b="1" dirty="0">
                <a:solidFill>
                  <a:srgbClr val="CBA6F7"/>
                </a:solidFill>
                <a:latin typeface="Calibri" pitchFamily="34" charset="0"/>
                <a:ea typeface="Calibri" pitchFamily="34" charset="-122"/>
                <a:cs typeface="Calibri" pitchFamily="34" charset="-120"/>
              </a:rPr>
              <a:t>Orchestrator</a:t>
            </a:r>
            <a:endParaRPr lang="en-US" sz="1100" dirty="0"/>
          </a:p>
        </p:txBody>
      </p:sp>
      <p:sp>
        <p:nvSpPr>
          <p:cNvPr id="51" name="Text 44"/>
          <p:cNvSpPr/>
          <p:nvPr/>
        </p:nvSpPr>
        <p:spPr>
          <a:xfrm>
            <a:off x="7644384" y="4973604"/>
            <a:ext cx="1764792" cy="293340"/>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deepseek-v3.2 · :8004</a:t>
            </a:r>
            <a:endParaRPr lang="en-US" sz="800" dirty="0"/>
          </a:p>
        </p:txBody>
      </p:sp>
      <p:sp>
        <p:nvSpPr>
          <p:cNvPr id="52" name="Shape 45"/>
          <p:cNvSpPr/>
          <p:nvPr/>
        </p:nvSpPr>
        <p:spPr>
          <a:xfrm>
            <a:off x="9646920" y="4069080"/>
            <a:ext cx="1920240" cy="868680"/>
          </a:xfrm>
          <a:prstGeom prst="roundRect">
            <a:avLst>
              <a:gd name="adj" fmla="val 7368"/>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53" name="Text 46"/>
          <p:cNvSpPr/>
          <p:nvPr/>
        </p:nvSpPr>
        <p:spPr>
          <a:xfrm>
            <a:off x="9701784" y="4096512"/>
            <a:ext cx="1810512" cy="459029"/>
          </a:xfrm>
          <a:prstGeom prst="rect">
            <a:avLst/>
          </a:prstGeom>
          <a:noFill/>
          <a:ln/>
        </p:spPr>
        <p:txBody>
          <a:bodyPr wrap="square" lIns="0" tIns="0" rIns="0" bIns="0" rtlCol="0" anchor="ctr"/>
          <a:lstStyle/>
          <a:p>
            <a:pPr marL="0" indent="0" algn="ctr">
              <a:lnSpc>
                <a:spcPct val="92000"/>
              </a:lnSpc>
              <a:buNone/>
            </a:pPr>
            <a:r>
              <a:rPr lang="en-US" sz="1100" b="1" dirty="0">
                <a:solidFill>
                  <a:srgbClr val="F9E2AF"/>
                </a:solidFill>
                <a:latin typeface="Calibri" pitchFamily="34" charset="0"/>
                <a:ea typeface="Calibri" pitchFamily="34" charset="-122"/>
                <a:cs typeface="Calibri" pitchFamily="34" charset="-120"/>
              </a:rPr>
              <a:t>Apache Kafka</a:t>
            </a:r>
            <a:endParaRPr lang="en-US" sz="1100" dirty="0"/>
          </a:p>
        </p:txBody>
      </p:sp>
      <p:sp>
        <p:nvSpPr>
          <p:cNvPr id="54" name="Text 47"/>
          <p:cNvSpPr/>
          <p:nvPr/>
        </p:nvSpPr>
        <p:spPr>
          <a:xfrm>
            <a:off x="9701784" y="4555541"/>
            <a:ext cx="1810512" cy="345643"/>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async pipeline</a:t>
            </a:r>
            <a:endParaRPr lang="en-US" sz="850" dirty="0"/>
          </a:p>
        </p:txBody>
      </p:sp>
      <p:sp>
        <p:nvSpPr>
          <p:cNvPr id="55" name="Shape 48"/>
          <p:cNvSpPr/>
          <p:nvPr/>
        </p:nvSpPr>
        <p:spPr>
          <a:xfrm>
            <a:off x="2103120" y="5705856"/>
            <a:ext cx="7360920" cy="603504"/>
          </a:xfrm>
          <a:prstGeom prst="roundRect">
            <a:avLst>
              <a:gd name="adj" fmla="val 10606"/>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56" name="Text 49"/>
          <p:cNvSpPr/>
          <p:nvPr/>
        </p:nvSpPr>
        <p:spPr>
          <a:xfrm>
            <a:off x="2157984" y="5733288"/>
            <a:ext cx="7251192" cy="310530"/>
          </a:xfrm>
          <a:prstGeom prst="rect">
            <a:avLst/>
          </a:prstGeom>
          <a:noFill/>
          <a:ln/>
        </p:spPr>
        <p:txBody>
          <a:bodyPr wrap="square" lIns="0" tIns="0" rIns="0" bIns="0" rtlCol="0" anchor="ctr"/>
          <a:lstStyle/>
          <a:p>
            <a:pPr marL="0" indent="0" algn="ctr">
              <a:lnSpc>
                <a:spcPct val="92000"/>
              </a:lnSpc>
              <a:buNone/>
            </a:pPr>
            <a:r>
              <a:rPr lang="en-US" sz="1100" b="1" dirty="0">
                <a:solidFill>
                  <a:srgbClr val="F9E2AF"/>
                </a:solidFill>
                <a:latin typeface="Calibri" pitchFamily="34" charset="0"/>
                <a:ea typeface="Calibri" pitchFamily="34" charset="-122"/>
                <a:cs typeface="Calibri" pitchFamily="34" charset="-120"/>
              </a:rPr>
              <a:t>Ollama Runtime   —   mistral · deepseek-coder:6.7b · gemma4:31b · deepseek-v3.2</a:t>
            </a:r>
            <a:endParaRPr lang="en-US" sz="1100" dirty="0"/>
          </a:p>
        </p:txBody>
      </p:sp>
      <p:sp>
        <p:nvSpPr>
          <p:cNvPr id="57" name="Text 50"/>
          <p:cNvSpPr/>
          <p:nvPr/>
        </p:nvSpPr>
        <p:spPr>
          <a:xfrm>
            <a:off x="2157984" y="6043818"/>
            <a:ext cx="7251192" cy="22896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:11434</a:t>
            </a:r>
            <a:endParaRPr lang="en-US" sz="850" dirty="0"/>
          </a:p>
        </p:txBody>
      </p:sp>
      <p:sp>
        <p:nvSpPr>
          <p:cNvPr id="58" name="Text 51"/>
          <p:cNvSpPr/>
          <p:nvPr/>
        </p:nvSpPr>
        <p:spPr>
          <a:xfrm>
            <a:off x="9646920" y="5760720"/>
            <a:ext cx="1920240" cy="502920"/>
          </a:xfrm>
          <a:prstGeom prst="rect">
            <a:avLst/>
          </a:prstGeom>
          <a:noFill/>
          <a:ln/>
        </p:spPr>
        <p:txBody>
          <a:bodyPr wrap="square" lIns="0" tIns="0" rIns="0" bIns="0" rtlCol="0" anchor="ctr"/>
          <a:lstStyle/>
          <a:p>
            <a:pPr marL="0" indent="0" algn="ctr">
              <a:lnSpc>
                <a:spcPct val="95000"/>
              </a:lnSpc>
              <a:buNone/>
            </a:pPr>
            <a:r>
              <a:rPr lang="en-US" sz="900" dirty="0">
                <a:solidFill>
                  <a:srgbClr val="7F849C"/>
                </a:solidFill>
                <a:latin typeface="Consolas" pitchFamily="34" charset="0"/>
                <a:ea typeface="Consolas" pitchFamily="34" charset="-122"/>
                <a:cs typeface="Consolas" pitchFamily="34" charset="-120"/>
              </a:rPr>
              <a:t>Docker Compose</a:t>
            </a:r>
            <a:endParaRPr lang="en-US" sz="900" dirty="0"/>
          </a:p>
          <a:p>
            <a:pPr marL="0" indent="0" algn="ctr">
              <a:lnSpc>
                <a:spcPct val="95000"/>
              </a:lnSpc>
              <a:buNone/>
            </a:pPr>
            <a:r>
              <a:rPr lang="en-US" sz="900" dirty="0">
                <a:solidFill>
                  <a:srgbClr val="7F849C"/>
                </a:solidFill>
                <a:latin typeface="Consolas" pitchFamily="34" charset="0"/>
                <a:ea typeface="Consolas" pitchFamily="34" charset="-122"/>
                <a:cs typeface="Consolas" pitchFamily="34" charset="-120"/>
              </a:rPr>
              <a:t>12 services</a:t>
            </a:r>
            <a:endParaRPr lang="en-US" sz="900" dirty="0"/>
          </a:p>
        </p:txBody>
      </p:sp>
      <p:sp>
        <p:nvSpPr>
          <p:cNvPr id="59" name="Shape 52"/>
          <p:cNvSpPr/>
          <p:nvPr/>
        </p:nvSpPr>
        <p:spPr>
          <a:xfrm>
            <a:off x="2743200" y="2231136"/>
            <a:ext cx="0" cy="438912"/>
          </a:xfrm>
          <a:prstGeom prst="line">
            <a:avLst/>
          </a:prstGeom>
          <a:noFill/>
          <a:ln w="19050">
            <a:solidFill>
              <a:srgbClr val="CBA6F7"/>
            </a:solidFill>
            <a:prstDash val="solid"/>
            <a:tailEnd type="triangle"/>
          </a:ln>
        </p:spPr>
      </p:sp>
      <p:sp>
        <p:nvSpPr>
          <p:cNvPr id="60" name="Text 53"/>
          <p:cNvSpPr/>
          <p:nvPr/>
        </p:nvSpPr>
        <p:spPr>
          <a:xfrm>
            <a:off x="2331720" y="2286000"/>
            <a:ext cx="1097280" cy="228600"/>
          </a:xfrm>
          <a:prstGeom prst="rect">
            <a:avLst/>
          </a:prstGeom>
          <a:noFill/>
          <a:ln/>
        </p:spPr>
        <p:txBody>
          <a:bodyPr wrap="square" lIns="0" tIns="0" rIns="0" bIns="0" rtlCol="0" anchor="ctr"/>
          <a:lstStyle/>
          <a:p>
            <a:pPr marL="0" indent="0">
              <a:buNone/>
            </a:pPr>
            <a:r>
              <a:rPr lang="en-US" sz="750" dirty="0">
                <a:solidFill>
                  <a:srgbClr val="A6ADC8"/>
                </a:solidFill>
                <a:latin typeface="Consolas" pitchFamily="34" charset="0"/>
                <a:ea typeface="Consolas" pitchFamily="34" charset="-122"/>
                <a:cs typeface="Consolas" pitchFamily="34" charset="-120"/>
              </a:rPr>
              <a:t>/api/**</a:t>
            </a:r>
            <a:endParaRPr lang="en-US" sz="750" dirty="0"/>
          </a:p>
        </p:txBody>
      </p:sp>
      <p:sp>
        <p:nvSpPr>
          <p:cNvPr id="61" name="Shape 54"/>
          <p:cNvSpPr/>
          <p:nvPr/>
        </p:nvSpPr>
        <p:spPr>
          <a:xfrm>
            <a:off x="9235440" y="2231136"/>
            <a:ext cx="0" cy="1536192"/>
          </a:xfrm>
          <a:prstGeom prst="line">
            <a:avLst/>
          </a:prstGeom>
          <a:noFill/>
          <a:ln w="19050">
            <a:solidFill>
              <a:srgbClr val="CBA6F7"/>
            </a:solidFill>
            <a:prstDash val="solid"/>
            <a:tailEnd type="triangle"/>
          </a:ln>
        </p:spPr>
      </p:sp>
      <p:sp>
        <p:nvSpPr>
          <p:cNvPr id="62" name="Text 55"/>
          <p:cNvSpPr/>
          <p:nvPr/>
        </p:nvSpPr>
        <p:spPr>
          <a:xfrm>
            <a:off x="8732520" y="3154680"/>
            <a:ext cx="1463040" cy="228600"/>
          </a:xfrm>
          <a:prstGeom prst="rect">
            <a:avLst/>
          </a:prstGeom>
          <a:noFill/>
          <a:ln/>
        </p:spPr>
        <p:txBody>
          <a:bodyPr wrap="square" lIns="0" tIns="0" rIns="0" bIns="0" rtlCol="0" anchor="ctr"/>
          <a:lstStyle/>
          <a:p>
            <a:pPr marL="0" indent="0">
              <a:buNone/>
            </a:pPr>
            <a:r>
              <a:rPr lang="en-US" sz="750" dirty="0">
                <a:solidFill>
                  <a:srgbClr val="A6ADC8"/>
                </a:solidFill>
                <a:latin typeface="Consolas" pitchFamily="34" charset="0"/>
                <a:ea typeface="Consolas" pitchFamily="34" charset="-122"/>
                <a:cs typeface="Consolas" pitchFamily="34" charset="-120"/>
              </a:rPr>
              <a:t>/api/agents/**</a:t>
            </a:r>
            <a:endParaRPr lang="en-US" sz="750" dirty="0"/>
          </a:p>
        </p:txBody>
      </p:sp>
      <p:sp>
        <p:nvSpPr>
          <p:cNvPr id="63" name="Shape 56"/>
          <p:cNvSpPr/>
          <p:nvPr/>
        </p:nvSpPr>
        <p:spPr>
          <a:xfrm>
            <a:off x="5989320" y="4297680"/>
            <a:ext cx="0" cy="256032"/>
          </a:xfrm>
          <a:prstGeom prst="line">
            <a:avLst/>
          </a:prstGeom>
          <a:noFill/>
          <a:ln w="15240">
            <a:solidFill>
              <a:srgbClr val="89B4FA"/>
            </a:solidFill>
            <a:prstDash val="solid"/>
            <a:tailEnd type="triangle"/>
          </a:ln>
        </p:spPr>
      </p:sp>
      <p:sp>
        <p:nvSpPr>
          <p:cNvPr id="64" name="Shape 57"/>
          <p:cNvSpPr/>
          <p:nvPr/>
        </p:nvSpPr>
        <p:spPr>
          <a:xfrm>
            <a:off x="2926080" y="4297680"/>
            <a:ext cx="0" cy="256032"/>
          </a:xfrm>
          <a:prstGeom prst="line">
            <a:avLst/>
          </a:prstGeom>
          <a:noFill/>
          <a:ln w="15240">
            <a:solidFill>
              <a:srgbClr val="89B4FA"/>
            </a:solidFill>
            <a:prstDash val="solid"/>
            <a:tailEnd type="triangle"/>
          </a:ln>
        </p:spPr>
      </p:sp>
      <p:sp>
        <p:nvSpPr>
          <p:cNvPr id="65" name="Shape 58"/>
          <p:cNvSpPr/>
          <p:nvPr/>
        </p:nvSpPr>
        <p:spPr>
          <a:xfrm>
            <a:off x="4754880" y="4297680"/>
            <a:ext cx="0" cy="256032"/>
          </a:xfrm>
          <a:prstGeom prst="line">
            <a:avLst/>
          </a:prstGeom>
          <a:noFill/>
          <a:ln w="15240">
            <a:solidFill>
              <a:srgbClr val="89B4FA"/>
            </a:solidFill>
            <a:prstDash val="solid"/>
            <a:tailEnd type="triangle"/>
          </a:ln>
        </p:spPr>
      </p:sp>
      <p:sp>
        <p:nvSpPr>
          <p:cNvPr id="66" name="Shape 59"/>
          <p:cNvSpPr/>
          <p:nvPr/>
        </p:nvSpPr>
        <p:spPr>
          <a:xfrm>
            <a:off x="8503920" y="4297680"/>
            <a:ext cx="0" cy="256032"/>
          </a:xfrm>
          <a:prstGeom prst="line">
            <a:avLst/>
          </a:prstGeom>
          <a:noFill/>
          <a:ln w="15240">
            <a:solidFill>
              <a:srgbClr val="89B4FA"/>
            </a:solidFill>
            <a:prstDash val="solid"/>
            <a:tailEnd type="triangle"/>
          </a:ln>
        </p:spPr>
      </p:sp>
      <p:sp>
        <p:nvSpPr>
          <p:cNvPr id="67" name="Shape 60"/>
          <p:cNvSpPr/>
          <p:nvPr/>
        </p:nvSpPr>
        <p:spPr>
          <a:xfrm>
            <a:off x="2944368" y="5303520"/>
            <a:ext cx="0" cy="402336"/>
          </a:xfrm>
          <a:prstGeom prst="line">
            <a:avLst/>
          </a:prstGeom>
          <a:noFill/>
          <a:ln w="12700">
            <a:solidFill>
              <a:srgbClr val="F9E2AF"/>
            </a:solidFill>
            <a:prstDash val="solid"/>
            <a:tailEnd type="triangle"/>
          </a:ln>
        </p:spPr>
      </p:sp>
      <p:sp>
        <p:nvSpPr>
          <p:cNvPr id="68" name="Shape 61"/>
          <p:cNvSpPr/>
          <p:nvPr/>
        </p:nvSpPr>
        <p:spPr>
          <a:xfrm>
            <a:off x="4773168" y="5303520"/>
            <a:ext cx="0" cy="402336"/>
          </a:xfrm>
          <a:prstGeom prst="line">
            <a:avLst/>
          </a:prstGeom>
          <a:noFill/>
          <a:ln w="12700">
            <a:solidFill>
              <a:srgbClr val="F9E2AF"/>
            </a:solidFill>
            <a:prstDash val="solid"/>
            <a:tailEnd type="triangle"/>
          </a:ln>
        </p:spPr>
      </p:sp>
      <p:sp>
        <p:nvSpPr>
          <p:cNvPr id="69" name="Shape 62"/>
          <p:cNvSpPr/>
          <p:nvPr/>
        </p:nvSpPr>
        <p:spPr>
          <a:xfrm>
            <a:off x="6601968" y="5303520"/>
            <a:ext cx="0" cy="402336"/>
          </a:xfrm>
          <a:prstGeom prst="line">
            <a:avLst/>
          </a:prstGeom>
          <a:noFill/>
          <a:ln w="12700">
            <a:solidFill>
              <a:srgbClr val="F9E2AF"/>
            </a:solidFill>
            <a:prstDash val="solid"/>
            <a:tailEnd type="triangle"/>
          </a:ln>
        </p:spPr>
      </p:sp>
      <p:sp>
        <p:nvSpPr>
          <p:cNvPr id="70" name="Shape 63"/>
          <p:cNvSpPr/>
          <p:nvPr/>
        </p:nvSpPr>
        <p:spPr>
          <a:xfrm>
            <a:off x="8522208" y="5303520"/>
            <a:ext cx="0" cy="402336"/>
          </a:xfrm>
          <a:prstGeom prst="line">
            <a:avLst/>
          </a:prstGeom>
          <a:noFill/>
          <a:ln w="12700">
            <a:solidFill>
              <a:srgbClr val="F9E2AF"/>
            </a:solidFill>
            <a:prstDash val="solid"/>
            <a:tailEnd type="triangle"/>
          </a:ln>
        </p:spPr>
      </p:sp>
      <p:sp>
        <p:nvSpPr>
          <p:cNvPr id="71" name="Shape 64"/>
          <p:cNvSpPr/>
          <p:nvPr/>
        </p:nvSpPr>
        <p:spPr>
          <a:xfrm>
            <a:off x="6702552" y="2999232"/>
            <a:ext cx="155448" cy="0"/>
          </a:xfrm>
          <a:prstGeom prst="line">
            <a:avLst/>
          </a:prstGeom>
          <a:noFill/>
          <a:ln w="15240">
            <a:solidFill>
              <a:srgbClr val="F9E2AF"/>
            </a:solidFill>
            <a:prstDash val="solid"/>
            <a:tailEnd type="triangle"/>
          </a:ln>
        </p:spPr>
      </p:sp>
      <p:sp>
        <p:nvSpPr>
          <p:cNvPr id="72" name="Shape 65"/>
          <p:cNvSpPr/>
          <p:nvPr/>
        </p:nvSpPr>
        <p:spPr>
          <a:xfrm>
            <a:off x="3566160" y="2542032"/>
            <a:ext cx="6080760" cy="0"/>
          </a:xfrm>
          <a:prstGeom prst="line">
            <a:avLst/>
          </a:prstGeom>
          <a:noFill/>
          <a:ln w="12700">
            <a:solidFill>
              <a:srgbClr val="A6E3A1"/>
            </a:solidFill>
            <a:prstDash val="dash"/>
          </a:ln>
        </p:spPr>
      </p:sp>
      <p:sp>
        <p:nvSpPr>
          <p:cNvPr id="73" name="Text 66"/>
          <p:cNvSpPr/>
          <p:nvPr/>
        </p:nvSpPr>
        <p:spPr>
          <a:xfrm>
            <a:off x="8229600" y="2331720"/>
            <a:ext cx="1371600" cy="201168"/>
          </a:xfrm>
          <a:prstGeom prst="rect">
            <a:avLst/>
          </a:prstGeom>
          <a:noFill/>
          <a:ln/>
        </p:spPr>
        <p:txBody>
          <a:bodyPr wrap="square" lIns="0" tIns="0" rIns="0" bIns="0" rtlCol="0" anchor="ctr"/>
          <a:lstStyle/>
          <a:p>
            <a:pPr marL="0" indent="0" algn="r">
              <a:buNone/>
            </a:pPr>
            <a:r>
              <a:rPr lang="en-US" sz="750" dirty="0">
                <a:solidFill>
                  <a:srgbClr val="A6E3A1"/>
                </a:solidFill>
                <a:latin typeface="Consolas" pitchFamily="34" charset="0"/>
                <a:ea typeface="Consolas" pitchFamily="34" charset="-122"/>
                <a:cs typeface="Consolas" pitchFamily="34" charset="-120"/>
              </a:rPr>
              <a:t>register ⟳</a:t>
            </a:r>
            <a:endParaRPr lang="en-US" sz="750" dirty="0"/>
          </a:p>
        </p:txBody>
      </p:sp>
      <p:sp>
        <p:nvSpPr>
          <p:cNvPr id="74" name="Shape 67"/>
          <p:cNvSpPr/>
          <p:nvPr/>
        </p:nvSpPr>
        <p:spPr>
          <a:xfrm>
            <a:off x="9464040" y="4069080"/>
            <a:ext cx="182880" cy="228600"/>
          </a:xfrm>
          <a:prstGeom prst="line">
            <a:avLst/>
          </a:prstGeom>
          <a:noFill/>
          <a:ln w="12700">
            <a:solidFill>
              <a:srgbClr val="F9E2AF"/>
            </a:solidFill>
            <a:prstDash val="dash"/>
          </a:ln>
        </p:spPr>
      </p:sp>
      <p:sp>
        <p:nvSpPr>
          <p:cNvPr id="75" name="Text 68"/>
          <p:cNvSpPr/>
          <p:nvPr/>
        </p:nvSpPr>
        <p:spPr>
          <a:xfrm>
            <a:off x="1965960" y="6510528"/>
            <a:ext cx="7498080" cy="274320"/>
          </a:xfrm>
          <a:prstGeom prst="rect">
            <a:avLst/>
          </a:prstGeom>
          <a:noFill/>
          <a:ln/>
        </p:spPr>
        <p:txBody>
          <a:bodyPr wrap="square" lIns="0" tIns="0" rIns="0" bIns="0" rtlCol="0" anchor="ctr"/>
          <a:lstStyle/>
          <a:p>
            <a:pPr marL="0" indent="0">
              <a:buNone/>
            </a:pPr>
            <a:r>
              <a:rPr lang="en-US" sz="950" i="1" dirty="0">
                <a:solidFill>
                  <a:srgbClr val="7F849C"/>
                </a:solidFill>
                <a:latin typeface="Calibri" pitchFamily="34" charset="0"/>
                <a:ea typeface="Calibri" pitchFamily="34" charset="-122"/>
                <a:cs typeface="Calibri" pitchFamily="34" charset="-120"/>
              </a:rPr>
              <a:t>L'Orchestrateur délègue aux 3 agents spécialisés via appels HTTP</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cubes.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89B4FA"/>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Stack technologique</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10</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572768"/>
            <a:ext cx="11055096" cy="676656"/>
          </a:xfrm>
          <a:prstGeom prst="roundRect">
            <a:avLst>
              <a:gd name="adj" fmla="val 8108"/>
            </a:avLst>
          </a:prstGeom>
          <a:solidFill>
            <a:srgbClr val="232338"/>
          </a:solidFill>
          <a:ln w="12700">
            <a:solidFill>
              <a:srgbClr val="313244"/>
            </a:solidFill>
            <a:prstDash val="solid"/>
          </a:ln>
        </p:spPr>
      </p:sp>
      <p:sp>
        <p:nvSpPr>
          <p:cNvPr id="9" name="Shape 6"/>
          <p:cNvSpPr/>
          <p:nvPr/>
        </p:nvSpPr>
        <p:spPr>
          <a:xfrm>
            <a:off x="566928" y="1664208"/>
            <a:ext cx="64008" cy="493776"/>
          </a:xfrm>
          <a:prstGeom prst="rect">
            <a:avLst/>
          </a:prstGeom>
          <a:solidFill>
            <a:srgbClr val="CBA6F7"/>
          </a:solidFill>
          <a:ln/>
        </p:spPr>
      </p:sp>
      <p:sp>
        <p:nvSpPr>
          <p:cNvPr id="10" name="Shape 7"/>
          <p:cNvSpPr/>
          <p:nvPr/>
        </p:nvSpPr>
        <p:spPr>
          <a:xfrm>
            <a:off x="768096" y="1691640"/>
            <a:ext cx="438912" cy="438912"/>
          </a:xfrm>
          <a:prstGeom prst="roundRect">
            <a:avLst>
              <a:gd name="adj" fmla="val 20833"/>
            </a:avLst>
          </a:prstGeom>
          <a:solidFill>
            <a:srgbClr val="11111B"/>
          </a:solidFill>
          <a:ln w="12700">
            <a:solidFill>
              <a:srgbClr val="CBA6F7"/>
            </a:solidFill>
            <a:prstDash val="solid"/>
          </a:ln>
        </p:spPr>
      </p:sp>
      <p:pic>
        <p:nvPicPr>
          <p:cNvPr id="11" name="Image 1" descr="assets/ic_code.png"/>
          <p:cNvPicPr>
            <a:picLocks noChangeAspect="1"/>
          </p:cNvPicPr>
          <p:nvPr/>
        </p:nvPicPr>
        <p:blipFill>
          <a:blip r:embed="rId4"/>
          <a:stretch>
            <a:fillRect/>
          </a:stretch>
        </p:blipFill>
        <p:spPr>
          <a:xfrm>
            <a:off x="877824" y="1801368"/>
            <a:ext cx="219456" cy="219456"/>
          </a:xfrm>
          <a:prstGeom prst="rect">
            <a:avLst/>
          </a:prstGeom>
        </p:spPr>
      </p:pic>
      <p:sp>
        <p:nvSpPr>
          <p:cNvPr id="12" name="Text 8"/>
          <p:cNvSpPr/>
          <p:nvPr/>
        </p:nvSpPr>
        <p:spPr>
          <a:xfrm>
            <a:off x="1344168" y="1572768"/>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Frontend</a:t>
            </a:r>
            <a:endParaRPr lang="en-US" sz="1400" dirty="0"/>
          </a:p>
        </p:txBody>
      </p:sp>
      <p:sp>
        <p:nvSpPr>
          <p:cNvPr id="13" name="Text 9"/>
          <p:cNvSpPr/>
          <p:nvPr/>
        </p:nvSpPr>
        <p:spPr>
          <a:xfrm>
            <a:off x="3721608" y="1572768"/>
            <a:ext cx="3840480" cy="676656"/>
          </a:xfrm>
          <a:prstGeom prst="rect">
            <a:avLst/>
          </a:prstGeom>
          <a:noFill/>
          <a:ln/>
        </p:spPr>
        <p:txBody>
          <a:bodyPr wrap="square" lIns="0" tIns="0" rIns="0" bIns="0" rtlCol="0" anchor="ctr"/>
          <a:lstStyle/>
          <a:p>
            <a:pPr marL="0" indent="0">
              <a:buNone/>
            </a:pPr>
            <a:r>
              <a:rPr lang="en-US" sz="1200" b="1" dirty="0">
                <a:solidFill>
                  <a:srgbClr val="CBA6F7"/>
                </a:solidFill>
                <a:latin typeface="Calibri" pitchFamily="34" charset="0"/>
                <a:ea typeface="Calibri" pitchFamily="34" charset="-122"/>
                <a:cs typeface="Calibri" pitchFamily="34" charset="-120"/>
              </a:rPr>
              <a:t>Next.js 14 · TypeScript · TailwindCSS</a:t>
            </a:r>
            <a:endParaRPr lang="en-US" sz="1200" dirty="0"/>
          </a:p>
        </p:txBody>
      </p:sp>
      <p:sp>
        <p:nvSpPr>
          <p:cNvPr id="14" name="Text 10"/>
          <p:cNvSpPr/>
          <p:nvPr/>
        </p:nvSpPr>
        <p:spPr>
          <a:xfrm>
            <a:off x="7653528" y="1572768"/>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Thème Catppuccin Mocha · éditeur anti-paste · preview HTML live</a:t>
            </a:r>
            <a:endParaRPr lang="en-US" sz="1100" dirty="0"/>
          </a:p>
        </p:txBody>
      </p:sp>
      <p:sp>
        <p:nvSpPr>
          <p:cNvPr id="15" name="Shape 11"/>
          <p:cNvSpPr/>
          <p:nvPr/>
        </p:nvSpPr>
        <p:spPr>
          <a:xfrm>
            <a:off x="566928" y="2286000"/>
            <a:ext cx="11055096" cy="676656"/>
          </a:xfrm>
          <a:prstGeom prst="roundRect">
            <a:avLst>
              <a:gd name="adj" fmla="val 8108"/>
            </a:avLst>
          </a:prstGeom>
          <a:solidFill>
            <a:srgbClr val="1E1E2E"/>
          </a:solidFill>
          <a:ln w="12700">
            <a:solidFill>
              <a:srgbClr val="313244"/>
            </a:solidFill>
            <a:prstDash val="solid"/>
          </a:ln>
        </p:spPr>
      </p:sp>
      <p:sp>
        <p:nvSpPr>
          <p:cNvPr id="16" name="Shape 12"/>
          <p:cNvSpPr/>
          <p:nvPr/>
        </p:nvSpPr>
        <p:spPr>
          <a:xfrm>
            <a:off x="566928" y="2377440"/>
            <a:ext cx="64008" cy="493776"/>
          </a:xfrm>
          <a:prstGeom prst="rect">
            <a:avLst/>
          </a:prstGeom>
          <a:solidFill>
            <a:srgbClr val="A6E3A1"/>
          </a:solidFill>
          <a:ln/>
        </p:spPr>
      </p:sp>
      <p:sp>
        <p:nvSpPr>
          <p:cNvPr id="17" name="Shape 13"/>
          <p:cNvSpPr/>
          <p:nvPr/>
        </p:nvSpPr>
        <p:spPr>
          <a:xfrm>
            <a:off x="768096" y="2404872"/>
            <a:ext cx="438912" cy="438912"/>
          </a:xfrm>
          <a:prstGeom prst="roundRect">
            <a:avLst>
              <a:gd name="adj" fmla="val 20833"/>
            </a:avLst>
          </a:prstGeom>
          <a:solidFill>
            <a:srgbClr val="11111B"/>
          </a:solidFill>
          <a:ln w="12700">
            <a:solidFill>
              <a:srgbClr val="A6E3A1"/>
            </a:solidFill>
            <a:prstDash val="solid"/>
          </a:ln>
        </p:spPr>
      </p:sp>
      <p:pic>
        <p:nvPicPr>
          <p:cNvPr id="18" name="Image 2" descr="assets/ic_server.png"/>
          <p:cNvPicPr>
            <a:picLocks noChangeAspect="1"/>
          </p:cNvPicPr>
          <p:nvPr/>
        </p:nvPicPr>
        <p:blipFill>
          <a:blip r:embed="rId5"/>
          <a:stretch>
            <a:fillRect/>
          </a:stretch>
        </p:blipFill>
        <p:spPr>
          <a:xfrm>
            <a:off x="877824" y="2514600"/>
            <a:ext cx="219456" cy="219456"/>
          </a:xfrm>
          <a:prstGeom prst="rect">
            <a:avLst/>
          </a:prstGeom>
        </p:spPr>
      </p:pic>
      <p:sp>
        <p:nvSpPr>
          <p:cNvPr id="19" name="Text 14"/>
          <p:cNvSpPr/>
          <p:nvPr/>
        </p:nvSpPr>
        <p:spPr>
          <a:xfrm>
            <a:off x="1344168" y="2286000"/>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Microservices</a:t>
            </a:r>
            <a:endParaRPr lang="en-US" sz="1400" dirty="0"/>
          </a:p>
        </p:txBody>
      </p:sp>
      <p:sp>
        <p:nvSpPr>
          <p:cNvPr id="20" name="Text 15"/>
          <p:cNvSpPr/>
          <p:nvPr/>
        </p:nvSpPr>
        <p:spPr>
          <a:xfrm>
            <a:off x="3721608" y="2286000"/>
            <a:ext cx="3840480" cy="676656"/>
          </a:xfrm>
          <a:prstGeom prst="rect">
            <a:avLst/>
          </a:prstGeom>
          <a:noFill/>
          <a:ln/>
        </p:spPr>
        <p:txBody>
          <a:bodyPr wrap="square" lIns="0" tIns="0" rIns="0" bIns="0" rtlCol="0" anchor="ctr"/>
          <a:lstStyle/>
          <a:p>
            <a:pPr marL="0" indent="0">
              <a:buNone/>
            </a:pPr>
            <a:r>
              <a:rPr lang="en-US" sz="1200" b="1" dirty="0">
                <a:solidFill>
                  <a:srgbClr val="A6E3A1"/>
                </a:solidFill>
                <a:latin typeface="Calibri" pitchFamily="34" charset="0"/>
                <a:ea typeface="Calibri" pitchFamily="34" charset="-122"/>
                <a:cs typeface="Calibri" pitchFamily="34" charset="-120"/>
              </a:rPr>
              <a:t>Spring Boot 3.3.4 · Spring Security</a:t>
            </a:r>
            <a:endParaRPr lang="en-US" sz="1200" dirty="0"/>
          </a:p>
        </p:txBody>
      </p:sp>
      <p:sp>
        <p:nvSpPr>
          <p:cNvPr id="21" name="Text 16"/>
          <p:cNvSpPr/>
          <p:nvPr/>
        </p:nvSpPr>
        <p:spPr>
          <a:xfrm>
            <a:off x="7653528" y="2286000"/>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Auth (JWT jjwt 0.12 · BCrypt) · TP Service (JPA, colonnes JSON)</a:t>
            </a:r>
            <a:endParaRPr lang="en-US" sz="1100" dirty="0"/>
          </a:p>
        </p:txBody>
      </p:sp>
      <p:sp>
        <p:nvSpPr>
          <p:cNvPr id="22" name="Shape 17"/>
          <p:cNvSpPr/>
          <p:nvPr/>
        </p:nvSpPr>
        <p:spPr>
          <a:xfrm>
            <a:off x="566928" y="2999232"/>
            <a:ext cx="11055096" cy="676656"/>
          </a:xfrm>
          <a:prstGeom prst="roundRect">
            <a:avLst>
              <a:gd name="adj" fmla="val 8108"/>
            </a:avLst>
          </a:prstGeom>
          <a:solidFill>
            <a:srgbClr val="232338"/>
          </a:solidFill>
          <a:ln w="12700">
            <a:solidFill>
              <a:srgbClr val="313244"/>
            </a:solidFill>
            <a:prstDash val="solid"/>
          </a:ln>
        </p:spPr>
      </p:sp>
      <p:sp>
        <p:nvSpPr>
          <p:cNvPr id="23" name="Shape 18"/>
          <p:cNvSpPr/>
          <p:nvPr/>
        </p:nvSpPr>
        <p:spPr>
          <a:xfrm>
            <a:off x="566928" y="3090672"/>
            <a:ext cx="64008" cy="493776"/>
          </a:xfrm>
          <a:prstGeom prst="rect">
            <a:avLst/>
          </a:prstGeom>
          <a:solidFill>
            <a:srgbClr val="A6E3A1"/>
          </a:solidFill>
          <a:ln/>
        </p:spPr>
      </p:sp>
      <p:sp>
        <p:nvSpPr>
          <p:cNvPr id="24" name="Shape 19"/>
          <p:cNvSpPr/>
          <p:nvPr/>
        </p:nvSpPr>
        <p:spPr>
          <a:xfrm>
            <a:off x="768096" y="3118104"/>
            <a:ext cx="438912" cy="438912"/>
          </a:xfrm>
          <a:prstGeom prst="roundRect">
            <a:avLst>
              <a:gd name="adj" fmla="val 20833"/>
            </a:avLst>
          </a:prstGeom>
          <a:solidFill>
            <a:srgbClr val="11111B"/>
          </a:solidFill>
          <a:ln w="12700">
            <a:solidFill>
              <a:srgbClr val="A6E3A1"/>
            </a:solidFill>
            <a:prstDash val="solid"/>
          </a:ln>
        </p:spPr>
      </p:sp>
      <p:pic>
        <p:nvPicPr>
          <p:cNvPr id="25" name="Image 3" descr="assets/ic_network.png"/>
          <p:cNvPicPr>
            <a:picLocks noChangeAspect="1"/>
          </p:cNvPicPr>
          <p:nvPr/>
        </p:nvPicPr>
        <p:blipFill>
          <a:blip r:embed="rId6"/>
          <a:stretch>
            <a:fillRect/>
          </a:stretch>
        </p:blipFill>
        <p:spPr>
          <a:xfrm>
            <a:off x="877824" y="3227832"/>
            <a:ext cx="219456" cy="219456"/>
          </a:xfrm>
          <a:prstGeom prst="rect">
            <a:avLst/>
          </a:prstGeom>
        </p:spPr>
      </p:pic>
      <p:sp>
        <p:nvSpPr>
          <p:cNvPr id="26" name="Text 20"/>
          <p:cNvSpPr/>
          <p:nvPr/>
        </p:nvSpPr>
        <p:spPr>
          <a:xfrm>
            <a:off x="1344168" y="2999232"/>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Gateway &amp; Discovery</a:t>
            </a:r>
            <a:endParaRPr lang="en-US" sz="1400" dirty="0"/>
          </a:p>
        </p:txBody>
      </p:sp>
      <p:sp>
        <p:nvSpPr>
          <p:cNvPr id="27" name="Text 21"/>
          <p:cNvSpPr/>
          <p:nvPr/>
        </p:nvSpPr>
        <p:spPr>
          <a:xfrm>
            <a:off x="3721608" y="2999232"/>
            <a:ext cx="3840480" cy="676656"/>
          </a:xfrm>
          <a:prstGeom prst="rect">
            <a:avLst/>
          </a:prstGeom>
          <a:noFill/>
          <a:ln/>
        </p:spPr>
        <p:txBody>
          <a:bodyPr wrap="square" lIns="0" tIns="0" rIns="0" bIns="0" rtlCol="0" anchor="ctr"/>
          <a:lstStyle/>
          <a:p>
            <a:pPr marL="0" indent="0">
              <a:buNone/>
            </a:pPr>
            <a:r>
              <a:rPr lang="en-US" sz="1200" b="1" dirty="0">
                <a:solidFill>
                  <a:srgbClr val="A6E3A1"/>
                </a:solidFill>
                <a:latin typeface="Calibri" pitchFamily="34" charset="0"/>
                <a:ea typeface="Calibri" pitchFamily="34" charset="-122"/>
                <a:cs typeface="Calibri" pitchFamily="34" charset="-120"/>
              </a:rPr>
              <a:t>Spring Cloud Gateway · Netflix Eureka</a:t>
            </a:r>
            <a:endParaRPr lang="en-US" sz="1200" dirty="0"/>
          </a:p>
        </p:txBody>
      </p:sp>
      <p:sp>
        <p:nvSpPr>
          <p:cNvPr id="28" name="Text 22"/>
          <p:cNvSpPr/>
          <p:nvPr/>
        </p:nvSpPr>
        <p:spPr>
          <a:xfrm>
            <a:off x="7653528" y="2999232"/>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AuthFilter JWT · CORS · routage · registre de services</a:t>
            </a:r>
            <a:endParaRPr lang="en-US" sz="1100" dirty="0"/>
          </a:p>
        </p:txBody>
      </p:sp>
      <p:sp>
        <p:nvSpPr>
          <p:cNvPr id="29" name="Shape 23"/>
          <p:cNvSpPr/>
          <p:nvPr/>
        </p:nvSpPr>
        <p:spPr>
          <a:xfrm>
            <a:off x="566928" y="3712464"/>
            <a:ext cx="11055096" cy="676656"/>
          </a:xfrm>
          <a:prstGeom prst="roundRect">
            <a:avLst>
              <a:gd name="adj" fmla="val 8108"/>
            </a:avLst>
          </a:prstGeom>
          <a:solidFill>
            <a:srgbClr val="1E1E2E"/>
          </a:solidFill>
          <a:ln w="12700">
            <a:solidFill>
              <a:srgbClr val="313244"/>
            </a:solidFill>
            <a:prstDash val="solid"/>
          </a:ln>
        </p:spPr>
      </p:sp>
      <p:sp>
        <p:nvSpPr>
          <p:cNvPr id="30" name="Shape 24"/>
          <p:cNvSpPr/>
          <p:nvPr/>
        </p:nvSpPr>
        <p:spPr>
          <a:xfrm>
            <a:off x="566928" y="3803904"/>
            <a:ext cx="64008" cy="493776"/>
          </a:xfrm>
          <a:prstGeom prst="rect">
            <a:avLst/>
          </a:prstGeom>
          <a:solidFill>
            <a:srgbClr val="89B4FA"/>
          </a:solidFill>
          <a:ln/>
        </p:spPr>
      </p:sp>
      <p:sp>
        <p:nvSpPr>
          <p:cNvPr id="31" name="Shape 25"/>
          <p:cNvSpPr/>
          <p:nvPr/>
        </p:nvSpPr>
        <p:spPr>
          <a:xfrm>
            <a:off x="768096" y="3831336"/>
            <a:ext cx="438912" cy="438912"/>
          </a:xfrm>
          <a:prstGeom prst="roundRect">
            <a:avLst>
              <a:gd name="adj" fmla="val 20833"/>
            </a:avLst>
          </a:prstGeom>
          <a:solidFill>
            <a:srgbClr val="11111B"/>
          </a:solidFill>
          <a:ln w="12700">
            <a:solidFill>
              <a:srgbClr val="89B4FA"/>
            </a:solidFill>
            <a:prstDash val="solid"/>
          </a:ln>
        </p:spPr>
      </p:sp>
      <p:pic>
        <p:nvPicPr>
          <p:cNvPr id="32" name="Image 4" descr="assets/ic_robot.png"/>
          <p:cNvPicPr>
            <a:picLocks noChangeAspect="1"/>
          </p:cNvPicPr>
          <p:nvPr/>
        </p:nvPicPr>
        <p:blipFill>
          <a:blip r:embed="rId7"/>
          <a:stretch>
            <a:fillRect/>
          </a:stretch>
        </p:blipFill>
        <p:spPr>
          <a:xfrm>
            <a:off x="877824" y="3941064"/>
            <a:ext cx="219456" cy="219456"/>
          </a:xfrm>
          <a:prstGeom prst="rect">
            <a:avLst/>
          </a:prstGeom>
        </p:spPr>
      </p:pic>
      <p:sp>
        <p:nvSpPr>
          <p:cNvPr id="33" name="Text 26"/>
          <p:cNvSpPr/>
          <p:nvPr/>
        </p:nvSpPr>
        <p:spPr>
          <a:xfrm>
            <a:off x="1344168" y="3712464"/>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Agents IA</a:t>
            </a:r>
            <a:endParaRPr lang="en-US" sz="1400" dirty="0"/>
          </a:p>
        </p:txBody>
      </p:sp>
      <p:sp>
        <p:nvSpPr>
          <p:cNvPr id="34" name="Text 27"/>
          <p:cNvSpPr/>
          <p:nvPr/>
        </p:nvSpPr>
        <p:spPr>
          <a:xfrm>
            <a:off x="3721608" y="3712464"/>
            <a:ext cx="3840480" cy="676656"/>
          </a:xfrm>
          <a:prstGeom prst="rect">
            <a:avLst/>
          </a:prstGeom>
          <a:noFill/>
          <a:ln/>
        </p:spPr>
        <p:txBody>
          <a:bodyPr wrap="square" lIns="0" tIns="0" rIns="0" bIns="0" rtlCol="0" anchor="ctr"/>
          <a:lstStyle/>
          <a:p>
            <a:pPr marL="0" indent="0">
              <a:buNone/>
            </a:pPr>
            <a:r>
              <a:rPr lang="en-US" sz="1200" b="1" dirty="0">
                <a:solidFill>
                  <a:srgbClr val="89B4FA"/>
                </a:solidFill>
                <a:latin typeface="Calibri" pitchFamily="34" charset="0"/>
                <a:ea typeface="Calibri" pitchFamily="34" charset="-122"/>
                <a:cs typeface="Calibri" pitchFamily="34" charset="-120"/>
              </a:rPr>
              <a:t>LangGraph · LangChain · FastAPI + uvicorn</a:t>
            </a:r>
            <a:endParaRPr lang="en-US" sz="1200" dirty="0"/>
          </a:p>
        </p:txBody>
      </p:sp>
      <p:sp>
        <p:nvSpPr>
          <p:cNvPr id="35" name="Text 28"/>
          <p:cNvSpPr/>
          <p:nvPr/>
        </p:nvSpPr>
        <p:spPr>
          <a:xfrm>
            <a:off x="7653528" y="3712464"/>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create_react_agent · un service &amp; venv isolé par agent</a:t>
            </a:r>
            <a:endParaRPr lang="en-US" sz="1100" dirty="0"/>
          </a:p>
        </p:txBody>
      </p:sp>
      <p:sp>
        <p:nvSpPr>
          <p:cNvPr id="36" name="Shape 29"/>
          <p:cNvSpPr/>
          <p:nvPr/>
        </p:nvSpPr>
        <p:spPr>
          <a:xfrm>
            <a:off x="566928" y="4425696"/>
            <a:ext cx="11055096" cy="676656"/>
          </a:xfrm>
          <a:prstGeom prst="roundRect">
            <a:avLst>
              <a:gd name="adj" fmla="val 8108"/>
            </a:avLst>
          </a:prstGeom>
          <a:solidFill>
            <a:srgbClr val="232338"/>
          </a:solidFill>
          <a:ln w="12700">
            <a:solidFill>
              <a:srgbClr val="313244"/>
            </a:solidFill>
            <a:prstDash val="solid"/>
          </a:ln>
        </p:spPr>
      </p:sp>
      <p:sp>
        <p:nvSpPr>
          <p:cNvPr id="37" name="Shape 30"/>
          <p:cNvSpPr/>
          <p:nvPr/>
        </p:nvSpPr>
        <p:spPr>
          <a:xfrm>
            <a:off x="566928" y="4517136"/>
            <a:ext cx="64008" cy="493776"/>
          </a:xfrm>
          <a:prstGeom prst="rect">
            <a:avLst/>
          </a:prstGeom>
          <a:solidFill>
            <a:srgbClr val="89B4FA"/>
          </a:solidFill>
          <a:ln/>
        </p:spPr>
      </p:sp>
      <p:sp>
        <p:nvSpPr>
          <p:cNvPr id="38" name="Shape 31"/>
          <p:cNvSpPr/>
          <p:nvPr/>
        </p:nvSpPr>
        <p:spPr>
          <a:xfrm>
            <a:off x="768096" y="4544568"/>
            <a:ext cx="438912" cy="438912"/>
          </a:xfrm>
          <a:prstGeom prst="roundRect">
            <a:avLst>
              <a:gd name="adj" fmla="val 20833"/>
            </a:avLst>
          </a:prstGeom>
          <a:solidFill>
            <a:srgbClr val="11111B"/>
          </a:solidFill>
          <a:ln w="12700">
            <a:solidFill>
              <a:srgbClr val="89B4FA"/>
            </a:solidFill>
            <a:prstDash val="solid"/>
          </a:ln>
        </p:spPr>
      </p:sp>
      <p:pic>
        <p:nvPicPr>
          <p:cNvPr id="39" name="Image 5" descr="assets/ic_brain.png"/>
          <p:cNvPicPr>
            <a:picLocks noChangeAspect="1"/>
          </p:cNvPicPr>
          <p:nvPr/>
        </p:nvPicPr>
        <p:blipFill>
          <a:blip r:embed="rId8"/>
          <a:stretch>
            <a:fillRect/>
          </a:stretch>
        </p:blipFill>
        <p:spPr>
          <a:xfrm>
            <a:off x="877824" y="4654296"/>
            <a:ext cx="219456" cy="219456"/>
          </a:xfrm>
          <a:prstGeom prst="rect">
            <a:avLst/>
          </a:prstGeom>
        </p:spPr>
      </p:pic>
      <p:sp>
        <p:nvSpPr>
          <p:cNvPr id="40" name="Text 32"/>
          <p:cNvSpPr/>
          <p:nvPr/>
        </p:nvSpPr>
        <p:spPr>
          <a:xfrm>
            <a:off x="1344168" y="4425696"/>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LLM Provider</a:t>
            </a:r>
            <a:endParaRPr lang="en-US" sz="1400" dirty="0"/>
          </a:p>
        </p:txBody>
      </p:sp>
      <p:sp>
        <p:nvSpPr>
          <p:cNvPr id="41" name="Text 33"/>
          <p:cNvSpPr/>
          <p:nvPr/>
        </p:nvSpPr>
        <p:spPr>
          <a:xfrm>
            <a:off x="3721608" y="4425696"/>
            <a:ext cx="3840480" cy="676656"/>
          </a:xfrm>
          <a:prstGeom prst="rect">
            <a:avLst/>
          </a:prstGeom>
          <a:noFill/>
          <a:ln/>
        </p:spPr>
        <p:txBody>
          <a:bodyPr wrap="square" lIns="0" tIns="0" rIns="0" bIns="0" rtlCol="0" anchor="ctr"/>
          <a:lstStyle/>
          <a:p>
            <a:pPr marL="0" indent="0">
              <a:buNone/>
            </a:pPr>
            <a:r>
              <a:rPr lang="en-US" sz="1200" b="1" dirty="0">
                <a:solidFill>
                  <a:srgbClr val="89B4FA"/>
                </a:solidFill>
                <a:latin typeface="Calibri" pitchFamily="34" charset="0"/>
                <a:ea typeface="Calibri" pitchFamily="34" charset="-122"/>
                <a:cs typeface="Calibri" pitchFamily="34" charset="-120"/>
              </a:rPr>
              <a:t>Ollama (local + cloud relay)</a:t>
            </a:r>
            <a:endParaRPr lang="en-US" sz="1200" dirty="0"/>
          </a:p>
        </p:txBody>
      </p:sp>
      <p:sp>
        <p:nvSpPr>
          <p:cNvPr id="42" name="Text 34"/>
          <p:cNvSpPr/>
          <p:nvPr/>
        </p:nvSpPr>
        <p:spPr>
          <a:xfrm>
            <a:off x="7653528" y="4425696"/>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mistral · deepseek-coder:6.7b · gemma4:31b · deepseek-v3.2</a:t>
            </a:r>
            <a:endParaRPr lang="en-US" sz="1100" dirty="0"/>
          </a:p>
        </p:txBody>
      </p:sp>
      <p:sp>
        <p:nvSpPr>
          <p:cNvPr id="43" name="Shape 35"/>
          <p:cNvSpPr/>
          <p:nvPr/>
        </p:nvSpPr>
        <p:spPr>
          <a:xfrm>
            <a:off x="566928" y="5138928"/>
            <a:ext cx="11055096" cy="676656"/>
          </a:xfrm>
          <a:prstGeom prst="roundRect">
            <a:avLst>
              <a:gd name="adj" fmla="val 8108"/>
            </a:avLst>
          </a:prstGeom>
          <a:solidFill>
            <a:srgbClr val="1E1E2E"/>
          </a:solidFill>
          <a:ln w="12700">
            <a:solidFill>
              <a:srgbClr val="313244"/>
            </a:solidFill>
            <a:prstDash val="solid"/>
          </a:ln>
        </p:spPr>
      </p:sp>
      <p:sp>
        <p:nvSpPr>
          <p:cNvPr id="44" name="Shape 36"/>
          <p:cNvSpPr/>
          <p:nvPr/>
        </p:nvSpPr>
        <p:spPr>
          <a:xfrm>
            <a:off x="566928" y="5230368"/>
            <a:ext cx="64008" cy="493776"/>
          </a:xfrm>
          <a:prstGeom prst="rect">
            <a:avLst/>
          </a:prstGeom>
          <a:solidFill>
            <a:srgbClr val="F9E2AF"/>
          </a:solidFill>
          <a:ln/>
        </p:spPr>
      </p:sp>
      <p:sp>
        <p:nvSpPr>
          <p:cNvPr id="45" name="Shape 37"/>
          <p:cNvSpPr/>
          <p:nvPr/>
        </p:nvSpPr>
        <p:spPr>
          <a:xfrm>
            <a:off x="768096" y="5257800"/>
            <a:ext cx="438912" cy="438912"/>
          </a:xfrm>
          <a:prstGeom prst="roundRect">
            <a:avLst>
              <a:gd name="adj" fmla="val 20833"/>
            </a:avLst>
          </a:prstGeom>
          <a:solidFill>
            <a:srgbClr val="11111B"/>
          </a:solidFill>
          <a:ln w="12700">
            <a:solidFill>
              <a:srgbClr val="F9E2AF"/>
            </a:solidFill>
            <a:prstDash val="solid"/>
          </a:ln>
        </p:spPr>
      </p:sp>
      <p:pic>
        <p:nvPicPr>
          <p:cNvPr id="46" name="Image 6" descr="assets/ic_db.png"/>
          <p:cNvPicPr>
            <a:picLocks noChangeAspect="1"/>
          </p:cNvPicPr>
          <p:nvPr/>
        </p:nvPicPr>
        <p:blipFill>
          <a:blip r:embed="rId9"/>
          <a:stretch>
            <a:fillRect/>
          </a:stretch>
        </p:blipFill>
        <p:spPr>
          <a:xfrm>
            <a:off x="877824" y="5367528"/>
            <a:ext cx="219456" cy="219456"/>
          </a:xfrm>
          <a:prstGeom prst="rect">
            <a:avLst/>
          </a:prstGeom>
        </p:spPr>
      </p:pic>
      <p:sp>
        <p:nvSpPr>
          <p:cNvPr id="47" name="Text 38"/>
          <p:cNvSpPr/>
          <p:nvPr/>
        </p:nvSpPr>
        <p:spPr>
          <a:xfrm>
            <a:off x="1344168" y="5138928"/>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Data &amp; Bus</a:t>
            </a:r>
            <a:endParaRPr lang="en-US" sz="1400" dirty="0"/>
          </a:p>
        </p:txBody>
      </p:sp>
      <p:sp>
        <p:nvSpPr>
          <p:cNvPr id="48" name="Text 39"/>
          <p:cNvSpPr/>
          <p:nvPr/>
        </p:nvSpPr>
        <p:spPr>
          <a:xfrm>
            <a:off x="3721608" y="5138928"/>
            <a:ext cx="3840480" cy="676656"/>
          </a:xfrm>
          <a:prstGeom prst="rect">
            <a:avLst/>
          </a:prstGeom>
          <a:noFill/>
          <a:ln/>
        </p:spPr>
        <p:txBody>
          <a:bodyPr wrap="square" lIns="0" tIns="0" rIns="0" bIns="0" rtlCol="0" anchor="ctr"/>
          <a:lstStyle/>
          <a:p>
            <a:pPr marL="0" indent="0">
              <a:buNone/>
            </a:pPr>
            <a:r>
              <a:rPr lang="en-US" sz="1200" b="1" dirty="0">
                <a:solidFill>
                  <a:srgbClr val="F9E2AF"/>
                </a:solidFill>
                <a:latin typeface="Calibri" pitchFamily="34" charset="0"/>
                <a:ea typeface="Calibri" pitchFamily="34" charset="-122"/>
                <a:cs typeface="Calibri" pitchFamily="34" charset="-120"/>
              </a:rPr>
              <a:t>PostgreSQL 16 · Apache Kafka</a:t>
            </a:r>
            <a:endParaRPr lang="en-US" sz="1200" dirty="0"/>
          </a:p>
        </p:txBody>
      </p:sp>
      <p:sp>
        <p:nvSpPr>
          <p:cNvPr id="49" name="Text 40"/>
          <p:cNvSpPr/>
          <p:nvPr/>
        </p:nvSpPr>
        <p:spPr>
          <a:xfrm>
            <a:off x="7653528" y="5138928"/>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auth_db + tp_db · colonnes JSON · 6 topics async définis</a:t>
            </a:r>
            <a:endParaRPr lang="en-US" sz="1100" dirty="0"/>
          </a:p>
        </p:txBody>
      </p:sp>
      <p:sp>
        <p:nvSpPr>
          <p:cNvPr id="50" name="Shape 41"/>
          <p:cNvSpPr/>
          <p:nvPr/>
        </p:nvSpPr>
        <p:spPr>
          <a:xfrm>
            <a:off x="566928" y="5852160"/>
            <a:ext cx="11055096" cy="676656"/>
          </a:xfrm>
          <a:prstGeom prst="roundRect">
            <a:avLst>
              <a:gd name="adj" fmla="val 8108"/>
            </a:avLst>
          </a:prstGeom>
          <a:solidFill>
            <a:srgbClr val="232338"/>
          </a:solidFill>
          <a:ln w="12700">
            <a:solidFill>
              <a:srgbClr val="313244"/>
            </a:solidFill>
            <a:prstDash val="solid"/>
          </a:ln>
        </p:spPr>
      </p:sp>
      <p:sp>
        <p:nvSpPr>
          <p:cNvPr id="51" name="Shape 42"/>
          <p:cNvSpPr/>
          <p:nvPr/>
        </p:nvSpPr>
        <p:spPr>
          <a:xfrm>
            <a:off x="566928" y="5943600"/>
            <a:ext cx="64008" cy="493776"/>
          </a:xfrm>
          <a:prstGeom prst="rect">
            <a:avLst/>
          </a:prstGeom>
          <a:solidFill>
            <a:srgbClr val="FAB387"/>
          </a:solidFill>
          <a:ln/>
        </p:spPr>
      </p:sp>
      <p:sp>
        <p:nvSpPr>
          <p:cNvPr id="52" name="Shape 43"/>
          <p:cNvSpPr/>
          <p:nvPr/>
        </p:nvSpPr>
        <p:spPr>
          <a:xfrm>
            <a:off x="768096" y="5971032"/>
            <a:ext cx="438912" cy="438912"/>
          </a:xfrm>
          <a:prstGeom prst="roundRect">
            <a:avLst>
              <a:gd name="adj" fmla="val 20833"/>
            </a:avLst>
          </a:prstGeom>
          <a:solidFill>
            <a:srgbClr val="11111B"/>
          </a:solidFill>
          <a:ln w="12700">
            <a:solidFill>
              <a:srgbClr val="FAB387"/>
            </a:solidFill>
            <a:prstDash val="solid"/>
          </a:ln>
        </p:spPr>
      </p:sp>
      <p:pic>
        <p:nvPicPr>
          <p:cNvPr id="53" name="Image 7" descr="assets/ic_gears.png"/>
          <p:cNvPicPr>
            <a:picLocks noChangeAspect="1"/>
          </p:cNvPicPr>
          <p:nvPr/>
        </p:nvPicPr>
        <p:blipFill>
          <a:blip r:embed="rId10"/>
          <a:stretch>
            <a:fillRect/>
          </a:stretch>
        </p:blipFill>
        <p:spPr>
          <a:xfrm>
            <a:off x="877824" y="6080760"/>
            <a:ext cx="219456" cy="219456"/>
          </a:xfrm>
          <a:prstGeom prst="rect">
            <a:avLst/>
          </a:prstGeom>
        </p:spPr>
      </p:pic>
      <p:sp>
        <p:nvSpPr>
          <p:cNvPr id="54" name="Text 44"/>
          <p:cNvSpPr/>
          <p:nvPr/>
        </p:nvSpPr>
        <p:spPr>
          <a:xfrm>
            <a:off x="1344168" y="5852160"/>
            <a:ext cx="2286000" cy="676656"/>
          </a:xfrm>
          <a:prstGeom prst="rect">
            <a:avLst/>
          </a:prstGeom>
          <a:noFill/>
          <a:ln/>
        </p:spPr>
        <p:txBody>
          <a:bodyPr wrap="square" lIns="0" tIns="0" rIns="0" bIns="0" rtlCol="0" anchor="ctr"/>
          <a:lstStyle/>
          <a:p>
            <a:pPr marL="0" indent="0">
              <a:buNone/>
            </a:pPr>
            <a:r>
              <a:rPr lang="en-US" sz="1400" b="1" dirty="0">
                <a:solidFill>
                  <a:srgbClr val="CDD6F4"/>
                </a:solidFill>
                <a:latin typeface="Georgia" pitchFamily="34" charset="0"/>
                <a:ea typeface="Georgia" pitchFamily="34" charset="-122"/>
                <a:cs typeface="Georgia" pitchFamily="34" charset="-120"/>
              </a:rPr>
              <a:t>Conteneurisation</a:t>
            </a:r>
            <a:endParaRPr lang="en-US" sz="1400" dirty="0"/>
          </a:p>
        </p:txBody>
      </p:sp>
      <p:sp>
        <p:nvSpPr>
          <p:cNvPr id="55" name="Text 45"/>
          <p:cNvSpPr/>
          <p:nvPr/>
        </p:nvSpPr>
        <p:spPr>
          <a:xfrm>
            <a:off x="3721608" y="5852160"/>
            <a:ext cx="3840480" cy="676656"/>
          </a:xfrm>
          <a:prstGeom prst="rect">
            <a:avLst/>
          </a:prstGeom>
          <a:noFill/>
          <a:ln/>
        </p:spPr>
        <p:txBody>
          <a:bodyPr wrap="square" lIns="0" tIns="0" rIns="0" bIns="0" rtlCol="0" anchor="ctr"/>
          <a:lstStyle/>
          <a:p>
            <a:pPr marL="0" indent="0">
              <a:buNone/>
            </a:pPr>
            <a:r>
              <a:rPr lang="en-US" sz="1200" b="1" dirty="0">
                <a:solidFill>
                  <a:srgbClr val="FAB387"/>
                </a:solidFill>
                <a:latin typeface="Calibri" pitchFamily="34" charset="0"/>
                <a:ea typeface="Calibri" pitchFamily="34" charset="-122"/>
                <a:cs typeface="Calibri" pitchFamily="34" charset="-120"/>
              </a:rPr>
              <a:t>Docker Compose v2</a:t>
            </a:r>
            <a:endParaRPr lang="en-US" sz="1200" dirty="0"/>
          </a:p>
        </p:txBody>
      </p:sp>
      <p:sp>
        <p:nvSpPr>
          <p:cNvPr id="56" name="Text 46"/>
          <p:cNvSpPr/>
          <p:nvPr/>
        </p:nvSpPr>
        <p:spPr>
          <a:xfrm>
            <a:off x="7653528" y="5852160"/>
            <a:ext cx="3785616" cy="676656"/>
          </a:xfrm>
          <a:prstGeom prst="rect">
            <a:avLst/>
          </a:prstGeom>
          <a:noFill/>
          <a:ln/>
        </p:spPr>
        <p:txBody>
          <a:bodyPr wrap="square" lIns="0" tIns="0" rIns="0" bIns="0" rtlCol="0" anchor="ctr"/>
          <a:lstStyle/>
          <a:p>
            <a:pPr marL="0" indent="0">
              <a:buNone/>
            </a:pPr>
            <a:r>
              <a:rPr lang="en-US" sz="1100" dirty="0">
                <a:solidFill>
                  <a:srgbClr val="A6ADC8"/>
                </a:solidFill>
                <a:latin typeface="Calibri" pitchFamily="34" charset="0"/>
                <a:ea typeface="Calibri" pitchFamily="34" charset="-122"/>
                <a:cs typeface="Calibri" pitchFamily="34" charset="-120"/>
              </a:rPr>
              <a:t>12 services · réseau partagé · health checks · start.sh</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diagram.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Diagramme de classes des agents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11</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566928" y="1417320"/>
            <a:ext cx="11064240" cy="457200"/>
          </a:xfrm>
          <a:prstGeom prst="rect">
            <a:avLst/>
          </a:prstGeom>
          <a:noFill/>
          <a:ln/>
        </p:spPr>
        <p:txBody>
          <a:bodyPr wrap="square" lIns="0" tIns="0" rIns="0" bIns="0" rtlCol="0" anchor="ctr"/>
          <a:lstStyle/>
          <a:p>
            <a:pPr marL="0" indent="0">
              <a:lnSpc>
                <a:spcPct val="105000"/>
              </a:lnSpc>
              <a:buNone/>
            </a:pPr>
            <a:r>
              <a:rPr lang="en-US" sz="1150" i="1" dirty="0">
                <a:solidFill>
                  <a:srgbClr val="A6ADC8"/>
                </a:solidFill>
                <a:latin typeface="Calibri" pitchFamily="34" charset="0"/>
                <a:ea typeface="Calibri" pitchFamily="34" charset="-122"/>
                <a:cs typeface="Calibri" pitchFamily="34" charset="-120"/>
              </a:rPr>
              <a:t>Tous les agents partagent le même squelette : app FastAPI, LLM ChatOllama, agent LangGraph create_react_agent, prompt système et jeu d'outils typé. Ils diffèrent par le modèle, la température, les outils et les endpoints.</a:t>
            </a:r>
            <a:endParaRPr lang="en-US" sz="1150" dirty="0"/>
          </a:p>
        </p:txBody>
      </p:sp>
      <p:sp>
        <p:nvSpPr>
          <p:cNvPr id="9" name="Shape 6"/>
          <p:cNvSpPr/>
          <p:nvPr/>
        </p:nvSpPr>
        <p:spPr>
          <a:xfrm>
            <a:off x="3246120" y="2057400"/>
            <a:ext cx="4206240" cy="2116836"/>
          </a:xfrm>
          <a:prstGeom prst="rect">
            <a:avLst/>
          </a:prstGeom>
          <a:solidFill>
            <a:srgbClr val="232338"/>
          </a:solidFill>
          <a:ln w="17780">
            <a:solidFill>
              <a:srgbClr val="CBA6F7"/>
            </a:solidFill>
            <a:prstDash val="solid"/>
          </a:ln>
          <a:effectLst>
            <a:outerShdw blurRad="114300" dist="38100" dir="5400000" algn="bl" rotWithShape="0">
              <a:srgbClr val="000000">
                <a:alpha val="35000"/>
              </a:srgbClr>
            </a:outerShdw>
          </a:effectLst>
        </p:spPr>
      </p:sp>
      <p:sp>
        <p:nvSpPr>
          <p:cNvPr id="10" name="Shape 7"/>
          <p:cNvSpPr/>
          <p:nvPr/>
        </p:nvSpPr>
        <p:spPr>
          <a:xfrm>
            <a:off x="3246120" y="2057400"/>
            <a:ext cx="4206240" cy="548640"/>
          </a:xfrm>
          <a:prstGeom prst="rect">
            <a:avLst/>
          </a:prstGeom>
          <a:solidFill>
            <a:srgbClr val="CBA6F7">
              <a:alpha val="14000"/>
            </a:srgbClr>
          </a:solidFill>
          <a:ln w="17780">
            <a:solidFill>
              <a:srgbClr val="CBA6F7"/>
            </a:solidFill>
            <a:prstDash val="solid"/>
          </a:ln>
        </p:spPr>
      </p:sp>
      <p:sp>
        <p:nvSpPr>
          <p:cNvPr id="11" name="Text 8"/>
          <p:cNvSpPr/>
          <p:nvPr/>
        </p:nvSpPr>
        <p:spPr>
          <a:xfrm>
            <a:off x="3246120" y="2103120"/>
            <a:ext cx="4206240" cy="201168"/>
          </a:xfrm>
          <a:prstGeom prst="rect">
            <a:avLst/>
          </a:prstGeom>
          <a:noFill/>
          <a:ln/>
        </p:spPr>
        <p:txBody>
          <a:bodyPr wrap="square" lIns="0" tIns="0" rIns="0" bIns="0" rtlCol="0" anchor="ctr"/>
          <a:lstStyle/>
          <a:p>
            <a:pPr marL="0" indent="0" algn="ctr">
              <a:buNone/>
            </a:pPr>
            <a:r>
              <a:rPr lang="en-US" sz="850" i="1" dirty="0">
                <a:solidFill>
                  <a:srgbClr val="A6ADC8"/>
                </a:solidFill>
                <a:latin typeface="Calibri" pitchFamily="34" charset="0"/>
                <a:ea typeface="Calibri" pitchFamily="34" charset="-122"/>
                <a:cs typeface="Calibri" pitchFamily="34" charset="-120"/>
              </a:rPr>
              <a:t>«abstract»</a:t>
            </a:r>
            <a:endParaRPr lang="en-US" sz="850" dirty="0"/>
          </a:p>
        </p:txBody>
      </p:sp>
      <p:sp>
        <p:nvSpPr>
          <p:cNvPr id="12" name="Text 9"/>
          <p:cNvSpPr/>
          <p:nvPr/>
        </p:nvSpPr>
        <p:spPr>
          <a:xfrm>
            <a:off x="3246120" y="2276856"/>
            <a:ext cx="4206240" cy="292608"/>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FastAPIAgent</a:t>
            </a:r>
            <a:endParaRPr lang="en-US" sz="1250" dirty="0"/>
          </a:p>
        </p:txBody>
      </p:sp>
      <p:sp>
        <p:nvSpPr>
          <p:cNvPr id="13" name="Text 10"/>
          <p:cNvSpPr/>
          <p:nvPr/>
        </p:nvSpPr>
        <p:spPr>
          <a:xfrm>
            <a:off x="3355848" y="2651760"/>
            <a:ext cx="4023360" cy="822960"/>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app : FastAPI</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SYSTEM_PROMPT : str</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llm : ChatOllama</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tools : list~Tool~</a:t>
            </a:r>
            <a:endParaRPr lang="en-US" sz="830" dirty="0"/>
          </a:p>
        </p:txBody>
      </p:sp>
      <p:sp>
        <p:nvSpPr>
          <p:cNvPr id="14" name="Shape 11"/>
          <p:cNvSpPr/>
          <p:nvPr/>
        </p:nvSpPr>
        <p:spPr>
          <a:xfrm>
            <a:off x="3246120" y="3483864"/>
            <a:ext cx="4206240" cy="0"/>
          </a:xfrm>
          <a:prstGeom prst="line">
            <a:avLst/>
          </a:prstGeom>
          <a:noFill/>
          <a:ln w="12700">
            <a:solidFill>
              <a:srgbClr val="CBA6F7"/>
            </a:solidFill>
            <a:prstDash val="solid"/>
          </a:ln>
        </p:spPr>
      </p:sp>
      <p:sp>
        <p:nvSpPr>
          <p:cNvPr id="15" name="Text 12"/>
          <p:cNvSpPr/>
          <p:nvPr/>
        </p:nvSpPr>
        <p:spPr>
          <a:xfrm>
            <a:off x="3355848" y="3529584"/>
            <a:ext cx="4023360" cy="635508"/>
          </a:xfrm>
          <a:prstGeom prst="rect">
            <a:avLst/>
          </a:prstGeom>
          <a:noFill/>
          <a:ln/>
        </p:spPr>
        <p:txBody>
          <a:bodyPr wrap="square" lIns="0" tIns="0" rIns="0" bIns="0" rtlCol="0" anchor="ctr"/>
          <a:lstStyle/>
          <a:p>
            <a:pPr marL="0" indent="0">
              <a:lnSpc>
                <a:spcPct val="100000"/>
              </a:lnSpc>
              <a:buNone/>
            </a:pPr>
            <a:r>
              <a:rPr lang="en-US" sz="830" dirty="0">
                <a:solidFill>
                  <a:srgbClr val="A6E3A1"/>
                </a:solidFill>
                <a:latin typeface="Consolas" pitchFamily="34" charset="0"/>
                <a:ea typeface="Consolas" pitchFamily="34" charset="-122"/>
                <a:cs typeface="Consolas" pitchFamily="34" charset="-120"/>
              </a:rPr>
              <a:t>+ get_llm() : ChatOllama</a:t>
            </a:r>
            <a:endParaRPr lang="en-US" sz="830" dirty="0"/>
          </a:p>
          <a:p>
            <a:pPr marL="0" indent="0">
              <a:lnSpc>
                <a:spcPct val="100000"/>
              </a:lnSpc>
              <a:buNone/>
            </a:pPr>
            <a:r>
              <a:rPr lang="en-US" sz="830" dirty="0">
                <a:solidFill>
                  <a:srgbClr val="A6E3A1"/>
                </a:solidFill>
                <a:latin typeface="Consolas" pitchFamily="34" charset="0"/>
                <a:ea typeface="Consolas" pitchFamily="34" charset="-122"/>
                <a:cs typeface="Consolas" pitchFamily="34" charset="-120"/>
              </a:rPr>
              <a:t>+ health() : dict</a:t>
            </a:r>
            <a:endParaRPr lang="en-US" sz="830" dirty="0"/>
          </a:p>
          <a:p>
            <a:pPr marL="0" indent="0">
              <a:lnSpc>
                <a:spcPct val="100000"/>
              </a:lnSpc>
              <a:buNone/>
            </a:pPr>
            <a:r>
              <a:rPr lang="en-US" sz="830" dirty="0">
                <a:solidFill>
                  <a:srgbClr val="A6E3A1"/>
                </a:solidFill>
                <a:latin typeface="Consolas" pitchFamily="34" charset="0"/>
                <a:ea typeface="Consolas" pitchFamily="34" charset="-122"/>
                <a:cs typeface="Consolas" pitchFamily="34" charset="-120"/>
              </a:rPr>
              <a:t># create_react_agent(llm, tools, modifier)</a:t>
            </a:r>
            <a:endParaRPr lang="en-US" sz="830" dirty="0"/>
          </a:p>
        </p:txBody>
      </p:sp>
      <p:sp>
        <p:nvSpPr>
          <p:cNvPr id="16" name="Shape 13"/>
          <p:cNvSpPr/>
          <p:nvPr/>
        </p:nvSpPr>
        <p:spPr>
          <a:xfrm>
            <a:off x="9052560" y="2240280"/>
            <a:ext cx="2606040" cy="1367028"/>
          </a:xfrm>
          <a:prstGeom prst="rect">
            <a:avLst/>
          </a:prstGeom>
          <a:solidFill>
            <a:srgbClr val="232338"/>
          </a:solidFill>
          <a:ln w="17780">
            <a:solidFill>
              <a:srgbClr val="94E2D5"/>
            </a:solidFill>
            <a:prstDash val="solid"/>
          </a:ln>
          <a:effectLst>
            <a:outerShdw blurRad="114300" dist="38100" dir="5400000" algn="bl" rotWithShape="0">
              <a:srgbClr val="000000">
                <a:alpha val="35000"/>
              </a:srgbClr>
            </a:outerShdw>
          </a:effectLst>
        </p:spPr>
      </p:sp>
      <p:sp>
        <p:nvSpPr>
          <p:cNvPr id="17" name="Shape 14"/>
          <p:cNvSpPr/>
          <p:nvPr/>
        </p:nvSpPr>
        <p:spPr>
          <a:xfrm>
            <a:off x="9052560" y="2240280"/>
            <a:ext cx="2606040" cy="548640"/>
          </a:xfrm>
          <a:prstGeom prst="rect">
            <a:avLst/>
          </a:prstGeom>
          <a:solidFill>
            <a:srgbClr val="94E2D5">
              <a:alpha val="14000"/>
            </a:srgbClr>
          </a:solidFill>
          <a:ln w="17780">
            <a:solidFill>
              <a:srgbClr val="94E2D5"/>
            </a:solidFill>
            <a:prstDash val="solid"/>
          </a:ln>
        </p:spPr>
      </p:sp>
      <p:sp>
        <p:nvSpPr>
          <p:cNvPr id="18" name="Text 15"/>
          <p:cNvSpPr/>
          <p:nvPr/>
        </p:nvSpPr>
        <p:spPr>
          <a:xfrm>
            <a:off x="9052560" y="2286000"/>
            <a:ext cx="2606040" cy="201168"/>
          </a:xfrm>
          <a:prstGeom prst="rect">
            <a:avLst/>
          </a:prstGeom>
          <a:noFill/>
          <a:ln/>
        </p:spPr>
        <p:txBody>
          <a:bodyPr wrap="square" lIns="0" tIns="0" rIns="0" bIns="0" rtlCol="0" anchor="ctr"/>
          <a:lstStyle/>
          <a:p>
            <a:pPr marL="0" indent="0" algn="ctr">
              <a:buNone/>
            </a:pPr>
            <a:r>
              <a:rPr lang="en-US" sz="850" i="1" dirty="0">
                <a:solidFill>
                  <a:srgbClr val="A6ADC8"/>
                </a:solidFill>
                <a:latin typeface="Calibri" pitchFamily="34" charset="0"/>
                <a:ea typeface="Calibri" pitchFamily="34" charset="-122"/>
                <a:cs typeface="Calibri" pitchFamily="34" charset="-120"/>
              </a:rPr>
              <a:t>«interface»</a:t>
            </a:r>
            <a:endParaRPr lang="en-US" sz="850" dirty="0"/>
          </a:p>
        </p:txBody>
      </p:sp>
      <p:sp>
        <p:nvSpPr>
          <p:cNvPr id="19" name="Text 16"/>
          <p:cNvSpPr/>
          <p:nvPr/>
        </p:nvSpPr>
        <p:spPr>
          <a:xfrm>
            <a:off x="9052560" y="2459736"/>
            <a:ext cx="2606040" cy="292608"/>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Tool</a:t>
            </a:r>
            <a:endParaRPr lang="en-US" sz="1250" dirty="0"/>
          </a:p>
        </p:txBody>
      </p:sp>
      <p:sp>
        <p:nvSpPr>
          <p:cNvPr id="20" name="Text 17"/>
          <p:cNvSpPr/>
          <p:nvPr/>
        </p:nvSpPr>
        <p:spPr>
          <a:xfrm>
            <a:off x="9162288" y="2834640"/>
            <a:ext cx="2423160" cy="448056"/>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name : str</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description : str</a:t>
            </a:r>
            <a:endParaRPr lang="en-US" sz="830" dirty="0"/>
          </a:p>
        </p:txBody>
      </p:sp>
      <p:sp>
        <p:nvSpPr>
          <p:cNvPr id="21" name="Shape 18"/>
          <p:cNvSpPr/>
          <p:nvPr/>
        </p:nvSpPr>
        <p:spPr>
          <a:xfrm>
            <a:off x="9052560" y="3291840"/>
            <a:ext cx="2606040" cy="0"/>
          </a:xfrm>
          <a:prstGeom prst="line">
            <a:avLst/>
          </a:prstGeom>
          <a:noFill/>
          <a:ln w="12700">
            <a:solidFill>
              <a:srgbClr val="94E2D5"/>
            </a:solidFill>
            <a:prstDash val="solid"/>
          </a:ln>
        </p:spPr>
      </p:sp>
      <p:sp>
        <p:nvSpPr>
          <p:cNvPr id="22" name="Text 19"/>
          <p:cNvSpPr/>
          <p:nvPr/>
        </p:nvSpPr>
        <p:spPr>
          <a:xfrm>
            <a:off x="9162288" y="3337560"/>
            <a:ext cx="2423160" cy="260604"/>
          </a:xfrm>
          <a:prstGeom prst="rect">
            <a:avLst/>
          </a:prstGeom>
          <a:noFill/>
          <a:ln/>
        </p:spPr>
        <p:txBody>
          <a:bodyPr wrap="square" lIns="0" tIns="0" rIns="0" bIns="0" rtlCol="0" anchor="ctr"/>
          <a:lstStyle/>
          <a:p>
            <a:pPr marL="0" indent="0">
              <a:lnSpc>
                <a:spcPct val="100000"/>
              </a:lnSpc>
              <a:buNone/>
            </a:pPr>
            <a:r>
              <a:rPr lang="en-US" sz="830" dirty="0">
                <a:solidFill>
                  <a:srgbClr val="94E2D5"/>
                </a:solidFill>
                <a:latin typeface="Consolas" pitchFamily="34" charset="0"/>
                <a:ea typeface="Consolas" pitchFamily="34" charset="-122"/>
                <a:cs typeface="Consolas" pitchFamily="34" charset="-120"/>
              </a:rPr>
              <a:t>+ invoke(args) : str</a:t>
            </a:r>
            <a:endParaRPr lang="en-US" sz="830" dirty="0"/>
          </a:p>
        </p:txBody>
      </p:sp>
      <p:sp>
        <p:nvSpPr>
          <p:cNvPr id="23" name="Shape 20"/>
          <p:cNvSpPr/>
          <p:nvPr/>
        </p:nvSpPr>
        <p:spPr>
          <a:xfrm>
            <a:off x="566928" y="4572000"/>
            <a:ext cx="2697480" cy="1408176"/>
          </a:xfrm>
          <a:prstGeom prst="rect">
            <a:avLst/>
          </a:prstGeom>
          <a:solidFill>
            <a:srgbClr val="232338"/>
          </a:solidFill>
          <a:ln w="17780">
            <a:solidFill>
              <a:srgbClr val="89B4FA"/>
            </a:solidFill>
            <a:prstDash val="solid"/>
          </a:ln>
          <a:effectLst>
            <a:outerShdw blurRad="114300" dist="38100" dir="5400000" algn="bl" rotWithShape="0">
              <a:srgbClr val="000000">
                <a:alpha val="35000"/>
              </a:srgbClr>
            </a:outerShdw>
          </a:effectLst>
        </p:spPr>
      </p:sp>
      <p:sp>
        <p:nvSpPr>
          <p:cNvPr id="24" name="Shape 21"/>
          <p:cNvSpPr/>
          <p:nvPr/>
        </p:nvSpPr>
        <p:spPr>
          <a:xfrm>
            <a:off x="566928" y="4572000"/>
            <a:ext cx="2697480" cy="402336"/>
          </a:xfrm>
          <a:prstGeom prst="rect">
            <a:avLst/>
          </a:prstGeom>
          <a:solidFill>
            <a:srgbClr val="89B4FA">
              <a:alpha val="14000"/>
            </a:srgbClr>
          </a:solidFill>
          <a:ln w="17780">
            <a:solidFill>
              <a:srgbClr val="89B4FA"/>
            </a:solidFill>
            <a:prstDash val="solid"/>
          </a:ln>
        </p:spPr>
      </p:sp>
      <p:sp>
        <p:nvSpPr>
          <p:cNvPr id="25" name="Text 22"/>
          <p:cNvSpPr/>
          <p:nvPr/>
        </p:nvSpPr>
        <p:spPr>
          <a:xfrm>
            <a:off x="566928" y="4572000"/>
            <a:ext cx="2697480" cy="402336"/>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ExplanationAgent</a:t>
            </a:r>
            <a:endParaRPr lang="en-US" sz="1250" dirty="0"/>
          </a:p>
        </p:txBody>
      </p:sp>
      <p:sp>
        <p:nvSpPr>
          <p:cNvPr id="26" name="Text 23"/>
          <p:cNvSpPr/>
          <p:nvPr/>
        </p:nvSpPr>
        <p:spPr>
          <a:xfrm>
            <a:off x="676656" y="5020056"/>
            <a:ext cx="2514600" cy="635508"/>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model = mistral</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temperature = 0.7</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port = 8001</a:t>
            </a:r>
            <a:endParaRPr lang="en-US" sz="830" dirty="0"/>
          </a:p>
        </p:txBody>
      </p:sp>
      <p:sp>
        <p:nvSpPr>
          <p:cNvPr id="27" name="Shape 24"/>
          <p:cNvSpPr/>
          <p:nvPr/>
        </p:nvSpPr>
        <p:spPr>
          <a:xfrm>
            <a:off x="566928" y="5664708"/>
            <a:ext cx="2697480" cy="0"/>
          </a:xfrm>
          <a:prstGeom prst="line">
            <a:avLst/>
          </a:prstGeom>
          <a:noFill/>
          <a:ln w="12700">
            <a:solidFill>
              <a:srgbClr val="89B4FA"/>
            </a:solidFill>
            <a:prstDash val="solid"/>
          </a:ln>
        </p:spPr>
      </p:sp>
      <p:sp>
        <p:nvSpPr>
          <p:cNvPr id="28" name="Text 25"/>
          <p:cNvSpPr/>
          <p:nvPr/>
        </p:nvSpPr>
        <p:spPr>
          <a:xfrm>
            <a:off x="676656" y="5710428"/>
            <a:ext cx="2514600" cy="260604"/>
          </a:xfrm>
          <a:prstGeom prst="rect">
            <a:avLst/>
          </a:prstGeom>
          <a:noFill/>
          <a:ln/>
        </p:spPr>
        <p:txBody>
          <a:bodyPr wrap="square" lIns="0" tIns="0" rIns="0" bIns="0" rtlCol="0" anchor="ctr"/>
          <a:lstStyle/>
          <a:p>
            <a:pPr marL="0" indent="0">
              <a:lnSpc>
                <a:spcPct val="100000"/>
              </a:lnSpc>
              <a:buNone/>
            </a:pPr>
            <a:r>
              <a:rPr lang="en-US" sz="830" dirty="0">
                <a:solidFill>
                  <a:srgbClr val="89B4FA"/>
                </a:solidFill>
                <a:latin typeface="Consolas" pitchFamily="34" charset="0"/>
                <a:ea typeface="Consolas" pitchFamily="34" charset="-122"/>
                <a:cs typeface="Consolas" pitchFamily="34" charset="-120"/>
              </a:rPr>
              <a:t>+ explain(req) : Resp</a:t>
            </a:r>
            <a:endParaRPr lang="en-US" sz="830" dirty="0"/>
          </a:p>
        </p:txBody>
      </p:sp>
      <p:sp>
        <p:nvSpPr>
          <p:cNvPr id="29" name="Shape 26"/>
          <p:cNvSpPr/>
          <p:nvPr/>
        </p:nvSpPr>
        <p:spPr>
          <a:xfrm>
            <a:off x="3383280" y="4572000"/>
            <a:ext cx="2697480" cy="1408176"/>
          </a:xfrm>
          <a:prstGeom prst="rect">
            <a:avLst/>
          </a:prstGeom>
          <a:solidFill>
            <a:srgbClr val="232338"/>
          </a:solidFill>
          <a:ln w="17780">
            <a:solidFill>
              <a:srgbClr val="A6E3A1"/>
            </a:solidFill>
            <a:prstDash val="solid"/>
          </a:ln>
          <a:effectLst>
            <a:outerShdw blurRad="114300" dist="38100" dir="5400000" algn="bl" rotWithShape="0">
              <a:srgbClr val="000000">
                <a:alpha val="35000"/>
              </a:srgbClr>
            </a:outerShdw>
          </a:effectLst>
        </p:spPr>
      </p:sp>
      <p:sp>
        <p:nvSpPr>
          <p:cNvPr id="30" name="Shape 27"/>
          <p:cNvSpPr/>
          <p:nvPr/>
        </p:nvSpPr>
        <p:spPr>
          <a:xfrm>
            <a:off x="3383280" y="4572000"/>
            <a:ext cx="2697480" cy="402336"/>
          </a:xfrm>
          <a:prstGeom prst="rect">
            <a:avLst/>
          </a:prstGeom>
          <a:solidFill>
            <a:srgbClr val="A6E3A1">
              <a:alpha val="14000"/>
            </a:srgbClr>
          </a:solidFill>
          <a:ln w="17780">
            <a:solidFill>
              <a:srgbClr val="A6E3A1"/>
            </a:solidFill>
            <a:prstDash val="solid"/>
          </a:ln>
        </p:spPr>
      </p:sp>
      <p:sp>
        <p:nvSpPr>
          <p:cNvPr id="31" name="Text 28"/>
          <p:cNvSpPr/>
          <p:nvPr/>
        </p:nvSpPr>
        <p:spPr>
          <a:xfrm>
            <a:off x="3383280" y="4572000"/>
            <a:ext cx="2697480" cy="402336"/>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HintAgent</a:t>
            </a:r>
            <a:endParaRPr lang="en-US" sz="1250" dirty="0"/>
          </a:p>
        </p:txBody>
      </p:sp>
      <p:sp>
        <p:nvSpPr>
          <p:cNvPr id="32" name="Text 29"/>
          <p:cNvSpPr/>
          <p:nvPr/>
        </p:nvSpPr>
        <p:spPr>
          <a:xfrm>
            <a:off x="3493008" y="5020056"/>
            <a:ext cx="2514600" cy="635508"/>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model = deepseek-coder</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temperature = 0.3</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port = 8002</a:t>
            </a:r>
            <a:endParaRPr lang="en-US" sz="830" dirty="0"/>
          </a:p>
        </p:txBody>
      </p:sp>
      <p:sp>
        <p:nvSpPr>
          <p:cNvPr id="33" name="Shape 30"/>
          <p:cNvSpPr/>
          <p:nvPr/>
        </p:nvSpPr>
        <p:spPr>
          <a:xfrm>
            <a:off x="3383280" y="5664708"/>
            <a:ext cx="2697480" cy="0"/>
          </a:xfrm>
          <a:prstGeom prst="line">
            <a:avLst/>
          </a:prstGeom>
          <a:noFill/>
          <a:ln w="12700">
            <a:solidFill>
              <a:srgbClr val="A6E3A1"/>
            </a:solidFill>
            <a:prstDash val="solid"/>
          </a:ln>
        </p:spPr>
      </p:sp>
      <p:sp>
        <p:nvSpPr>
          <p:cNvPr id="34" name="Text 31"/>
          <p:cNvSpPr/>
          <p:nvPr/>
        </p:nvSpPr>
        <p:spPr>
          <a:xfrm>
            <a:off x="3493008" y="5710428"/>
            <a:ext cx="2514600" cy="260604"/>
          </a:xfrm>
          <a:prstGeom prst="rect">
            <a:avLst/>
          </a:prstGeom>
          <a:noFill/>
          <a:ln/>
        </p:spPr>
        <p:txBody>
          <a:bodyPr wrap="square" lIns="0" tIns="0" rIns="0" bIns="0" rtlCol="0" anchor="ctr"/>
          <a:lstStyle/>
          <a:p>
            <a:pPr marL="0" indent="0">
              <a:lnSpc>
                <a:spcPct val="100000"/>
              </a:lnSpc>
              <a:buNone/>
            </a:pPr>
            <a:r>
              <a:rPr lang="en-US" sz="830" dirty="0">
                <a:solidFill>
                  <a:srgbClr val="A6E3A1"/>
                </a:solidFill>
                <a:latin typeface="Consolas" pitchFamily="34" charset="0"/>
                <a:ea typeface="Consolas" pitchFamily="34" charset="-122"/>
                <a:cs typeface="Consolas" pitchFamily="34" charset="-120"/>
              </a:rPr>
              <a:t>+ get_hint(req) : Resp</a:t>
            </a:r>
            <a:endParaRPr lang="en-US" sz="830" dirty="0"/>
          </a:p>
        </p:txBody>
      </p:sp>
      <p:sp>
        <p:nvSpPr>
          <p:cNvPr id="35" name="Shape 32"/>
          <p:cNvSpPr/>
          <p:nvPr/>
        </p:nvSpPr>
        <p:spPr>
          <a:xfrm>
            <a:off x="6199632" y="4572000"/>
            <a:ext cx="2697480" cy="1595628"/>
          </a:xfrm>
          <a:prstGeom prst="rect">
            <a:avLst/>
          </a:prstGeom>
          <a:solidFill>
            <a:srgbClr val="232338"/>
          </a:solidFill>
          <a:ln w="17780">
            <a:solidFill>
              <a:srgbClr val="F9E2AF"/>
            </a:solidFill>
            <a:prstDash val="solid"/>
          </a:ln>
          <a:effectLst>
            <a:outerShdw blurRad="114300" dist="38100" dir="5400000" algn="bl" rotWithShape="0">
              <a:srgbClr val="000000">
                <a:alpha val="35000"/>
              </a:srgbClr>
            </a:outerShdw>
          </a:effectLst>
        </p:spPr>
      </p:sp>
      <p:sp>
        <p:nvSpPr>
          <p:cNvPr id="36" name="Shape 33"/>
          <p:cNvSpPr/>
          <p:nvPr/>
        </p:nvSpPr>
        <p:spPr>
          <a:xfrm>
            <a:off x="6199632" y="4572000"/>
            <a:ext cx="2697480" cy="402336"/>
          </a:xfrm>
          <a:prstGeom prst="rect">
            <a:avLst/>
          </a:prstGeom>
          <a:solidFill>
            <a:srgbClr val="F9E2AF">
              <a:alpha val="14000"/>
            </a:srgbClr>
          </a:solidFill>
          <a:ln w="17780">
            <a:solidFill>
              <a:srgbClr val="F9E2AF"/>
            </a:solidFill>
            <a:prstDash val="solid"/>
          </a:ln>
        </p:spPr>
      </p:sp>
      <p:sp>
        <p:nvSpPr>
          <p:cNvPr id="37" name="Text 34"/>
          <p:cNvSpPr/>
          <p:nvPr/>
        </p:nvSpPr>
        <p:spPr>
          <a:xfrm>
            <a:off x="6199632" y="4572000"/>
            <a:ext cx="2697480" cy="402336"/>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EvaluationAgent</a:t>
            </a:r>
            <a:endParaRPr lang="en-US" sz="1250" dirty="0"/>
          </a:p>
        </p:txBody>
      </p:sp>
      <p:sp>
        <p:nvSpPr>
          <p:cNvPr id="38" name="Text 35"/>
          <p:cNvSpPr/>
          <p:nvPr/>
        </p:nvSpPr>
        <p:spPr>
          <a:xfrm>
            <a:off x="6309360" y="5020056"/>
            <a:ext cx="2514600" cy="635508"/>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model = gemma4:31b</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temperature = 0.4</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port = 8003</a:t>
            </a:r>
            <a:endParaRPr lang="en-US" sz="830" dirty="0"/>
          </a:p>
        </p:txBody>
      </p:sp>
      <p:sp>
        <p:nvSpPr>
          <p:cNvPr id="39" name="Shape 36"/>
          <p:cNvSpPr/>
          <p:nvPr/>
        </p:nvSpPr>
        <p:spPr>
          <a:xfrm>
            <a:off x="6199632" y="5664708"/>
            <a:ext cx="2697480" cy="0"/>
          </a:xfrm>
          <a:prstGeom prst="line">
            <a:avLst/>
          </a:prstGeom>
          <a:noFill/>
          <a:ln w="12700">
            <a:solidFill>
              <a:srgbClr val="F9E2AF"/>
            </a:solidFill>
            <a:prstDash val="solid"/>
          </a:ln>
        </p:spPr>
      </p:sp>
      <p:sp>
        <p:nvSpPr>
          <p:cNvPr id="40" name="Text 37"/>
          <p:cNvSpPr/>
          <p:nvPr/>
        </p:nvSpPr>
        <p:spPr>
          <a:xfrm>
            <a:off x="6309360" y="5710428"/>
            <a:ext cx="2514600" cy="448056"/>
          </a:xfrm>
          <a:prstGeom prst="rect">
            <a:avLst/>
          </a:prstGeom>
          <a:noFill/>
          <a:ln/>
        </p:spPr>
        <p:txBody>
          <a:bodyPr wrap="square" lIns="0" tIns="0" rIns="0" bIns="0" rtlCol="0" anchor="ctr"/>
          <a:lstStyle/>
          <a:p>
            <a:pPr marL="0" indent="0">
              <a:lnSpc>
                <a:spcPct val="100000"/>
              </a:lnSpc>
              <a:buNone/>
            </a:pPr>
            <a:r>
              <a:rPr lang="en-US" sz="830" dirty="0">
                <a:solidFill>
                  <a:srgbClr val="F9E2AF"/>
                </a:solidFill>
                <a:latin typeface="Consolas" pitchFamily="34" charset="0"/>
                <a:ea typeface="Consolas" pitchFamily="34" charset="-122"/>
                <a:cs typeface="Consolas" pitchFamily="34" charset="-120"/>
              </a:rPr>
              <a:t>+ generate_quiz(req)</a:t>
            </a:r>
            <a:endParaRPr lang="en-US" sz="830" dirty="0"/>
          </a:p>
          <a:p>
            <a:pPr marL="0" indent="0">
              <a:lnSpc>
                <a:spcPct val="100000"/>
              </a:lnSpc>
              <a:buNone/>
            </a:pPr>
            <a:r>
              <a:rPr lang="en-US" sz="830" dirty="0">
                <a:solidFill>
                  <a:srgbClr val="F9E2AF"/>
                </a:solidFill>
                <a:latin typeface="Consolas" pitchFamily="34" charset="0"/>
                <a:ea typeface="Consolas" pitchFamily="34" charset="-122"/>
                <a:cs typeface="Consolas" pitchFamily="34" charset="-120"/>
              </a:rPr>
              <a:t>+ evaluate_answers(req)</a:t>
            </a:r>
            <a:endParaRPr lang="en-US" sz="830" dirty="0"/>
          </a:p>
        </p:txBody>
      </p:sp>
      <p:sp>
        <p:nvSpPr>
          <p:cNvPr id="41" name="Shape 38"/>
          <p:cNvSpPr/>
          <p:nvPr/>
        </p:nvSpPr>
        <p:spPr>
          <a:xfrm>
            <a:off x="9015984" y="4572000"/>
            <a:ext cx="2697480" cy="1408176"/>
          </a:xfrm>
          <a:prstGeom prst="rect">
            <a:avLst/>
          </a:prstGeom>
          <a:solidFill>
            <a:srgbClr val="232338"/>
          </a:solidFill>
          <a:ln w="17780">
            <a:solidFill>
              <a:srgbClr val="CBA6F7"/>
            </a:solidFill>
            <a:prstDash val="solid"/>
          </a:ln>
          <a:effectLst>
            <a:outerShdw blurRad="114300" dist="38100" dir="5400000" algn="bl" rotWithShape="0">
              <a:srgbClr val="000000">
                <a:alpha val="35000"/>
              </a:srgbClr>
            </a:outerShdw>
          </a:effectLst>
        </p:spPr>
      </p:sp>
      <p:sp>
        <p:nvSpPr>
          <p:cNvPr id="42" name="Shape 39"/>
          <p:cNvSpPr/>
          <p:nvPr/>
        </p:nvSpPr>
        <p:spPr>
          <a:xfrm>
            <a:off x="9015984" y="4572000"/>
            <a:ext cx="2697480" cy="402336"/>
          </a:xfrm>
          <a:prstGeom prst="rect">
            <a:avLst/>
          </a:prstGeom>
          <a:solidFill>
            <a:srgbClr val="CBA6F7">
              <a:alpha val="14000"/>
            </a:srgbClr>
          </a:solidFill>
          <a:ln w="17780">
            <a:solidFill>
              <a:srgbClr val="CBA6F7"/>
            </a:solidFill>
            <a:prstDash val="solid"/>
          </a:ln>
        </p:spPr>
      </p:sp>
      <p:sp>
        <p:nvSpPr>
          <p:cNvPr id="43" name="Text 40"/>
          <p:cNvSpPr/>
          <p:nvPr/>
        </p:nvSpPr>
        <p:spPr>
          <a:xfrm>
            <a:off x="9015984" y="4572000"/>
            <a:ext cx="2697480" cy="402336"/>
          </a:xfrm>
          <a:prstGeom prst="rect">
            <a:avLst/>
          </a:prstGeom>
          <a:noFill/>
          <a:ln/>
        </p:spPr>
        <p:txBody>
          <a:bodyPr wrap="square" lIns="0" tIns="0" rIns="0" bIns="0" rtlCol="0" anchor="ctr"/>
          <a:lstStyle/>
          <a:p>
            <a:pPr marL="0" indent="0" algn="ctr">
              <a:buNone/>
            </a:pPr>
            <a:r>
              <a:rPr lang="en-US" sz="1250" b="1" dirty="0">
                <a:solidFill>
                  <a:srgbClr val="CDD6F4"/>
                </a:solidFill>
                <a:latin typeface="Calibri" pitchFamily="34" charset="0"/>
                <a:ea typeface="Calibri" pitchFamily="34" charset="-122"/>
                <a:cs typeface="Calibri" pitchFamily="34" charset="-120"/>
              </a:rPr>
              <a:t>Orchestrator</a:t>
            </a:r>
            <a:endParaRPr lang="en-US" sz="1250" dirty="0"/>
          </a:p>
        </p:txBody>
      </p:sp>
      <p:sp>
        <p:nvSpPr>
          <p:cNvPr id="44" name="Text 41"/>
          <p:cNvSpPr/>
          <p:nvPr/>
        </p:nvSpPr>
        <p:spPr>
          <a:xfrm>
            <a:off x="9125712" y="5020056"/>
            <a:ext cx="2514600" cy="635508"/>
          </a:xfrm>
          <a:prstGeom prst="rect">
            <a:avLst/>
          </a:prstGeom>
          <a:noFill/>
          <a:ln/>
        </p:spPr>
        <p:txBody>
          <a:bodyPr wrap="square" lIns="0" tIns="0" rIns="0" bIns="0" rtlCol="0" anchor="ctr"/>
          <a:lstStyle/>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model = deepseek-v3.2</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temperature = 0.2</a:t>
            </a:r>
            <a:endParaRPr lang="en-US" sz="830" dirty="0"/>
          </a:p>
          <a:p>
            <a:pPr marL="0" indent="0">
              <a:lnSpc>
                <a:spcPct val="100000"/>
              </a:lnSpc>
              <a:buNone/>
            </a:pPr>
            <a:r>
              <a:rPr lang="en-US" sz="830" dirty="0">
                <a:solidFill>
                  <a:srgbClr val="BAC2DE"/>
                </a:solidFill>
                <a:latin typeface="Consolas" pitchFamily="34" charset="0"/>
                <a:ea typeface="Consolas" pitchFamily="34" charset="-122"/>
                <a:cs typeface="Consolas" pitchFamily="34" charset="-120"/>
              </a:rPr>
              <a:t>+ port = 8004</a:t>
            </a:r>
            <a:endParaRPr lang="en-US" sz="830" dirty="0"/>
          </a:p>
        </p:txBody>
      </p:sp>
      <p:sp>
        <p:nvSpPr>
          <p:cNvPr id="45" name="Shape 42"/>
          <p:cNvSpPr/>
          <p:nvPr/>
        </p:nvSpPr>
        <p:spPr>
          <a:xfrm>
            <a:off x="9015984" y="5664708"/>
            <a:ext cx="2697480" cy="0"/>
          </a:xfrm>
          <a:prstGeom prst="line">
            <a:avLst/>
          </a:prstGeom>
          <a:noFill/>
          <a:ln w="12700">
            <a:solidFill>
              <a:srgbClr val="CBA6F7"/>
            </a:solidFill>
            <a:prstDash val="solid"/>
          </a:ln>
        </p:spPr>
      </p:sp>
      <p:sp>
        <p:nvSpPr>
          <p:cNvPr id="46" name="Text 43"/>
          <p:cNvSpPr/>
          <p:nvPr/>
        </p:nvSpPr>
        <p:spPr>
          <a:xfrm>
            <a:off x="9125712" y="5710428"/>
            <a:ext cx="2514600" cy="260604"/>
          </a:xfrm>
          <a:prstGeom prst="rect">
            <a:avLst/>
          </a:prstGeom>
          <a:noFill/>
          <a:ln/>
        </p:spPr>
        <p:txBody>
          <a:bodyPr wrap="square" lIns="0" tIns="0" rIns="0" bIns="0" rtlCol="0" anchor="ctr"/>
          <a:lstStyle/>
          <a:p>
            <a:pPr marL="0" indent="0">
              <a:lnSpc>
                <a:spcPct val="100000"/>
              </a:lnSpc>
              <a:buNone/>
            </a:pPr>
            <a:r>
              <a:rPr lang="en-US" sz="830" dirty="0">
                <a:solidFill>
                  <a:srgbClr val="CBA6F7"/>
                </a:solidFill>
                <a:latin typeface="Consolas" pitchFamily="34" charset="0"/>
                <a:ea typeface="Consolas" pitchFamily="34" charset="-122"/>
                <a:cs typeface="Consolas" pitchFamily="34" charset="-120"/>
              </a:rPr>
              <a:t>+ orchestrate(req) : Resp</a:t>
            </a:r>
            <a:endParaRPr lang="en-US" sz="830" dirty="0"/>
          </a:p>
        </p:txBody>
      </p:sp>
      <p:sp>
        <p:nvSpPr>
          <p:cNvPr id="47" name="Shape 44"/>
          <p:cNvSpPr/>
          <p:nvPr/>
        </p:nvSpPr>
        <p:spPr>
          <a:xfrm>
            <a:off x="1915668" y="4572000"/>
            <a:ext cx="3433572" cy="0"/>
          </a:xfrm>
          <a:prstGeom prst="line">
            <a:avLst/>
          </a:prstGeom>
          <a:noFill/>
          <a:ln w="15875">
            <a:solidFill>
              <a:srgbClr val="7F849C"/>
            </a:solidFill>
            <a:prstDash val="solid"/>
            <a:tailEnd type="triangle"/>
          </a:ln>
        </p:spPr>
      </p:sp>
      <p:sp>
        <p:nvSpPr>
          <p:cNvPr id="48" name="Shape 45"/>
          <p:cNvSpPr/>
          <p:nvPr/>
        </p:nvSpPr>
        <p:spPr>
          <a:xfrm>
            <a:off x="4732020" y="4572000"/>
            <a:ext cx="617220" cy="0"/>
          </a:xfrm>
          <a:prstGeom prst="line">
            <a:avLst/>
          </a:prstGeom>
          <a:noFill/>
          <a:ln w="15875">
            <a:solidFill>
              <a:srgbClr val="7F849C"/>
            </a:solidFill>
            <a:prstDash val="solid"/>
            <a:tailEnd type="triangle"/>
          </a:ln>
        </p:spPr>
      </p:sp>
      <p:sp>
        <p:nvSpPr>
          <p:cNvPr id="49" name="Shape 46"/>
          <p:cNvSpPr/>
          <p:nvPr/>
        </p:nvSpPr>
        <p:spPr>
          <a:xfrm>
            <a:off x="7548372" y="4572000"/>
            <a:ext cx="0" cy="0"/>
          </a:xfrm>
          <a:prstGeom prst="line">
            <a:avLst/>
          </a:prstGeom>
          <a:noFill/>
          <a:ln w="15875">
            <a:solidFill>
              <a:srgbClr val="7F849C"/>
            </a:solidFill>
            <a:prstDash val="solid"/>
            <a:tailEnd type="triangle"/>
          </a:ln>
        </p:spPr>
      </p:sp>
      <p:sp>
        <p:nvSpPr>
          <p:cNvPr id="50" name="Shape 47"/>
          <p:cNvSpPr/>
          <p:nvPr/>
        </p:nvSpPr>
        <p:spPr>
          <a:xfrm>
            <a:off x="10364724" y="4572000"/>
            <a:ext cx="0" cy="0"/>
          </a:xfrm>
          <a:prstGeom prst="line">
            <a:avLst/>
          </a:prstGeom>
          <a:noFill/>
          <a:ln w="15875">
            <a:solidFill>
              <a:srgbClr val="7F849C"/>
            </a:solidFill>
            <a:prstDash val="solid"/>
            <a:tailEnd type="triangle"/>
          </a:ln>
        </p:spPr>
      </p:sp>
      <p:sp>
        <p:nvSpPr>
          <p:cNvPr id="51" name="Text 48"/>
          <p:cNvSpPr/>
          <p:nvPr/>
        </p:nvSpPr>
        <p:spPr>
          <a:xfrm>
            <a:off x="4892040" y="4247388"/>
            <a:ext cx="914400" cy="201168"/>
          </a:xfrm>
          <a:prstGeom prst="rect">
            <a:avLst/>
          </a:prstGeom>
          <a:noFill/>
          <a:ln/>
        </p:spPr>
        <p:txBody>
          <a:bodyPr wrap="square" lIns="0" tIns="0" rIns="0" bIns="0" rtlCol="0" anchor="ctr"/>
          <a:lstStyle/>
          <a:p>
            <a:pPr marL="0" indent="0" algn="ctr">
              <a:buNone/>
            </a:pPr>
            <a:r>
              <a:rPr lang="en-US" sz="850" i="1" dirty="0">
                <a:solidFill>
                  <a:srgbClr val="7F849C"/>
                </a:solidFill>
                <a:latin typeface="Calibri" pitchFamily="34" charset="0"/>
                <a:ea typeface="Calibri" pitchFamily="34" charset="-122"/>
                <a:cs typeface="Calibri" pitchFamily="34" charset="-120"/>
              </a:rPr>
              <a:t>hérite</a:t>
            </a:r>
            <a:endParaRPr lang="en-US" sz="850" dirty="0"/>
          </a:p>
        </p:txBody>
      </p:sp>
      <p:sp>
        <p:nvSpPr>
          <p:cNvPr id="52" name="Shape 49"/>
          <p:cNvSpPr/>
          <p:nvPr/>
        </p:nvSpPr>
        <p:spPr>
          <a:xfrm>
            <a:off x="7452360" y="2514600"/>
            <a:ext cx="1600200" cy="0"/>
          </a:xfrm>
          <a:prstGeom prst="line">
            <a:avLst/>
          </a:prstGeom>
          <a:noFill/>
          <a:ln w="13970">
            <a:solidFill>
              <a:srgbClr val="94E2D5"/>
            </a:solidFill>
            <a:prstDash val="dash"/>
            <a:tailEnd type="triangle"/>
          </a:ln>
        </p:spPr>
      </p:sp>
      <p:sp>
        <p:nvSpPr>
          <p:cNvPr id="53" name="Text 50"/>
          <p:cNvSpPr/>
          <p:nvPr/>
        </p:nvSpPr>
        <p:spPr>
          <a:xfrm>
            <a:off x="7498080" y="2221992"/>
            <a:ext cx="1554480" cy="228600"/>
          </a:xfrm>
          <a:prstGeom prst="rect">
            <a:avLst/>
          </a:prstGeom>
          <a:noFill/>
          <a:ln/>
        </p:spPr>
        <p:txBody>
          <a:bodyPr wrap="square" lIns="0" tIns="0" rIns="0" bIns="0" rtlCol="0" anchor="ctr"/>
          <a:lstStyle/>
          <a:p>
            <a:pPr marL="0" indent="0" algn="ctr">
              <a:buNone/>
            </a:pPr>
            <a:r>
              <a:rPr lang="en-US" sz="850" i="1" dirty="0">
                <a:solidFill>
                  <a:srgbClr val="94E2D5"/>
                </a:solidFill>
                <a:latin typeface="Calibri" pitchFamily="34" charset="0"/>
                <a:ea typeface="Calibri" pitchFamily="34" charset="-122"/>
                <a:cs typeface="Calibri" pitchFamily="34" charset="-120"/>
              </a:rPr>
              <a:t>«use» 4 @tools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infinity.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A6E3A1"/>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Boucle ReAct LangGraph (par agent)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12</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566928" y="1417320"/>
            <a:ext cx="11064240" cy="457200"/>
          </a:xfrm>
          <a:prstGeom prst="rect">
            <a:avLst/>
          </a:prstGeom>
          <a:noFill/>
          <a:ln/>
        </p:spPr>
        <p:txBody>
          <a:bodyPr wrap="square" lIns="0" tIns="0" rIns="0" bIns="0" rtlCol="0" anchor="ctr"/>
          <a:lstStyle/>
          <a:p>
            <a:pPr marL="0" indent="0">
              <a:lnSpc>
                <a:spcPct val="105000"/>
              </a:lnSpc>
              <a:buNone/>
            </a:pPr>
            <a:r>
              <a:rPr lang="en-US" sz="1150" i="1" dirty="0">
                <a:solidFill>
                  <a:srgbClr val="A6ADC8"/>
                </a:solidFill>
                <a:latin typeface="Calibri" pitchFamily="34" charset="0"/>
                <a:ea typeface="Calibri" pitchFamily="34" charset="-122"/>
                <a:cs typeface="Calibri" pitchFamily="34" charset="-120"/>
              </a:rPr>
              <a:t>Chaque agent est construit avec create_react_agent(llm, tools, state_modifier=SYSTEM_PROMPT). À l'exécution, LangGraph déroule la boucle raisonner → agir → observer jusqu'à ce que le LLM n'émette plus d'appel d'outil.</a:t>
            </a:r>
            <a:endParaRPr lang="en-US" sz="1150" dirty="0"/>
          </a:p>
        </p:txBody>
      </p:sp>
      <p:sp>
        <p:nvSpPr>
          <p:cNvPr id="9" name="Shape 6"/>
          <p:cNvSpPr/>
          <p:nvPr/>
        </p:nvSpPr>
        <p:spPr>
          <a:xfrm>
            <a:off x="822960" y="3063240"/>
            <a:ext cx="868680" cy="868680"/>
          </a:xfrm>
          <a:prstGeom prst="ellipse">
            <a:avLst/>
          </a:prstGeom>
          <a:solidFill>
            <a:srgbClr val="11111B"/>
          </a:solidFill>
          <a:ln w="19050">
            <a:solidFill>
              <a:srgbClr val="7F849C"/>
            </a:solidFill>
            <a:prstDash val="solid"/>
          </a:ln>
        </p:spPr>
      </p:sp>
      <p:sp>
        <p:nvSpPr>
          <p:cNvPr id="10" name="Text 7"/>
          <p:cNvSpPr/>
          <p:nvPr/>
        </p:nvSpPr>
        <p:spPr>
          <a:xfrm>
            <a:off x="822960" y="3063240"/>
            <a:ext cx="868680" cy="868680"/>
          </a:xfrm>
          <a:prstGeom prst="rect">
            <a:avLst/>
          </a:prstGeom>
          <a:noFill/>
          <a:ln/>
        </p:spPr>
        <p:txBody>
          <a:bodyPr wrap="square" lIns="0" tIns="0" rIns="0" bIns="0" rtlCol="0" anchor="ctr"/>
          <a:lstStyle/>
          <a:p>
            <a:pPr marL="0" indent="0" algn="ctr">
              <a:buNone/>
            </a:pPr>
            <a:r>
              <a:rPr lang="en-US" sz="1000" b="1" dirty="0">
                <a:solidFill>
                  <a:srgbClr val="CDD6F4"/>
                </a:solidFill>
                <a:latin typeface="Consolas" pitchFamily="34" charset="0"/>
                <a:ea typeface="Consolas" pitchFamily="34" charset="-122"/>
                <a:cs typeface="Consolas" pitchFamily="34" charset="-120"/>
              </a:rPr>
              <a:t>START</a:t>
            </a:r>
            <a:endParaRPr lang="en-US" sz="1000" dirty="0"/>
          </a:p>
        </p:txBody>
      </p:sp>
      <p:sp>
        <p:nvSpPr>
          <p:cNvPr id="11" name="Shape 8"/>
          <p:cNvSpPr/>
          <p:nvPr/>
        </p:nvSpPr>
        <p:spPr>
          <a:xfrm>
            <a:off x="2606040" y="2788920"/>
            <a:ext cx="2743200" cy="1417320"/>
          </a:xfrm>
          <a:prstGeom prst="roundRect">
            <a:avLst>
              <a:gd name="adj" fmla="val 4516"/>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12" name="Text 9"/>
          <p:cNvSpPr/>
          <p:nvPr/>
        </p:nvSpPr>
        <p:spPr>
          <a:xfrm>
            <a:off x="2679192" y="2788920"/>
            <a:ext cx="2596896" cy="1417320"/>
          </a:xfrm>
          <a:prstGeom prst="rect">
            <a:avLst/>
          </a:prstGeom>
          <a:noFill/>
          <a:ln/>
        </p:spPr>
        <p:txBody>
          <a:bodyPr wrap="square" lIns="0" tIns="0" rIns="0" bIns="0" rtlCol="0" anchor="ctr"/>
          <a:lstStyle/>
          <a:p>
            <a:pPr marL="0" indent="0" algn="ctr">
              <a:lnSpc>
                <a:spcPct val="95000"/>
              </a:lnSpc>
              <a:buNone/>
            </a:pPr>
            <a:r>
              <a:rPr lang="en-US" sz="1800" b="1" dirty="0">
                <a:solidFill>
                  <a:srgbClr val="A6E3A1"/>
                </a:solidFill>
                <a:latin typeface="Calibri" pitchFamily="34" charset="0"/>
                <a:ea typeface="Calibri" pitchFamily="34" charset="-122"/>
                <a:cs typeface="Calibri" pitchFamily="34" charset="-120"/>
              </a:rPr>
              <a:t>Agent</a:t>
            </a:r>
            <a:endParaRPr lang="en-US" sz="1800" dirty="0"/>
          </a:p>
        </p:txBody>
      </p:sp>
      <p:sp>
        <p:nvSpPr>
          <p:cNvPr id="13" name="Text 10"/>
          <p:cNvSpPr/>
          <p:nvPr/>
        </p:nvSpPr>
        <p:spPr>
          <a:xfrm>
            <a:off x="2697480" y="3520440"/>
            <a:ext cx="2560320" cy="594360"/>
          </a:xfrm>
          <a:prstGeom prst="rect">
            <a:avLst/>
          </a:prstGeom>
          <a:noFill/>
          <a:ln/>
        </p:spPr>
        <p:txBody>
          <a:bodyPr wrap="square" lIns="0" tIns="0" rIns="0" bIns="0" rtlCol="0" anchor="ctr"/>
          <a:lstStyle/>
          <a:p>
            <a:pPr marL="0" indent="0" algn="ctr">
              <a:lnSpc>
                <a:spcPct val="105000"/>
              </a:lnSpc>
              <a:buNone/>
            </a:pPr>
            <a:r>
              <a:rPr lang="en-US" sz="950" dirty="0">
                <a:solidFill>
                  <a:srgbClr val="A6ADC8"/>
                </a:solidFill>
                <a:latin typeface="Calibri" pitchFamily="34" charset="0"/>
                <a:ea typeface="Calibri" pitchFamily="34" charset="-122"/>
                <a:cs typeface="Calibri" pitchFamily="34" charset="-120"/>
              </a:rPr>
              <a:t>ChatOllama bound to tools</a:t>
            </a:r>
            <a:endParaRPr lang="en-US" sz="950" dirty="0"/>
          </a:p>
          <a:p>
            <a:pPr marL="0" indent="0" algn="ctr">
              <a:lnSpc>
                <a:spcPct val="105000"/>
              </a:lnSpc>
              <a:buNone/>
            </a:pPr>
            <a:r>
              <a:rPr lang="en-US" sz="950" dirty="0">
                <a:solidFill>
                  <a:srgbClr val="A6ADC8"/>
                </a:solidFill>
                <a:latin typeface="Calibri" pitchFamily="34" charset="0"/>
                <a:ea typeface="Calibri" pitchFamily="34" charset="-122"/>
                <a:cs typeface="Calibri" pitchFamily="34" charset="-120"/>
              </a:rPr>
              <a:t>+ SYSTEM_PROMPT (state_modifier)</a:t>
            </a:r>
            <a:endParaRPr lang="en-US" sz="950" dirty="0"/>
          </a:p>
        </p:txBody>
      </p:sp>
      <p:sp>
        <p:nvSpPr>
          <p:cNvPr id="14" name="Shape 11"/>
          <p:cNvSpPr/>
          <p:nvPr/>
        </p:nvSpPr>
        <p:spPr>
          <a:xfrm>
            <a:off x="6903720" y="2788920"/>
            <a:ext cx="2743200" cy="1417320"/>
          </a:xfrm>
          <a:prstGeom prst="roundRect">
            <a:avLst>
              <a:gd name="adj" fmla="val 4516"/>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15" name="Text 12"/>
          <p:cNvSpPr/>
          <p:nvPr/>
        </p:nvSpPr>
        <p:spPr>
          <a:xfrm>
            <a:off x="6976872" y="2788920"/>
            <a:ext cx="2596896" cy="1417320"/>
          </a:xfrm>
          <a:prstGeom prst="rect">
            <a:avLst/>
          </a:prstGeom>
          <a:noFill/>
          <a:ln/>
        </p:spPr>
        <p:txBody>
          <a:bodyPr wrap="square" lIns="0" tIns="0" rIns="0" bIns="0" rtlCol="0" anchor="ctr"/>
          <a:lstStyle/>
          <a:p>
            <a:pPr marL="0" indent="0" algn="ctr">
              <a:lnSpc>
                <a:spcPct val="95000"/>
              </a:lnSpc>
              <a:buNone/>
            </a:pPr>
            <a:r>
              <a:rPr lang="en-US" sz="1800" b="1" dirty="0">
                <a:solidFill>
                  <a:srgbClr val="F9E2AF"/>
                </a:solidFill>
                <a:latin typeface="Calibri" pitchFamily="34" charset="0"/>
                <a:ea typeface="Calibri" pitchFamily="34" charset="-122"/>
                <a:cs typeface="Calibri" pitchFamily="34" charset="-120"/>
              </a:rPr>
              <a:t>ToolNode</a:t>
            </a:r>
            <a:endParaRPr lang="en-US" sz="1800" dirty="0"/>
          </a:p>
        </p:txBody>
      </p:sp>
      <p:sp>
        <p:nvSpPr>
          <p:cNvPr id="16" name="Text 13"/>
          <p:cNvSpPr/>
          <p:nvPr/>
        </p:nvSpPr>
        <p:spPr>
          <a:xfrm>
            <a:off x="6995160" y="3520440"/>
            <a:ext cx="2560320" cy="594360"/>
          </a:xfrm>
          <a:prstGeom prst="rect">
            <a:avLst/>
          </a:prstGeom>
          <a:noFill/>
          <a:ln/>
        </p:spPr>
        <p:txBody>
          <a:bodyPr wrap="square" lIns="0" tIns="0" rIns="0" bIns="0" rtlCol="0" anchor="ctr"/>
          <a:lstStyle/>
          <a:p>
            <a:pPr marL="0" indent="0" algn="ctr">
              <a:lnSpc>
                <a:spcPct val="105000"/>
              </a:lnSpc>
              <a:buNone/>
            </a:pPr>
            <a:r>
              <a:rPr lang="en-US" sz="950" dirty="0">
                <a:solidFill>
                  <a:srgbClr val="A6ADC8"/>
                </a:solidFill>
                <a:latin typeface="Calibri" pitchFamily="34" charset="0"/>
                <a:ea typeface="Calibri" pitchFamily="34" charset="-122"/>
                <a:cs typeface="Calibri" pitchFamily="34" charset="-120"/>
              </a:rPr>
              <a:t>exécute le @tool sélectionné</a:t>
            </a:r>
            <a:endParaRPr lang="en-US" sz="950" dirty="0"/>
          </a:p>
          <a:p>
            <a:pPr marL="0" indent="0" algn="ctr">
              <a:lnSpc>
                <a:spcPct val="105000"/>
              </a:lnSpc>
              <a:buNone/>
            </a:pPr>
            <a:r>
              <a:rPr lang="en-US" sz="950" dirty="0">
                <a:solidFill>
                  <a:srgbClr val="A6ADC8"/>
                </a:solidFill>
                <a:latin typeface="Calibri" pitchFamily="34" charset="0"/>
                <a:ea typeface="Calibri" pitchFamily="34" charset="-122"/>
                <a:cs typeface="Calibri" pitchFamily="34" charset="-120"/>
              </a:rPr>
              <a:t>validate_html_tags · build_quiz…</a:t>
            </a:r>
            <a:endParaRPr lang="en-US" sz="950" dirty="0"/>
          </a:p>
        </p:txBody>
      </p:sp>
      <p:sp>
        <p:nvSpPr>
          <p:cNvPr id="17" name="Shape 14"/>
          <p:cNvSpPr/>
          <p:nvPr/>
        </p:nvSpPr>
        <p:spPr>
          <a:xfrm>
            <a:off x="10561320" y="3063240"/>
            <a:ext cx="868680" cy="868680"/>
          </a:xfrm>
          <a:prstGeom prst="ellipse">
            <a:avLst/>
          </a:prstGeom>
          <a:solidFill>
            <a:srgbClr val="11111B"/>
          </a:solidFill>
          <a:ln w="19050">
            <a:solidFill>
              <a:srgbClr val="A6E3A1"/>
            </a:solidFill>
            <a:prstDash val="solid"/>
          </a:ln>
        </p:spPr>
      </p:sp>
      <p:sp>
        <p:nvSpPr>
          <p:cNvPr id="18" name="Text 15"/>
          <p:cNvSpPr/>
          <p:nvPr/>
        </p:nvSpPr>
        <p:spPr>
          <a:xfrm>
            <a:off x="10561320" y="3063240"/>
            <a:ext cx="868680" cy="868680"/>
          </a:xfrm>
          <a:prstGeom prst="rect">
            <a:avLst/>
          </a:prstGeom>
          <a:noFill/>
          <a:ln/>
        </p:spPr>
        <p:txBody>
          <a:bodyPr wrap="square" lIns="0" tIns="0" rIns="0" bIns="0" rtlCol="0" anchor="ctr"/>
          <a:lstStyle/>
          <a:p>
            <a:pPr marL="0" indent="0" algn="ctr">
              <a:buNone/>
            </a:pPr>
            <a:r>
              <a:rPr lang="en-US" sz="1100" b="1" dirty="0">
                <a:solidFill>
                  <a:srgbClr val="A6E3A1"/>
                </a:solidFill>
                <a:latin typeface="Consolas" pitchFamily="34" charset="0"/>
                <a:ea typeface="Consolas" pitchFamily="34" charset="-122"/>
                <a:cs typeface="Consolas" pitchFamily="34" charset="-120"/>
              </a:rPr>
              <a:t>END</a:t>
            </a:r>
            <a:endParaRPr lang="en-US" sz="1100" dirty="0"/>
          </a:p>
        </p:txBody>
      </p:sp>
      <p:sp>
        <p:nvSpPr>
          <p:cNvPr id="19" name="Shape 16"/>
          <p:cNvSpPr/>
          <p:nvPr/>
        </p:nvSpPr>
        <p:spPr>
          <a:xfrm>
            <a:off x="1691640" y="3493008"/>
            <a:ext cx="914400" cy="0"/>
          </a:xfrm>
          <a:prstGeom prst="line">
            <a:avLst/>
          </a:prstGeom>
          <a:noFill/>
          <a:ln w="19050">
            <a:solidFill>
              <a:srgbClr val="7F849C"/>
            </a:solidFill>
            <a:prstDash val="solid"/>
            <a:tailEnd type="triangle"/>
          </a:ln>
        </p:spPr>
      </p:sp>
      <p:sp>
        <p:nvSpPr>
          <p:cNvPr id="20" name="Text 17"/>
          <p:cNvSpPr/>
          <p:nvPr/>
        </p:nvSpPr>
        <p:spPr>
          <a:xfrm>
            <a:off x="1371600" y="2331720"/>
            <a:ext cx="1554480" cy="457200"/>
          </a:xfrm>
          <a:prstGeom prst="rect">
            <a:avLst/>
          </a:prstGeom>
          <a:noFill/>
          <a:ln/>
        </p:spPr>
        <p:txBody>
          <a:bodyPr wrap="square" lIns="0" tIns="0" rIns="0" bIns="0" rtlCol="0" anchor="ctr"/>
          <a:lstStyle/>
          <a:p>
            <a:pPr marL="0" indent="0" algn="ctr">
              <a:lnSpc>
                <a:spcPct val="95000"/>
              </a:lnSpc>
              <a:buNone/>
            </a:pPr>
            <a:r>
              <a:rPr lang="en-US" sz="850" dirty="0">
                <a:solidFill>
                  <a:srgbClr val="A6ADC8"/>
                </a:solidFill>
                <a:latin typeface="Calibri" pitchFamily="34" charset="0"/>
                <a:ea typeface="Calibri" pitchFamily="34" charset="-122"/>
                <a:cs typeface="Calibri" pitchFamily="34" charset="-120"/>
              </a:rPr>
              <a:t>HumanMessage</a:t>
            </a:r>
            <a:endParaRPr lang="en-US" sz="850" dirty="0"/>
          </a:p>
          <a:p>
            <a:pPr marL="0" indent="0" algn="ctr">
              <a:lnSpc>
                <a:spcPct val="95000"/>
              </a:lnSpc>
              <a:buNone/>
            </a:pPr>
            <a:r>
              <a:rPr lang="en-US" sz="850" dirty="0">
                <a:solidFill>
                  <a:srgbClr val="A6ADC8"/>
                </a:solidFill>
                <a:latin typeface="Calibri" pitchFamily="34" charset="0"/>
                <a:ea typeface="Calibri" pitchFamily="34" charset="-122"/>
                <a:cs typeface="Calibri" pitchFamily="34" charset="-120"/>
              </a:rPr>
              <a:t>(request + context)</a:t>
            </a:r>
            <a:endParaRPr lang="en-US" sz="850" dirty="0"/>
          </a:p>
        </p:txBody>
      </p:sp>
      <p:sp>
        <p:nvSpPr>
          <p:cNvPr id="21" name="Shape 18"/>
          <p:cNvSpPr/>
          <p:nvPr/>
        </p:nvSpPr>
        <p:spPr>
          <a:xfrm>
            <a:off x="5349240" y="3200400"/>
            <a:ext cx="1554480" cy="0"/>
          </a:xfrm>
          <a:prstGeom prst="line">
            <a:avLst/>
          </a:prstGeom>
          <a:noFill/>
          <a:ln w="20320">
            <a:solidFill>
              <a:srgbClr val="A6E3A1"/>
            </a:solidFill>
            <a:prstDash val="solid"/>
            <a:tailEnd type="triangle"/>
          </a:ln>
        </p:spPr>
      </p:sp>
      <p:sp>
        <p:nvSpPr>
          <p:cNvPr id="22" name="Text 19"/>
          <p:cNvSpPr/>
          <p:nvPr/>
        </p:nvSpPr>
        <p:spPr>
          <a:xfrm>
            <a:off x="5212080" y="2907792"/>
            <a:ext cx="1828800" cy="228600"/>
          </a:xfrm>
          <a:prstGeom prst="rect">
            <a:avLst/>
          </a:prstGeom>
          <a:noFill/>
          <a:ln/>
        </p:spPr>
        <p:txBody>
          <a:bodyPr wrap="square" lIns="0" tIns="0" rIns="0" bIns="0" rtlCol="0" anchor="ctr"/>
          <a:lstStyle/>
          <a:p>
            <a:pPr marL="0" indent="0" algn="ctr">
              <a:buNone/>
            </a:pPr>
            <a:r>
              <a:rPr lang="en-US" sz="900" b="1" dirty="0">
                <a:solidFill>
                  <a:srgbClr val="A6E3A1"/>
                </a:solidFill>
                <a:latin typeface="Calibri" pitchFamily="34" charset="0"/>
                <a:ea typeface="Calibri" pitchFamily="34" charset="-122"/>
                <a:cs typeface="Calibri" pitchFamily="34" charset="-120"/>
              </a:rPr>
              <a:t>LLM émet tool_call(s)</a:t>
            </a:r>
            <a:endParaRPr lang="en-US" sz="900" dirty="0"/>
          </a:p>
        </p:txBody>
      </p:sp>
      <p:sp>
        <p:nvSpPr>
          <p:cNvPr id="23" name="Shape 20"/>
          <p:cNvSpPr/>
          <p:nvPr/>
        </p:nvSpPr>
        <p:spPr>
          <a:xfrm>
            <a:off x="6903720" y="3794760"/>
            <a:ext cx="0" cy="0"/>
          </a:xfrm>
          <a:prstGeom prst="line">
            <a:avLst/>
          </a:prstGeom>
          <a:noFill/>
          <a:ln w="20320">
            <a:solidFill>
              <a:srgbClr val="F9E2AF"/>
            </a:solidFill>
            <a:prstDash val="solid"/>
            <a:tailEnd type="triangle"/>
          </a:ln>
        </p:spPr>
      </p:sp>
      <p:sp>
        <p:nvSpPr>
          <p:cNvPr id="24" name="Text 21"/>
          <p:cNvSpPr/>
          <p:nvPr/>
        </p:nvSpPr>
        <p:spPr>
          <a:xfrm>
            <a:off x="5074920" y="3840480"/>
            <a:ext cx="2057400" cy="228600"/>
          </a:xfrm>
          <a:prstGeom prst="rect">
            <a:avLst/>
          </a:prstGeom>
          <a:noFill/>
          <a:ln/>
        </p:spPr>
        <p:txBody>
          <a:bodyPr wrap="square" lIns="0" tIns="0" rIns="0" bIns="0" rtlCol="0" anchor="ctr"/>
          <a:lstStyle/>
          <a:p>
            <a:pPr marL="0" indent="0" algn="ctr">
              <a:buNone/>
            </a:pPr>
            <a:r>
              <a:rPr lang="en-US" sz="900" b="1" dirty="0">
                <a:solidFill>
                  <a:srgbClr val="F9E2AF"/>
                </a:solidFill>
                <a:latin typeface="Calibri" pitchFamily="34" charset="0"/>
                <a:ea typeface="Calibri" pitchFamily="34" charset="-122"/>
                <a:cs typeface="Calibri" pitchFamily="34" charset="-120"/>
              </a:rPr>
              <a:t>ToolMessage (observation)</a:t>
            </a:r>
            <a:endParaRPr lang="en-US" sz="900" dirty="0"/>
          </a:p>
        </p:txBody>
      </p:sp>
      <p:sp>
        <p:nvSpPr>
          <p:cNvPr id="25" name="Shape 22"/>
          <p:cNvSpPr/>
          <p:nvPr/>
        </p:nvSpPr>
        <p:spPr>
          <a:xfrm>
            <a:off x="3977640" y="4206240"/>
            <a:ext cx="0" cy="685800"/>
          </a:xfrm>
          <a:prstGeom prst="line">
            <a:avLst/>
          </a:prstGeom>
          <a:noFill/>
          <a:ln w="19050">
            <a:solidFill>
              <a:srgbClr val="A6E3A1"/>
            </a:solidFill>
            <a:prstDash val="solid"/>
          </a:ln>
        </p:spPr>
      </p:sp>
      <p:sp>
        <p:nvSpPr>
          <p:cNvPr id="26" name="Shape 23"/>
          <p:cNvSpPr/>
          <p:nvPr/>
        </p:nvSpPr>
        <p:spPr>
          <a:xfrm>
            <a:off x="3977640" y="4892040"/>
            <a:ext cx="6995160" cy="0"/>
          </a:xfrm>
          <a:prstGeom prst="line">
            <a:avLst/>
          </a:prstGeom>
          <a:noFill/>
          <a:ln w="19050">
            <a:solidFill>
              <a:srgbClr val="A6E3A1"/>
            </a:solidFill>
            <a:prstDash val="solid"/>
          </a:ln>
        </p:spPr>
      </p:sp>
      <p:sp>
        <p:nvSpPr>
          <p:cNvPr id="27" name="Shape 24"/>
          <p:cNvSpPr/>
          <p:nvPr/>
        </p:nvSpPr>
        <p:spPr>
          <a:xfrm>
            <a:off x="10972800" y="4892040"/>
            <a:ext cx="0" cy="0"/>
          </a:xfrm>
          <a:prstGeom prst="line">
            <a:avLst/>
          </a:prstGeom>
          <a:noFill/>
          <a:ln w="19050">
            <a:solidFill>
              <a:srgbClr val="A6E3A1"/>
            </a:solidFill>
            <a:prstDash val="solid"/>
            <a:tailEnd type="triangle"/>
          </a:ln>
        </p:spPr>
      </p:sp>
      <p:sp>
        <p:nvSpPr>
          <p:cNvPr id="28" name="Text 25"/>
          <p:cNvSpPr/>
          <p:nvPr/>
        </p:nvSpPr>
        <p:spPr>
          <a:xfrm>
            <a:off x="5486400" y="4937760"/>
            <a:ext cx="3657600" cy="228600"/>
          </a:xfrm>
          <a:prstGeom prst="rect">
            <a:avLst/>
          </a:prstGeom>
          <a:noFill/>
          <a:ln/>
        </p:spPr>
        <p:txBody>
          <a:bodyPr wrap="square" lIns="0" tIns="0" rIns="0" bIns="0" rtlCol="0" anchor="ctr"/>
          <a:lstStyle/>
          <a:p>
            <a:pPr marL="0" indent="0" algn="ctr">
              <a:buNone/>
            </a:pPr>
            <a:r>
              <a:rPr lang="en-US" sz="900" b="1" dirty="0">
                <a:solidFill>
                  <a:srgbClr val="A6E3A1"/>
                </a:solidFill>
                <a:latin typeface="Calibri" pitchFamily="34" charset="0"/>
                <a:ea typeface="Calibri" pitchFamily="34" charset="-122"/>
                <a:cs typeface="Calibri" pitchFamily="34" charset="-120"/>
              </a:rPr>
              <a:t>réponse finale — aucun tool_call</a:t>
            </a:r>
            <a:endParaRPr lang="en-US" sz="900" dirty="0"/>
          </a:p>
        </p:txBody>
      </p:sp>
      <p:sp>
        <p:nvSpPr>
          <p:cNvPr id="29" name="Shape 26"/>
          <p:cNvSpPr/>
          <p:nvPr/>
        </p:nvSpPr>
        <p:spPr>
          <a:xfrm>
            <a:off x="566928" y="5532120"/>
            <a:ext cx="3566160" cy="1005840"/>
          </a:xfrm>
          <a:prstGeom prst="roundRect">
            <a:avLst>
              <a:gd name="adj" fmla="val 8182"/>
            </a:avLst>
          </a:prstGeom>
          <a:solidFill>
            <a:srgbClr val="232338"/>
          </a:solidFill>
          <a:ln w="12700">
            <a:solidFill>
              <a:srgbClr val="313244"/>
            </a:solidFill>
            <a:prstDash val="solid"/>
          </a:ln>
          <a:effectLst>
            <a:outerShdw blurRad="114300" dist="38100" dir="5400000" algn="bl" rotWithShape="0">
              <a:srgbClr val="000000">
                <a:alpha val="35000"/>
              </a:srgbClr>
            </a:outerShdw>
          </a:effectLst>
        </p:spPr>
      </p:sp>
      <p:pic>
        <p:nvPicPr>
          <p:cNvPr id="30" name="Image 1" descr="assets/ic_brain.png"/>
          <p:cNvPicPr>
            <a:picLocks noChangeAspect="1"/>
          </p:cNvPicPr>
          <p:nvPr/>
        </p:nvPicPr>
        <p:blipFill>
          <a:blip r:embed="rId4"/>
          <a:stretch>
            <a:fillRect/>
          </a:stretch>
        </p:blipFill>
        <p:spPr>
          <a:xfrm>
            <a:off x="795528" y="5824728"/>
            <a:ext cx="411480" cy="411480"/>
          </a:xfrm>
          <a:prstGeom prst="rect">
            <a:avLst/>
          </a:prstGeom>
        </p:spPr>
      </p:pic>
      <p:sp>
        <p:nvSpPr>
          <p:cNvPr id="31" name="Text 27"/>
          <p:cNvSpPr/>
          <p:nvPr/>
        </p:nvSpPr>
        <p:spPr>
          <a:xfrm>
            <a:off x="1344168" y="5696712"/>
            <a:ext cx="2651760" cy="292608"/>
          </a:xfrm>
          <a:prstGeom prst="rect">
            <a:avLst/>
          </a:prstGeom>
          <a:noFill/>
          <a:ln/>
        </p:spPr>
        <p:txBody>
          <a:bodyPr wrap="square" lIns="0" tIns="0" rIns="0" bIns="0" rtlCol="0" anchor="ctr"/>
          <a:lstStyle/>
          <a:p>
            <a:pPr marL="0" indent="0">
              <a:buNone/>
            </a:pPr>
            <a:r>
              <a:rPr lang="en-US" sz="1400" b="1" dirty="0">
                <a:solidFill>
                  <a:srgbClr val="A6E3A1"/>
                </a:solidFill>
                <a:latin typeface="Georgia" pitchFamily="34" charset="0"/>
                <a:ea typeface="Georgia" pitchFamily="34" charset="-122"/>
                <a:cs typeface="Georgia" pitchFamily="34" charset="-120"/>
              </a:rPr>
              <a:t>Reason</a:t>
            </a:r>
            <a:endParaRPr lang="en-US" sz="1400" dirty="0"/>
          </a:p>
        </p:txBody>
      </p:sp>
      <p:sp>
        <p:nvSpPr>
          <p:cNvPr id="32" name="Text 28"/>
          <p:cNvSpPr/>
          <p:nvPr/>
        </p:nvSpPr>
        <p:spPr>
          <a:xfrm>
            <a:off x="1344168" y="5989320"/>
            <a:ext cx="2606040" cy="502920"/>
          </a:xfrm>
          <a:prstGeom prst="rect">
            <a:avLst/>
          </a:prstGeom>
          <a:noFill/>
          <a:ln/>
        </p:spPr>
        <p:txBody>
          <a:bodyPr wrap="square" lIns="0" tIns="0" rIns="0" bIns="0" rtlCol="0" anchor="ctr"/>
          <a:lstStyle/>
          <a:p>
            <a:pPr marL="0" indent="0">
              <a:lnSpc>
                <a:spcPct val="100000"/>
              </a:lnSpc>
              <a:buNone/>
            </a:pPr>
            <a:r>
              <a:rPr lang="en-US" sz="1000" dirty="0">
                <a:solidFill>
                  <a:srgbClr val="A6ADC8"/>
                </a:solidFill>
                <a:latin typeface="Calibri" pitchFamily="34" charset="0"/>
                <a:ea typeface="Calibri" pitchFamily="34" charset="-122"/>
                <a:cs typeface="Calibri" pitchFamily="34" charset="-120"/>
              </a:rPr>
              <a:t>Le LLM raisonne sur l'état + le prompt système</a:t>
            </a:r>
            <a:endParaRPr lang="en-US" sz="1000" dirty="0"/>
          </a:p>
        </p:txBody>
      </p:sp>
      <p:sp>
        <p:nvSpPr>
          <p:cNvPr id="33" name="Shape 29"/>
          <p:cNvSpPr/>
          <p:nvPr/>
        </p:nvSpPr>
        <p:spPr>
          <a:xfrm>
            <a:off x="4270248" y="5532120"/>
            <a:ext cx="3566160" cy="1005840"/>
          </a:xfrm>
          <a:prstGeom prst="roundRect">
            <a:avLst>
              <a:gd name="adj" fmla="val 8182"/>
            </a:avLst>
          </a:prstGeom>
          <a:solidFill>
            <a:srgbClr val="232338"/>
          </a:solidFill>
          <a:ln w="12700">
            <a:solidFill>
              <a:srgbClr val="313244"/>
            </a:solidFill>
            <a:prstDash val="solid"/>
          </a:ln>
          <a:effectLst>
            <a:outerShdw blurRad="114300" dist="38100" dir="5400000" algn="bl" rotWithShape="0">
              <a:srgbClr val="000000">
                <a:alpha val="35000"/>
              </a:srgbClr>
            </a:outerShdw>
          </a:effectLst>
        </p:spPr>
      </p:sp>
      <p:pic>
        <p:nvPicPr>
          <p:cNvPr id="34" name="Image 2" descr="assets/ic_tools.png"/>
          <p:cNvPicPr>
            <a:picLocks noChangeAspect="1"/>
          </p:cNvPicPr>
          <p:nvPr/>
        </p:nvPicPr>
        <p:blipFill>
          <a:blip r:embed="rId5"/>
          <a:stretch>
            <a:fillRect/>
          </a:stretch>
        </p:blipFill>
        <p:spPr>
          <a:xfrm>
            <a:off x="4498848" y="5824728"/>
            <a:ext cx="411480" cy="411480"/>
          </a:xfrm>
          <a:prstGeom prst="rect">
            <a:avLst/>
          </a:prstGeom>
        </p:spPr>
      </p:pic>
      <p:sp>
        <p:nvSpPr>
          <p:cNvPr id="35" name="Text 30"/>
          <p:cNvSpPr/>
          <p:nvPr/>
        </p:nvSpPr>
        <p:spPr>
          <a:xfrm>
            <a:off x="5047488" y="5696712"/>
            <a:ext cx="2651760" cy="292608"/>
          </a:xfrm>
          <a:prstGeom prst="rect">
            <a:avLst/>
          </a:prstGeom>
          <a:noFill/>
          <a:ln/>
        </p:spPr>
        <p:txBody>
          <a:bodyPr wrap="square" lIns="0" tIns="0" rIns="0" bIns="0" rtlCol="0" anchor="ctr"/>
          <a:lstStyle/>
          <a:p>
            <a:pPr marL="0" indent="0">
              <a:buNone/>
            </a:pPr>
            <a:r>
              <a:rPr lang="en-US" sz="1400" b="1" dirty="0">
                <a:solidFill>
                  <a:srgbClr val="A6E3A1"/>
                </a:solidFill>
                <a:latin typeface="Georgia" pitchFamily="34" charset="0"/>
                <a:ea typeface="Georgia" pitchFamily="34" charset="-122"/>
                <a:cs typeface="Georgia" pitchFamily="34" charset="-120"/>
              </a:rPr>
              <a:t>Act</a:t>
            </a:r>
            <a:endParaRPr lang="en-US" sz="1400" dirty="0"/>
          </a:p>
        </p:txBody>
      </p:sp>
      <p:sp>
        <p:nvSpPr>
          <p:cNvPr id="36" name="Text 31"/>
          <p:cNvSpPr/>
          <p:nvPr/>
        </p:nvSpPr>
        <p:spPr>
          <a:xfrm>
            <a:off x="5047488" y="5989320"/>
            <a:ext cx="2606040" cy="502920"/>
          </a:xfrm>
          <a:prstGeom prst="rect">
            <a:avLst/>
          </a:prstGeom>
          <a:noFill/>
          <a:ln/>
        </p:spPr>
        <p:txBody>
          <a:bodyPr wrap="square" lIns="0" tIns="0" rIns="0" bIns="0" rtlCol="0" anchor="ctr"/>
          <a:lstStyle/>
          <a:p>
            <a:pPr marL="0" indent="0">
              <a:lnSpc>
                <a:spcPct val="100000"/>
              </a:lnSpc>
              <a:buNone/>
            </a:pPr>
            <a:r>
              <a:rPr lang="en-US" sz="1000" dirty="0">
                <a:solidFill>
                  <a:srgbClr val="A6ADC8"/>
                </a:solidFill>
                <a:latin typeface="Calibri" pitchFamily="34" charset="0"/>
                <a:ea typeface="Calibri" pitchFamily="34" charset="-122"/>
                <a:cs typeface="Calibri" pitchFamily="34" charset="-120"/>
              </a:rPr>
              <a:t>Il appelle un outil typé (ou émet la réponse finale)</a:t>
            </a:r>
            <a:endParaRPr lang="en-US" sz="1000" dirty="0"/>
          </a:p>
        </p:txBody>
      </p:sp>
      <p:sp>
        <p:nvSpPr>
          <p:cNvPr id="37" name="Shape 32"/>
          <p:cNvSpPr/>
          <p:nvPr/>
        </p:nvSpPr>
        <p:spPr>
          <a:xfrm>
            <a:off x="7973568" y="5532120"/>
            <a:ext cx="3566160" cy="1005840"/>
          </a:xfrm>
          <a:prstGeom prst="roundRect">
            <a:avLst>
              <a:gd name="adj" fmla="val 8182"/>
            </a:avLst>
          </a:prstGeom>
          <a:solidFill>
            <a:srgbClr val="232338"/>
          </a:solidFill>
          <a:ln w="12700">
            <a:solidFill>
              <a:srgbClr val="313244"/>
            </a:solidFill>
            <a:prstDash val="solid"/>
          </a:ln>
          <a:effectLst>
            <a:outerShdw blurRad="114300" dist="38100" dir="5400000" algn="bl" rotWithShape="0">
              <a:srgbClr val="000000">
                <a:alpha val="35000"/>
              </a:srgbClr>
            </a:outerShdw>
          </a:effectLst>
        </p:spPr>
      </p:sp>
      <p:pic>
        <p:nvPicPr>
          <p:cNvPr id="38" name="Image 3" descr="assets/ic_check.png"/>
          <p:cNvPicPr>
            <a:picLocks noChangeAspect="1"/>
          </p:cNvPicPr>
          <p:nvPr/>
        </p:nvPicPr>
        <p:blipFill>
          <a:blip r:embed="rId6"/>
          <a:stretch>
            <a:fillRect/>
          </a:stretch>
        </p:blipFill>
        <p:spPr>
          <a:xfrm>
            <a:off x="8202168" y="5824728"/>
            <a:ext cx="411480" cy="411480"/>
          </a:xfrm>
          <a:prstGeom prst="rect">
            <a:avLst/>
          </a:prstGeom>
        </p:spPr>
      </p:pic>
      <p:sp>
        <p:nvSpPr>
          <p:cNvPr id="39" name="Text 33"/>
          <p:cNvSpPr/>
          <p:nvPr/>
        </p:nvSpPr>
        <p:spPr>
          <a:xfrm>
            <a:off x="8750808" y="5696712"/>
            <a:ext cx="2651760" cy="292608"/>
          </a:xfrm>
          <a:prstGeom prst="rect">
            <a:avLst/>
          </a:prstGeom>
          <a:noFill/>
          <a:ln/>
        </p:spPr>
        <p:txBody>
          <a:bodyPr wrap="square" lIns="0" tIns="0" rIns="0" bIns="0" rtlCol="0" anchor="ctr"/>
          <a:lstStyle/>
          <a:p>
            <a:pPr marL="0" indent="0">
              <a:buNone/>
            </a:pPr>
            <a:r>
              <a:rPr lang="en-US" sz="1400" b="1" dirty="0">
                <a:solidFill>
                  <a:srgbClr val="A6E3A1"/>
                </a:solidFill>
                <a:latin typeface="Georgia" pitchFamily="34" charset="0"/>
                <a:ea typeface="Georgia" pitchFamily="34" charset="-122"/>
                <a:cs typeface="Georgia" pitchFamily="34" charset="-120"/>
              </a:rPr>
              <a:t>Observe</a:t>
            </a:r>
            <a:endParaRPr lang="en-US" sz="1400" dirty="0"/>
          </a:p>
        </p:txBody>
      </p:sp>
      <p:sp>
        <p:nvSpPr>
          <p:cNvPr id="40" name="Text 34"/>
          <p:cNvSpPr/>
          <p:nvPr/>
        </p:nvSpPr>
        <p:spPr>
          <a:xfrm>
            <a:off x="8750808" y="5989320"/>
            <a:ext cx="2606040" cy="502920"/>
          </a:xfrm>
          <a:prstGeom prst="rect">
            <a:avLst/>
          </a:prstGeom>
          <a:noFill/>
          <a:ln/>
        </p:spPr>
        <p:txBody>
          <a:bodyPr wrap="square" lIns="0" tIns="0" rIns="0" bIns="0" rtlCol="0" anchor="ctr"/>
          <a:lstStyle/>
          <a:p>
            <a:pPr marL="0" indent="0">
              <a:lnSpc>
                <a:spcPct val="100000"/>
              </a:lnSpc>
              <a:buNone/>
            </a:pPr>
            <a:r>
              <a:rPr lang="en-US" sz="1000" dirty="0">
                <a:solidFill>
                  <a:srgbClr val="A6ADC8"/>
                </a:solidFill>
                <a:latin typeface="Calibri" pitchFamily="34" charset="0"/>
                <a:ea typeface="Calibri" pitchFamily="34" charset="-122"/>
                <a:cs typeface="Calibri" pitchFamily="34" charset="-120"/>
              </a:rPr>
              <a:t>Le résultat de l'outil revient comme observation, puis on recommence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route.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CBA6F7"/>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Graphe de routage de l'Orchestrateur</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13</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566928" y="1417320"/>
            <a:ext cx="11064240" cy="457200"/>
          </a:xfrm>
          <a:prstGeom prst="rect">
            <a:avLst/>
          </a:prstGeom>
          <a:noFill/>
          <a:ln/>
        </p:spPr>
        <p:txBody>
          <a:bodyPr wrap="square" lIns="0" tIns="0" rIns="0" bIns="0" rtlCol="0" anchor="ctr"/>
          <a:lstStyle/>
          <a:p>
            <a:pPr marL="0" indent="0">
              <a:lnSpc>
                <a:spcPct val="105000"/>
              </a:lnSpc>
              <a:buNone/>
            </a:pPr>
            <a:r>
              <a:rPr lang="en-US" sz="1150" i="1" dirty="0">
                <a:solidFill>
                  <a:srgbClr val="A6ADC8"/>
                </a:solidFill>
                <a:latin typeface="Calibri" pitchFamily="34" charset="0"/>
                <a:ea typeface="Calibri" pitchFamily="34" charset="-122"/>
                <a:cs typeface="Calibri" pitchFamily="34" charset="-120"/>
              </a:rPr>
              <a:t>L'Orchestrateur est lui-même un agent ReAct dont les outils sont des appels HTTP vers les autres agents. deepseek-v3.2:cloud lit l'intention de la requête et délègue à l'agent approprié.</a:t>
            </a:r>
            <a:endParaRPr lang="en-US" sz="1150" dirty="0"/>
          </a:p>
        </p:txBody>
      </p:sp>
      <p:sp>
        <p:nvSpPr>
          <p:cNvPr id="9" name="Shape 6"/>
          <p:cNvSpPr/>
          <p:nvPr/>
        </p:nvSpPr>
        <p:spPr>
          <a:xfrm>
            <a:off x="566928" y="3246120"/>
            <a:ext cx="1691640" cy="914400"/>
          </a:xfrm>
          <a:prstGeom prst="roundRect">
            <a:avLst>
              <a:gd name="adj" fmla="val 7000"/>
            </a:avLst>
          </a:prstGeom>
          <a:solidFill>
            <a:srgbClr val="1E1E2E"/>
          </a:solidFill>
          <a:ln w="15875">
            <a:solidFill>
              <a:srgbClr val="BAC2DE"/>
            </a:solidFill>
            <a:prstDash val="solid"/>
          </a:ln>
          <a:effectLst>
            <a:outerShdw blurRad="114300" dist="38100" dir="5400000" algn="bl" rotWithShape="0">
              <a:srgbClr val="000000">
                <a:alpha val="35000"/>
              </a:srgbClr>
            </a:outerShdw>
          </a:effectLst>
        </p:spPr>
      </p:sp>
      <p:sp>
        <p:nvSpPr>
          <p:cNvPr id="10" name="Text 7"/>
          <p:cNvSpPr/>
          <p:nvPr/>
        </p:nvSpPr>
        <p:spPr>
          <a:xfrm>
            <a:off x="621792" y="3273552"/>
            <a:ext cx="1581912" cy="484632"/>
          </a:xfrm>
          <a:prstGeom prst="rect">
            <a:avLst/>
          </a:prstGeom>
          <a:noFill/>
          <a:ln/>
        </p:spPr>
        <p:txBody>
          <a:bodyPr wrap="square" lIns="0" tIns="0" rIns="0" bIns="0" rtlCol="0" anchor="ctr"/>
          <a:lstStyle/>
          <a:p>
            <a:pPr marL="0" indent="0" algn="ctr">
              <a:lnSpc>
                <a:spcPct val="92000"/>
              </a:lnSpc>
              <a:buNone/>
            </a:pPr>
            <a:r>
              <a:rPr lang="en-US" sz="1050" b="1" dirty="0">
                <a:solidFill>
                  <a:srgbClr val="CDD6F4"/>
                </a:solidFill>
                <a:latin typeface="Calibri" pitchFamily="34" charset="0"/>
                <a:ea typeface="Calibri" pitchFamily="34" charset="-122"/>
                <a:cs typeface="Calibri" pitchFamily="34" charset="-120"/>
              </a:rPr>
              <a:t>POST /orchestrate</a:t>
            </a:r>
            <a:endParaRPr lang="en-US" sz="1050" dirty="0"/>
          </a:p>
        </p:txBody>
      </p:sp>
      <p:sp>
        <p:nvSpPr>
          <p:cNvPr id="11" name="Text 8"/>
          <p:cNvSpPr/>
          <p:nvPr/>
        </p:nvSpPr>
        <p:spPr>
          <a:xfrm>
            <a:off x="621792" y="3758184"/>
            <a:ext cx="1581912" cy="365760"/>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action + context</a:t>
            </a:r>
            <a:endParaRPr lang="en-US" sz="850" dirty="0"/>
          </a:p>
        </p:txBody>
      </p:sp>
      <p:sp>
        <p:nvSpPr>
          <p:cNvPr id="12" name="Shape 9"/>
          <p:cNvSpPr/>
          <p:nvPr/>
        </p:nvSpPr>
        <p:spPr>
          <a:xfrm>
            <a:off x="2697480" y="2423160"/>
            <a:ext cx="2286000" cy="2560320"/>
          </a:xfrm>
          <a:prstGeom prst="roundRect">
            <a:avLst>
              <a:gd name="adj" fmla="val 4000"/>
            </a:avLst>
          </a:prstGeom>
          <a:solidFill>
            <a:srgbClr val="232338"/>
          </a:solidFill>
          <a:ln w="20320">
            <a:solidFill>
              <a:srgbClr val="CBA6F7"/>
            </a:solidFill>
            <a:prstDash val="solid"/>
          </a:ln>
          <a:effectLst>
            <a:outerShdw blurRad="114300" dist="38100" dir="5400000" algn="bl" rotWithShape="0">
              <a:srgbClr val="000000">
                <a:alpha val="35000"/>
              </a:srgbClr>
            </a:outerShdw>
          </a:effectLst>
        </p:spPr>
      </p:sp>
      <p:pic>
        <p:nvPicPr>
          <p:cNvPr id="13" name="Image 1" descr="assets/ic_route.png"/>
          <p:cNvPicPr>
            <a:picLocks noChangeAspect="1"/>
          </p:cNvPicPr>
          <p:nvPr/>
        </p:nvPicPr>
        <p:blipFill>
          <a:blip r:embed="rId3"/>
          <a:stretch>
            <a:fillRect/>
          </a:stretch>
        </p:blipFill>
        <p:spPr>
          <a:xfrm>
            <a:off x="3520440" y="2697480"/>
            <a:ext cx="640080" cy="640080"/>
          </a:xfrm>
          <a:prstGeom prst="rect">
            <a:avLst/>
          </a:prstGeom>
        </p:spPr>
      </p:pic>
      <p:sp>
        <p:nvSpPr>
          <p:cNvPr id="14" name="Text 10"/>
          <p:cNvSpPr/>
          <p:nvPr/>
        </p:nvSpPr>
        <p:spPr>
          <a:xfrm>
            <a:off x="2697480" y="3383280"/>
            <a:ext cx="2286000" cy="320040"/>
          </a:xfrm>
          <a:prstGeom prst="rect">
            <a:avLst/>
          </a:prstGeom>
          <a:noFill/>
          <a:ln/>
        </p:spPr>
        <p:txBody>
          <a:bodyPr wrap="square" lIns="0" tIns="0" rIns="0" bIns="0" rtlCol="0" anchor="ctr"/>
          <a:lstStyle/>
          <a:p>
            <a:pPr marL="0" indent="0" algn="ctr">
              <a:buNone/>
            </a:pPr>
            <a:r>
              <a:rPr lang="en-US" sz="1500" b="1" dirty="0">
                <a:solidFill>
                  <a:srgbClr val="CBA6F7"/>
                </a:solidFill>
                <a:latin typeface="Georgia" pitchFamily="34" charset="0"/>
                <a:ea typeface="Georgia" pitchFamily="34" charset="-122"/>
                <a:cs typeface="Georgia" pitchFamily="34" charset="-120"/>
              </a:rPr>
              <a:t>Orchestrator</a:t>
            </a:r>
            <a:endParaRPr lang="en-US" sz="1500" dirty="0"/>
          </a:p>
        </p:txBody>
      </p:sp>
      <p:sp>
        <p:nvSpPr>
          <p:cNvPr id="15" name="Text 11"/>
          <p:cNvSpPr/>
          <p:nvPr/>
        </p:nvSpPr>
        <p:spPr>
          <a:xfrm>
            <a:off x="2697480" y="3703320"/>
            <a:ext cx="2286000" cy="457200"/>
          </a:xfrm>
          <a:prstGeom prst="rect">
            <a:avLst/>
          </a:prstGeom>
          <a:noFill/>
          <a:ln/>
        </p:spPr>
        <p:txBody>
          <a:bodyPr wrap="square" lIns="0" tIns="0" rIns="0" bIns="0" rtlCol="0" anchor="ctr"/>
          <a:lstStyle/>
          <a:p>
            <a:pPr marL="0" indent="0" algn="ctr">
              <a:lnSpc>
                <a:spcPct val="105000"/>
              </a:lnSpc>
              <a:buNone/>
            </a:pPr>
            <a:r>
              <a:rPr lang="en-US" sz="900" dirty="0">
                <a:solidFill>
                  <a:srgbClr val="A6ADC8"/>
                </a:solidFill>
                <a:latin typeface="Consolas" pitchFamily="34" charset="0"/>
                <a:ea typeface="Consolas" pitchFamily="34" charset="-122"/>
                <a:cs typeface="Consolas" pitchFamily="34" charset="-120"/>
              </a:rPr>
              <a:t>ReAct Agent</a:t>
            </a:r>
            <a:endParaRPr lang="en-US" sz="900" dirty="0"/>
          </a:p>
          <a:p>
            <a:pPr marL="0" indent="0" algn="ctr">
              <a:lnSpc>
                <a:spcPct val="105000"/>
              </a:lnSpc>
              <a:buNone/>
            </a:pPr>
            <a:r>
              <a:rPr lang="en-US" sz="900" dirty="0">
                <a:solidFill>
                  <a:srgbClr val="A6ADC8"/>
                </a:solidFill>
                <a:latin typeface="Consolas" pitchFamily="34" charset="0"/>
                <a:ea typeface="Consolas" pitchFamily="34" charset="-122"/>
                <a:cs typeface="Consolas" pitchFamily="34" charset="-120"/>
              </a:rPr>
              <a:t>deepseek-v3.2:cloud</a:t>
            </a:r>
            <a:endParaRPr lang="en-US" sz="900" dirty="0"/>
          </a:p>
        </p:txBody>
      </p:sp>
      <p:sp>
        <p:nvSpPr>
          <p:cNvPr id="16" name="Shape 12"/>
          <p:cNvSpPr/>
          <p:nvPr/>
        </p:nvSpPr>
        <p:spPr>
          <a:xfrm>
            <a:off x="2258568" y="3703320"/>
            <a:ext cx="438912" cy="0"/>
          </a:xfrm>
          <a:prstGeom prst="line">
            <a:avLst/>
          </a:prstGeom>
          <a:noFill/>
          <a:ln w="17780">
            <a:solidFill>
              <a:srgbClr val="7F849C"/>
            </a:solidFill>
            <a:prstDash val="solid"/>
            <a:tailEnd type="triangle"/>
          </a:ln>
        </p:spPr>
      </p:sp>
      <p:sp>
        <p:nvSpPr>
          <p:cNvPr id="17" name="Shape 13"/>
          <p:cNvSpPr/>
          <p:nvPr/>
        </p:nvSpPr>
        <p:spPr>
          <a:xfrm flipV="1">
            <a:off x="4983480" y="2075688"/>
            <a:ext cx="548640" cy="1627632"/>
          </a:xfrm>
          <a:prstGeom prst="line">
            <a:avLst/>
          </a:prstGeom>
          <a:noFill/>
          <a:ln w="15240">
            <a:solidFill>
              <a:srgbClr val="89B4FA"/>
            </a:solidFill>
            <a:prstDash val="solid"/>
            <a:tailEnd type="triangle"/>
          </a:ln>
        </p:spPr>
      </p:sp>
      <p:sp>
        <p:nvSpPr>
          <p:cNvPr id="18" name="Shape 14"/>
          <p:cNvSpPr/>
          <p:nvPr/>
        </p:nvSpPr>
        <p:spPr>
          <a:xfrm>
            <a:off x="5532120" y="1783080"/>
            <a:ext cx="2743200" cy="713232"/>
          </a:xfrm>
          <a:prstGeom prst="roundRect">
            <a:avLst>
              <a:gd name="adj" fmla="val 8974"/>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19" name="Text 15"/>
          <p:cNvSpPr/>
          <p:nvPr/>
        </p:nvSpPr>
        <p:spPr>
          <a:xfrm>
            <a:off x="5586984" y="1810512"/>
            <a:ext cx="2633472" cy="371978"/>
          </a:xfrm>
          <a:prstGeom prst="rect">
            <a:avLst/>
          </a:prstGeom>
          <a:noFill/>
          <a:ln/>
        </p:spPr>
        <p:txBody>
          <a:bodyPr wrap="square" lIns="0" tIns="0" rIns="0" bIns="0" rtlCol="0" anchor="ctr"/>
          <a:lstStyle/>
          <a:p>
            <a:pPr marL="0" indent="0" algn="ctr">
              <a:lnSpc>
                <a:spcPct val="92000"/>
              </a:lnSpc>
              <a:buNone/>
            </a:pPr>
            <a:r>
              <a:rPr lang="en-US" sz="950" b="1" dirty="0">
                <a:solidFill>
                  <a:srgbClr val="89B4FA"/>
                </a:solidFill>
                <a:latin typeface="Consolas" pitchFamily="34" charset="0"/>
                <a:ea typeface="Consolas" pitchFamily="34" charset="-122"/>
                <a:cs typeface="Consolas" pitchFamily="34" charset="-120"/>
              </a:rPr>
              <a:t>call_explanation_agent</a:t>
            </a:r>
            <a:endParaRPr lang="en-US" sz="950" dirty="0"/>
          </a:p>
        </p:txBody>
      </p:sp>
      <p:sp>
        <p:nvSpPr>
          <p:cNvPr id="20" name="Text 16"/>
          <p:cNvSpPr/>
          <p:nvPr/>
        </p:nvSpPr>
        <p:spPr>
          <a:xfrm>
            <a:off x="5586984" y="2182490"/>
            <a:ext cx="2633472" cy="277246"/>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 explain / clarify / what is »</a:t>
            </a:r>
            <a:endParaRPr lang="en-US" sz="800" dirty="0"/>
          </a:p>
        </p:txBody>
      </p:sp>
      <p:sp>
        <p:nvSpPr>
          <p:cNvPr id="21" name="Shape 17"/>
          <p:cNvSpPr/>
          <p:nvPr/>
        </p:nvSpPr>
        <p:spPr>
          <a:xfrm>
            <a:off x="8275320" y="2139696"/>
            <a:ext cx="457200" cy="0"/>
          </a:xfrm>
          <a:prstGeom prst="line">
            <a:avLst/>
          </a:prstGeom>
          <a:noFill/>
          <a:ln w="15240">
            <a:solidFill>
              <a:srgbClr val="89B4FA"/>
            </a:solidFill>
            <a:prstDash val="solid"/>
            <a:tailEnd type="triangle"/>
          </a:ln>
        </p:spPr>
      </p:sp>
      <p:sp>
        <p:nvSpPr>
          <p:cNvPr id="22" name="Shape 18"/>
          <p:cNvSpPr/>
          <p:nvPr/>
        </p:nvSpPr>
        <p:spPr>
          <a:xfrm>
            <a:off x="8732520" y="1783080"/>
            <a:ext cx="2697480" cy="713232"/>
          </a:xfrm>
          <a:prstGeom prst="roundRect">
            <a:avLst>
              <a:gd name="adj" fmla="val 8974"/>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23" name="Text 19"/>
          <p:cNvSpPr/>
          <p:nvPr/>
        </p:nvSpPr>
        <p:spPr>
          <a:xfrm>
            <a:off x="8787384" y="1810512"/>
            <a:ext cx="2587752" cy="371978"/>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Explanation :8001</a:t>
            </a:r>
            <a:endParaRPr lang="en-US" sz="1100" dirty="0"/>
          </a:p>
        </p:txBody>
      </p:sp>
      <p:sp>
        <p:nvSpPr>
          <p:cNvPr id="24" name="Text 20"/>
          <p:cNvSpPr/>
          <p:nvPr/>
        </p:nvSpPr>
        <p:spPr>
          <a:xfrm>
            <a:off x="8787384" y="2182490"/>
            <a:ext cx="2587752" cy="27724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POST /explain</a:t>
            </a:r>
            <a:endParaRPr lang="en-US" sz="850" dirty="0"/>
          </a:p>
        </p:txBody>
      </p:sp>
      <p:sp>
        <p:nvSpPr>
          <p:cNvPr id="25" name="Shape 21"/>
          <p:cNvSpPr/>
          <p:nvPr/>
        </p:nvSpPr>
        <p:spPr>
          <a:xfrm flipV="1">
            <a:off x="4983480" y="3273552"/>
            <a:ext cx="548640" cy="429768"/>
          </a:xfrm>
          <a:prstGeom prst="line">
            <a:avLst/>
          </a:prstGeom>
          <a:noFill/>
          <a:ln w="15240">
            <a:solidFill>
              <a:srgbClr val="A6E3A1"/>
            </a:solidFill>
            <a:prstDash val="solid"/>
            <a:tailEnd type="triangle"/>
          </a:ln>
        </p:spPr>
      </p:sp>
      <p:sp>
        <p:nvSpPr>
          <p:cNvPr id="26" name="Shape 22"/>
          <p:cNvSpPr/>
          <p:nvPr/>
        </p:nvSpPr>
        <p:spPr>
          <a:xfrm>
            <a:off x="5532120" y="2697480"/>
            <a:ext cx="2743200" cy="713232"/>
          </a:xfrm>
          <a:prstGeom prst="roundRect">
            <a:avLst>
              <a:gd name="adj" fmla="val 8974"/>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27" name="Text 23"/>
          <p:cNvSpPr/>
          <p:nvPr/>
        </p:nvSpPr>
        <p:spPr>
          <a:xfrm>
            <a:off x="5586984" y="2724912"/>
            <a:ext cx="2633472" cy="371978"/>
          </a:xfrm>
          <a:prstGeom prst="rect">
            <a:avLst/>
          </a:prstGeom>
          <a:noFill/>
          <a:ln/>
        </p:spPr>
        <p:txBody>
          <a:bodyPr wrap="square" lIns="0" tIns="0" rIns="0" bIns="0" rtlCol="0" anchor="ctr"/>
          <a:lstStyle/>
          <a:p>
            <a:pPr marL="0" indent="0" algn="ctr">
              <a:lnSpc>
                <a:spcPct val="92000"/>
              </a:lnSpc>
              <a:buNone/>
            </a:pPr>
            <a:r>
              <a:rPr lang="en-US" sz="950" b="1" dirty="0">
                <a:solidFill>
                  <a:srgbClr val="A6E3A1"/>
                </a:solidFill>
                <a:latin typeface="Consolas" pitchFamily="34" charset="0"/>
                <a:ea typeface="Consolas" pitchFamily="34" charset="-122"/>
                <a:cs typeface="Consolas" pitchFamily="34" charset="-120"/>
              </a:rPr>
              <a:t>call_hint_agent</a:t>
            </a:r>
            <a:endParaRPr lang="en-US" sz="950" dirty="0"/>
          </a:p>
        </p:txBody>
      </p:sp>
      <p:sp>
        <p:nvSpPr>
          <p:cNvPr id="28" name="Text 24"/>
          <p:cNvSpPr/>
          <p:nvPr/>
        </p:nvSpPr>
        <p:spPr>
          <a:xfrm>
            <a:off x="5586984" y="3096890"/>
            <a:ext cx="2633472" cy="277246"/>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 hint / stuck / help »</a:t>
            </a:r>
            <a:endParaRPr lang="en-US" sz="800" dirty="0"/>
          </a:p>
        </p:txBody>
      </p:sp>
      <p:sp>
        <p:nvSpPr>
          <p:cNvPr id="29" name="Shape 25"/>
          <p:cNvSpPr/>
          <p:nvPr/>
        </p:nvSpPr>
        <p:spPr>
          <a:xfrm>
            <a:off x="8275320" y="3054096"/>
            <a:ext cx="457200" cy="0"/>
          </a:xfrm>
          <a:prstGeom prst="line">
            <a:avLst/>
          </a:prstGeom>
          <a:noFill/>
          <a:ln w="15240">
            <a:solidFill>
              <a:srgbClr val="A6E3A1"/>
            </a:solidFill>
            <a:prstDash val="solid"/>
            <a:tailEnd type="triangle"/>
          </a:ln>
        </p:spPr>
      </p:sp>
      <p:sp>
        <p:nvSpPr>
          <p:cNvPr id="30" name="Shape 26"/>
          <p:cNvSpPr/>
          <p:nvPr/>
        </p:nvSpPr>
        <p:spPr>
          <a:xfrm>
            <a:off x="8732520" y="2697480"/>
            <a:ext cx="2697480" cy="713232"/>
          </a:xfrm>
          <a:prstGeom prst="roundRect">
            <a:avLst>
              <a:gd name="adj" fmla="val 8974"/>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31" name="Text 27"/>
          <p:cNvSpPr/>
          <p:nvPr/>
        </p:nvSpPr>
        <p:spPr>
          <a:xfrm>
            <a:off x="8787384" y="2724912"/>
            <a:ext cx="2587752" cy="371978"/>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Hint :8002</a:t>
            </a:r>
            <a:endParaRPr lang="en-US" sz="1100" dirty="0"/>
          </a:p>
        </p:txBody>
      </p:sp>
      <p:sp>
        <p:nvSpPr>
          <p:cNvPr id="32" name="Text 28"/>
          <p:cNvSpPr/>
          <p:nvPr/>
        </p:nvSpPr>
        <p:spPr>
          <a:xfrm>
            <a:off x="8787384" y="3096890"/>
            <a:ext cx="2587752" cy="27724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POST /hint</a:t>
            </a:r>
            <a:endParaRPr lang="en-US" sz="850" dirty="0"/>
          </a:p>
        </p:txBody>
      </p:sp>
      <p:sp>
        <p:nvSpPr>
          <p:cNvPr id="33" name="Shape 29"/>
          <p:cNvSpPr/>
          <p:nvPr/>
        </p:nvSpPr>
        <p:spPr>
          <a:xfrm>
            <a:off x="4983480" y="3703320"/>
            <a:ext cx="548640" cy="265176"/>
          </a:xfrm>
          <a:prstGeom prst="line">
            <a:avLst/>
          </a:prstGeom>
          <a:noFill/>
          <a:ln w="15240">
            <a:solidFill>
              <a:srgbClr val="F9E2AF"/>
            </a:solidFill>
            <a:prstDash val="solid"/>
            <a:tailEnd type="triangle"/>
          </a:ln>
        </p:spPr>
      </p:sp>
      <p:sp>
        <p:nvSpPr>
          <p:cNvPr id="34" name="Shape 30"/>
          <p:cNvSpPr/>
          <p:nvPr/>
        </p:nvSpPr>
        <p:spPr>
          <a:xfrm>
            <a:off x="5532120" y="3611880"/>
            <a:ext cx="2743200" cy="713232"/>
          </a:xfrm>
          <a:prstGeom prst="roundRect">
            <a:avLst>
              <a:gd name="adj" fmla="val 8974"/>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35" name="Text 31"/>
          <p:cNvSpPr/>
          <p:nvPr/>
        </p:nvSpPr>
        <p:spPr>
          <a:xfrm>
            <a:off x="5586984" y="3639312"/>
            <a:ext cx="2633472" cy="371978"/>
          </a:xfrm>
          <a:prstGeom prst="rect">
            <a:avLst/>
          </a:prstGeom>
          <a:noFill/>
          <a:ln/>
        </p:spPr>
        <p:txBody>
          <a:bodyPr wrap="square" lIns="0" tIns="0" rIns="0" bIns="0" rtlCol="0" anchor="ctr"/>
          <a:lstStyle/>
          <a:p>
            <a:pPr marL="0" indent="0" algn="ctr">
              <a:lnSpc>
                <a:spcPct val="92000"/>
              </a:lnSpc>
              <a:buNone/>
            </a:pPr>
            <a:r>
              <a:rPr lang="en-US" sz="950" b="1" dirty="0">
                <a:solidFill>
                  <a:srgbClr val="F9E2AF"/>
                </a:solidFill>
                <a:latin typeface="Consolas" pitchFamily="34" charset="0"/>
                <a:ea typeface="Consolas" pitchFamily="34" charset="-122"/>
                <a:cs typeface="Consolas" pitchFamily="34" charset="-120"/>
              </a:rPr>
              <a:t>call_evaluation_agent_quiz</a:t>
            </a:r>
            <a:endParaRPr lang="en-US" sz="950" dirty="0"/>
          </a:p>
        </p:txBody>
      </p:sp>
      <p:sp>
        <p:nvSpPr>
          <p:cNvPr id="36" name="Text 32"/>
          <p:cNvSpPr/>
          <p:nvPr/>
        </p:nvSpPr>
        <p:spPr>
          <a:xfrm>
            <a:off x="5586984" y="4011290"/>
            <a:ext cx="2633472" cy="277246"/>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 generate quiz »</a:t>
            </a:r>
            <a:endParaRPr lang="en-US" sz="800" dirty="0"/>
          </a:p>
        </p:txBody>
      </p:sp>
      <p:sp>
        <p:nvSpPr>
          <p:cNvPr id="37" name="Shape 33"/>
          <p:cNvSpPr/>
          <p:nvPr/>
        </p:nvSpPr>
        <p:spPr>
          <a:xfrm>
            <a:off x="8275320" y="3968496"/>
            <a:ext cx="457200" cy="0"/>
          </a:xfrm>
          <a:prstGeom prst="line">
            <a:avLst/>
          </a:prstGeom>
          <a:noFill/>
          <a:ln w="15240">
            <a:solidFill>
              <a:srgbClr val="F9E2AF"/>
            </a:solidFill>
            <a:prstDash val="solid"/>
            <a:tailEnd type="triangle"/>
          </a:ln>
        </p:spPr>
      </p:sp>
      <p:sp>
        <p:nvSpPr>
          <p:cNvPr id="38" name="Shape 34"/>
          <p:cNvSpPr/>
          <p:nvPr/>
        </p:nvSpPr>
        <p:spPr>
          <a:xfrm>
            <a:off x="8732520" y="3611880"/>
            <a:ext cx="2697480" cy="713232"/>
          </a:xfrm>
          <a:prstGeom prst="roundRect">
            <a:avLst>
              <a:gd name="adj" fmla="val 8974"/>
            </a:avLst>
          </a:prstGeom>
          <a:solidFill>
            <a:srgbClr val="1E1E2E"/>
          </a:solidFill>
          <a:ln w="15875">
            <a:solidFill>
              <a:srgbClr val="F9E2AF"/>
            </a:solidFill>
            <a:prstDash val="solid"/>
          </a:ln>
          <a:effectLst>
            <a:outerShdw blurRad="114300" dist="38100" dir="5400000" algn="bl" rotWithShape="0">
              <a:srgbClr val="000000">
                <a:alpha val="35000"/>
              </a:srgbClr>
            </a:outerShdw>
          </a:effectLst>
        </p:spPr>
      </p:sp>
      <p:sp>
        <p:nvSpPr>
          <p:cNvPr id="39" name="Text 35"/>
          <p:cNvSpPr/>
          <p:nvPr/>
        </p:nvSpPr>
        <p:spPr>
          <a:xfrm>
            <a:off x="8787384" y="3639312"/>
            <a:ext cx="2587752" cy="371978"/>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Evaluation :8003</a:t>
            </a:r>
            <a:endParaRPr lang="en-US" sz="1100" dirty="0"/>
          </a:p>
        </p:txBody>
      </p:sp>
      <p:sp>
        <p:nvSpPr>
          <p:cNvPr id="40" name="Text 36"/>
          <p:cNvSpPr/>
          <p:nvPr/>
        </p:nvSpPr>
        <p:spPr>
          <a:xfrm>
            <a:off x="8787384" y="4011290"/>
            <a:ext cx="2587752" cy="27724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POST /generate-quiz</a:t>
            </a:r>
            <a:endParaRPr lang="en-US" sz="850" dirty="0"/>
          </a:p>
        </p:txBody>
      </p:sp>
      <p:sp>
        <p:nvSpPr>
          <p:cNvPr id="41" name="Shape 37"/>
          <p:cNvSpPr/>
          <p:nvPr/>
        </p:nvSpPr>
        <p:spPr>
          <a:xfrm>
            <a:off x="4983480" y="3703320"/>
            <a:ext cx="548640" cy="1179576"/>
          </a:xfrm>
          <a:prstGeom prst="line">
            <a:avLst/>
          </a:prstGeom>
          <a:noFill/>
          <a:ln w="15240">
            <a:solidFill>
              <a:srgbClr val="FAB387"/>
            </a:solidFill>
            <a:prstDash val="solid"/>
            <a:tailEnd type="triangle"/>
          </a:ln>
        </p:spPr>
      </p:sp>
      <p:sp>
        <p:nvSpPr>
          <p:cNvPr id="42" name="Shape 38"/>
          <p:cNvSpPr/>
          <p:nvPr/>
        </p:nvSpPr>
        <p:spPr>
          <a:xfrm>
            <a:off x="5532120" y="4526280"/>
            <a:ext cx="2743200" cy="713232"/>
          </a:xfrm>
          <a:prstGeom prst="roundRect">
            <a:avLst>
              <a:gd name="adj" fmla="val 8974"/>
            </a:avLst>
          </a:prstGeom>
          <a:solidFill>
            <a:srgbClr val="1E1E2E"/>
          </a:solidFill>
          <a:ln w="15875">
            <a:solidFill>
              <a:srgbClr val="FAB387"/>
            </a:solidFill>
            <a:prstDash val="solid"/>
          </a:ln>
          <a:effectLst>
            <a:outerShdw blurRad="114300" dist="38100" dir="5400000" algn="bl" rotWithShape="0">
              <a:srgbClr val="000000">
                <a:alpha val="35000"/>
              </a:srgbClr>
            </a:outerShdw>
          </a:effectLst>
        </p:spPr>
      </p:sp>
      <p:sp>
        <p:nvSpPr>
          <p:cNvPr id="43" name="Text 39"/>
          <p:cNvSpPr/>
          <p:nvPr/>
        </p:nvSpPr>
        <p:spPr>
          <a:xfrm>
            <a:off x="5586984" y="4553712"/>
            <a:ext cx="2633472" cy="371978"/>
          </a:xfrm>
          <a:prstGeom prst="rect">
            <a:avLst/>
          </a:prstGeom>
          <a:noFill/>
          <a:ln/>
        </p:spPr>
        <p:txBody>
          <a:bodyPr wrap="square" lIns="0" tIns="0" rIns="0" bIns="0" rtlCol="0" anchor="ctr"/>
          <a:lstStyle/>
          <a:p>
            <a:pPr marL="0" indent="0" algn="ctr">
              <a:lnSpc>
                <a:spcPct val="92000"/>
              </a:lnSpc>
              <a:buNone/>
            </a:pPr>
            <a:r>
              <a:rPr lang="en-US" sz="950" b="1" dirty="0">
                <a:solidFill>
                  <a:srgbClr val="FAB387"/>
                </a:solidFill>
                <a:latin typeface="Consolas" pitchFamily="34" charset="0"/>
                <a:ea typeface="Consolas" pitchFamily="34" charset="-122"/>
                <a:cs typeface="Consolas" pitchFamily="34" charset="-120"/>
              </a:rPr>
              <a:t>call_evaluation_agent_score</a:t>
            </a:r>
            <a:endParaRPr lang="en-US" sz="950" dirty="0"/>
          </a:p>
        </p:txBody>
      </p:sp>
      <p:sp>
        <p:nvSpPr>
          <p:cNvPr id="44" name="Text 40"/>
          <p:cNvSpPr/>
          <p:nvPr/>
        </p:nvSpPr>
        <p:spPr>
          <a:xfrm>
            <a:off x="5586984" y="4925690"/>
            <a:ext cx="2633472" cy="277246"/>
          </a:xfrm>
          <a:prstGeom prst="rect">
            <a:avLst/>
          </a:prstGeom>
          <a:noFill/>
          <a:ln/>
        </p:spPr>
        <p:txBody>
          <a:bodyPr wrap="square" lIns="0" tIns="0" rIns="0" bIns="0" rtlCol="0" anchor="ctr"/>
          <a:lstStyle/>
          <a:p>
            <a:pPr marL="0" indent="0" algn="ctr">
              <a:lnSpc>
                <a:spcPct val="92000"/>
              </a:lnSpc>
              <a:buNone/>
            </a:pPr>
            <a:r>
              <a:rPr lang="en-US" sz="800" dirty="0">
                <a:solidFill>
                  <a:srgbClr val="A6ADC8"/>
                </a:solidFill>
                <a:latin typeface="Consolas" pitchFamily="34" charset="0"/>
                <a:ea typeface="Consolas" pitchFamily="34" charset="-122"/>
                <a:cs typeface="Consolas" pitchFamily="34" charset="-120"/>
              </a:rPr>
              <a:t>« evaluate / score »</a:t>
            </a:r>
            <a:endParaRPr lang="en-US" sz="800" dirty="0"/>
          </a:p>
        </p:txBody>
      </p:sp>
      <p:sp>
        <p:nvSpPr>
          <p:cNvPr id="45" name="Shape 41"/>
          <p:cNvSpPr/>
          <p:nvPr/>
        </p:nvSpPr>
        <p:spPr>
          <a:xfrm>
            <a:off x="8275320" y="4882896"/>
            <a:ext cx="457200" cy="0"/>
          </a:xfrm>
          <a:prstGeom prst="line">
            <a:avLst/>
          </a:prstGeom>
          <a:noFill/>
          <a:ln w="15240">
            <a:solidFill>
              <a:srgbClr val="FAB387"/>
            </a:solidFill>
            <a:prstDash val="solid"/>
            <a:tailEnd type="triangle"/>
          </a:ln>
        </p:spPr>
      </p:sp>
      <p:sp>
        <p:nvSpPr>
          <p:cNvPr id="46" name="Shape 42"/>
          <p:cNvSpPr/>
          <p:nvPr/>
        </p:nvSpPr>
        <p:spPr>
          <a:xfrm>
            <a:off x="8732520" y="4526280"/>
            <a:ext cx="2697480" cy="713232"/>
          </a:xfrm>
          <a:prstGeom prst="roundRect">
            <a:avLst>
              <a:gd name="adj" fmla="val 8974"/>
            </a:avLst>
          </a:prstGeom>
          <a:solidFill>
            <a:srgbClr val="1E1E2E"/>
          </a:solidFill>
          <a:ln w="15875">
            <a:solidFill>
              <a:srgbClr val="FAB387"/>
            </a:solidFill>
            <a:prstDash val="solid"/>
          </a:ln>
          <a:effectLst>
            <a:outerShdw blurRad="114300" dist="38100" dir="5400000" algn="bl" rotWithShape="0">
              <a:srgbClr val="000000">
                <a:alpha val="35000"/>
              </a:srgbClr>
            </a:outerShdw>
          </a:effectLst>
        </p:spPr>
      </p:sp>
      <p:sp>
        <p:nvSpPr>
          <p:cNvPr id="47" name="Text 43"/>
          <p:cNvSpPr/>
          <p:nvPr/>
        </p:nvSpPr>
        <p:spPr>
          <a:xfrm>
            <a:off x="8787384" y="4553712"/>
            <a:ext cx="2587752" cy="371978"/>
          </a:xfrm>
          <a:prstGeom prst="rect">
            <a:avLst/>
          </a:prstGeom>
          <a:noFill/>
          <a:ln/>
        </p:spPr>
        <p:txBody>
          <a:bodyPr wrap="square" lIns="0" tIns="0" rIns="0" bIns="0" rtlCol="0" anchor="ctr"/>
          <a:lstStyle/>
          <a:p>
            <a:pPr marL="0" indent="0" algn="ctr">
              <a:lnSpc>
                <a:spcPct val="92000"/>
              </a:lnSpc>
              <a:buNone/>
            </a:pPr>
            <a:r>
              <a:rPr lang="en-US" sz="1100" b="1" dirty="0">
                <a:solidFill>
                  <a:srgbClr val="CDD6F4"/>
                </a:solidFill>
                <a:latin typeface="Calibri" pitchFamily="34" charset="0"/>
                <a:ea typeface="Calibri" pitchFamily="34" charset="-122"/>
                <a:cs typeface="Calibri" pitchFamily="34" charset="-120"/>
              </a:rPr>
              <a:t>Evaluation :8003</a:t>
            </a:r>
            <a:endParaRPr lang="en-US" sz="1100" dirty="0"/>
          </a:p>
        </p:txBody>
      </p:sp>
      <p:sp>
        <p:nvSpPr>
          <p:cNvPr id="48" name="Text 44"/>
          <p:cNvSpPr/>
          <p:nvPr/>
        </p:nvSpPr>
        <p:spPr>
          <a:xfrm>
            <a:off x="8787384" y="4925690"/>
            <a:ext cx="2587752" cy="277246"/>
          </a:xfrm>
          <a:prstGeom prst="rect">
            <a:avLst/>
          </a:prstGeom>
          <a:noFill/>
          <a:ln/>
        </p:spPr>
        <p:txBody>
          <a:bodyPr wrap="square" lIns="0" tIns="0" rIns="0" bIns="0" rtlCol="0" anchor="ctr"/>
          <a:lstStyle/>
          <a:p>
            <a:pPr marL="0" indent="0" algn="ctr">
              <a:lnSpc>
                <a:spcPct val="92000"/>
              </a:lnSpc>
              <a:buNone/>
            </a:pPr>
            <a:r>
              <a:rPr lang="en-US" sz="850" dirty="0">
                <a:solidFill>
                  <a:srgbClr val="A6ADC8"/>
                </a:solidFill>
                <a:latin typeface="Consolas" pitchFamily="34" charset="0"/>
                <a:ea typeface="Consolas" pitchFamily="34" charset="-122"/>
                <a:cs typeface="Consolas" pitchFamily="34" charset="-120"/>
              </a:rPr>
              <a:t>POST /evaluate</a:t>
            </a:r>
            <a:endParaRPr lang="en-US" sz="850" dirty="0"/>
          </a:p>
        </p:txBody>
      </p:sp>
      <p:sp>
        <p:nvSpPr>
          <p:cNvPr id="49" name="Text 45"/>
          <p:cNvSpPr/>
          <p:nvPr/>
        </p:nvSpPr>
        <p:spPr>
          <a:xfrm>
            <a:off x="566928" y="5532120"/>
            <a:ext cx="11064240" cy="365760"/>
          </a:xfrm>
          <a:prstGeom prst="rect">
            <a:avLst/>
          </a:prstGeom>
          <a:noFill/>
          <a:ln/>
        </p:spPr>
        <p:txBody>
          <a:bodyPr wrap="square" lIns="0" tIns="0" rIns="0" bIns="0" rtlCol="0" anchor="ctr"/>
          <a:lstStyle/>
          <a:p>
            <a:pPr marL="0" indent="0" algn="ctr">
              <a:buNone/>
            </a:pPr>
            <a:r>
              <a:rPr lang="en-US" sz="1100" i="1" dirty="0">
                <a:solidFill>
                  <a:srgbClr val="BAC2DE"/>
                </a:solidFill>
                <a:latin typeface="Calibri" pitchFamily="34" charset="0"/>
                <a:ea typeface="Calibri" pitchFamily="34" charset="-122"/>
                <a:cs typeface="Calibri" pitchFamily="34" charset="-120"/>
              </a:rPr>
              <a:t>L'Orchestrateur agrège les réponses JSON des agents et renvoie une OrchestrateResponse unique.</a:t>
            </a:r>
            <a:endParaRPr lang="en-US" sz="1100" dirty="0"/>
          </a:p>
        </p:txBody>
      </p:sp>
      <p:sp>
        <p:nvSpPr>
          <p:cNvPr id="50" name="Shape 46"/>
          <p:cNvSpPr/>
          <p:nvPr/>
        </p:nvSpPr>
        <p:spPr>
          <a:xfrm>
            <a:off x="11430000" y="5074920"/>
            <a:ext cx="0" cy="822960"/>
          </a:xfrm>
          <a:prstGeom prst="line">
            <a:avLst/>
          </a:prstGeom>
          <a:noFill/>
          <a:ln w="15240">
            <a:solidFill>
              <a:srgbClr val="CBA6F7"/>
            </a:solidFill>
            <a:prstDash val="dash"/>
          </a:ln>
        </p:spPr>
      </p:sp>
      <p:sp>
        <p:nvSpPr>
          <p:cNvPr id="51" name="Shape 47"/>
          <p:cNvSpPr/>
          <p:nvPr/>
        </p:nvSpPr>
        <p:spPr>
          <a:xfrm>
            <a:off x="11430000" y="5897880"/>
            <a:ext cx="0" cy="0"/>
          </a:xfrm>
          <a:prstGeom prst="line">
            <a:avLst/>
          </a:prstGeom>
          <a:noFill/>
          <a:ln w="15240">
            <a:solidFill>
              <a:srgbClr val="CBA6F7"/>
            </a:solidFill>
            <a:prstDash val="dash"/>
          </a:ln>
        </p:spPr>
      </p:sp>
      <p:sp>
        <p:nvSpPr>
          <p:cNvPr id="52" name="Shape 48"/>
          <p:cNvSpPr/>
          <p:nvPr/>
        </p:nvSpPr>
        <p:spPr>
          <a:xfrm>
            <a:off x="3840480" y="5897880"/>
            <a:ext cx="0" cy="0"/>
          </a:xfrm>
          <a:prstGeom prst="line">
            <a:avLst/>
          </a:prstGeom>
          <a:noFill/>
          <a:ln w="15240">
            <a:solidFill>
              <a:srgbClr val="CBA6F7"/>
            </a:solidFill>
            <a:prstDash val="dash"/>
            <a:tailEnd type="triangle"/>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94E2D5"/>
            </a:solidFill>
            <a:prstDash val="solid"/>
          </a:ln>
        </p:spPr>
      </p:sp>
      <p:pic>
        <p:nvPicPr>
          <p:cNvPr id="3" name="Image 0" descr="assets/ic_exchange.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94E2D5"/>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Séquence — session étudiant en 3 phases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14</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02920" y="2011680"/>
            <a:ext cx="11247120" cy="1298448"/>
          </a:xfrm>
          <a:prstGeom prst="roundRect">
            <a:avLst>
              <a:gd name="adj" fmla="val 4225"/>
            </a:avLst>
          </a:prstGeom>
          <a:solidFill>
            <a:srgbClr val="CBA6F7">
              <a:alpha val="8000"/>
            </a:srgbClr>
          </a:solidFill>
          <a:ln w="9525">
            <a:solidFill>
              <a:srgbClr val="CBA6F7"/>
            </a:solidFill>
            <a:prstDash val="solid"/>
          </a:ln>
        </p:spPr>
      </p:sp>
      <p:sp>
        <p:nvSpPr>
          <p:cNvPr id="9" name="Text 6"/>
          <p:cNvSpPr/>
          <p:nvPr/>
        </p:nvSpPr>
        <p:spPr>
          <a:xfrm rot="16200000">
            <a:off x="-374904" y="2514600"/>
            <a:ext cx="1298448" cy="292608"/>
          </a:xfrm>
          <a:prstGeom prst="rect">
            <a:avLst/>
          </a:prstGeom>
          <a:noFill/>
          <a:ln/>
        </p:spPr>
        <p:txBody>
          <a:bodyPr wrap="square" lIns="0" tIns="0" rIns="0" bIns="0" rtlCol="0" anchor="ctr"/>
          <a:lstStyle/>
          <a:p>
            <a:pPr marL="0" indent="0" algn="ctr">
              <a:buNone/>
            </a:pPr>
            <a:r>
              <a:rPr lang="en-US" sz="850" b="1" kern="0" spc="150" dirty="0">
                <a:solidFill>
                  <a:srgbClr val="CBA6F7"/>
                </a:solidFill>
                <a:latin typeface="Calibri" pitchFamily="34" charset="0"/>
                <a:ea typeface="Calibri" pitchFamily="34" charset="-122"/>
                <a:cs typeface="Calibri" pitchFamily="34" charset="-120"/>
              </a:rPr>
              <a:t>PHASE 1 · EXPLICATION</a:t>
            </a:r>
            <a:endParaRPr lang="en-US" sz="850" dirty="0"/>
          </a:p>
        </p:txBody>
      </p:sp>
      <p:sp>
        <p:nvSpPr>
          <p:cNvPr id="10" name="Shape 7"/>
          <p:cNvSpPr/>
          <p:nvPr/>
        </p:nvSpPr>
        <p:spPr>
          <a:xfrm>
            <a:off x="502920" y="3401568"/>
            <a:ext cx="11247120" cy="1298448"/>
          </a:xfrm>
          <a:prstGeom prst="roundRect">
            <a:avLst>
              <a:gd name="adj" fmla="val 4225"/>
            </a:avLst>
          </a:prstGeom>
          <a:solidFill>
            <a:srgbClr val="89B4FA">
              <a:alpha val="8000"/>
            </a:srgbClr>
          </a:solidFill>
          <a:ln w="9525">
            <a:solidFill>
              <a:srgbClr val="89B4FA"/>
            </a:solidFill>
            <a:prstDash val="solid"/>
          </a:ln>
        </p:spPr>
      </p:sp>
      <p:sp>
        <p:nvSpPr>
          <p:cNvPr id="11" name="Text 8"/>
          <p:cNvSpPr/>
          <p:nvPr/>
        </p:nvSpPr>
        <p:spPr>
          <a:xfrm rot="16200000">
            <a:off x="-374904" y="3904488"/>
            <a:ext cx="1298448" cy="292608"/>
          </a:xfrm>
          <a:prstGeom prst="rect">
            <a:avLst/>
          </a:prstGeom>
          <a:noFill/>
          <a:ln/>
        </p:spPr>
        <p:txBody>
          <a:bodyPr wrap="square" lIns="0" tIns="0" rIns="0" bIns="0" rtlCol="0" anchor="ctr"/>
          <a:lstStyle/>
          <a:p>
            <a:pPr marL="0" indent="0" algn="ctr">
              <a:buNone/>
            </a:pPr>
            <a:r>
              <a:rPr lang="en-US" sz="850" b="1" kern="0" spc="150" dirty="0">
                <a:solidFill>
                  <a:srgbClr val="89B4FA"/>
                </a:solidFill>
                <a:latin typeface="Calibri" pitchFamily="34" charset="0"/>
                <a:ea typeface="Calibri" pitchFamily="34" charset="-122"/>
                <a:cs typeface="Calibri" pitchFamily="34" charset="-120"/>
              </a:rPr>
              <a:t>PHASE 2 · CODAGE</a:t>
            </a:r>
            <a:endParaRPr lang="en-US" sz="850" dirty="0"/>
          </a:p>
        </p:txBody>
      </p:sp>
      <p:sp>
        <p:nvSpPr>
          <p:cNvPr id="12" name="Shape 9"/>
          <p:cNvSpPr/>
          <p:nvPr/>
        </p:nvSpPr>
        <p:spPr>
          <a:xfrm>
            <a:off x="502920" y="4791456"/>
            <a:ext cx="11247120" cy="1737360"/>
          </a:xfrm>
          <a:prstGeom prst="roundRect">
            <a:avLst>
              <a:gd name="adj" fmla="val 3158"/>
            </a:avLst>
          </a:prstGeom>
          <a:solidFill>
            <a:srgbClr val="A6E3A1">
              <a:alpha val="8000"/>
            </a:srgbClr>
          </a:solidFill>
          <a:ln w="9525">
            <a:solidFill>
              <a:srgbClr val="A6E3A1"/>
            </a:solidFill>
            <a:prstDash val="solid"/>
          </a:ln>
        </p:spPr>
      </p:sp>
      <p:sp>
        <p:nvSpPr>
          <p:cNvPr id="13" name="Text 10"/>
          <p:cNvSpPr/>
          <p:nvPr/>
        </p:nvSpPr>
        <p:spPr>
          <a:xfrm rot="16200000">
            <a:off x="-594360" y="5513832"/>
            <a:ext cx="1737360" cy="292608"/>
          </a:xfrm>
          <a:prstGeom prst="rect">
            <a:avLst/>
          </a:prstGeom>
          <a:noFill/>
          <a:ln/>
        </p:spPr>
        <p:txBody>
          <a:bodyPr wrap="square" lIns="0" tIns="0" rIns="0" bIns="0" rtlCol="0" anchor="ctr"/>
          <a:lstStyle/>
          <a:p>
            <a:pPr marL="0" indent="0" algn="ctr">
              <a:buNone/>
            </a:pPr>
            <a:r>
              <a:rPr lang="en-US" sz="850" b="1" kern="0" spc="150" dirty="0">
                <a:solidFill>
                  <a:srgbClr val="A6E3A1"/>
                </a:solidFill>
                <a:latin typeface="Calibri" pitchFamily="34" charset="0"/>
                <a:ea typeface="Calibri" pitchFamily="34" charset="-122"/>
                <a:cs typeface="Calibri" pitchFamily="34" charset="-120"/>
              </a:rPr>
              <a:t>PHASE 3 · ÉVALUATION</a:t>
            </a:r>
            <a:endParaRPr lang="en-US" sz="850" dirty="0"/>
          </a:p>
        </p:txBody>
      </p:sp>
      <p:sp>
        <p:nvSpPr>
          <p:cNvPr id="14" name="Shape 11"/>
          <p:cNvSpPr/>
          <p:nvPr/>
        </p:nvSpPr>
        <p:spPr>
          <a:xfrm>
            <a:off x="137160" y="1325880"/>
            <a:ext cx="1554480" cy="502920"/>
          </a:xfrm>
          <a:prstGeom prst="roundRect">
            <a:avLst>
              <a:gd name="adj" fmla="val 12727"/>
            </a:avLst>
          </a:prstGeom>
          <a:solidFill>
            <a:srgbClr val="232338"/>
          </a:solidFill>
          <a:ln w="15240">
            <a:solidFill>
              <a:srgbClr val="CBA6F7"/>
            </a:solidFill>
            <a:prstDash val="solid"/>
          </a:ln>
        </p:spPr>
      </p:sp>
      <p:sp>
        <p:nvSpPr>
          <p:cNvPr id="15" name="Text 12"/>
          <p:cNvSpPr/>
          <p:nvPr/>
        </p:nvSpPr>
        <p:spPr>
          <a:xfrm>
            <a:off x="13716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Student</a:t>
            </a:r>
            <a:endParaRPr lang="en-US" sz="950" dirty="0"/>
          </a:p>
        </p:txBody>
      </p:sp>
      <p:sp>
        <p:nvSpPr>
          <p:cNvPr id="16" name="Shape 13"/>
          <p:cNvSpPr/>
          <p:nvPr/>
        </p:nvSpPr>
        <p:spPr>
          <a:xfrm>
            <a:off x="914400" y="1920240"/>
            <a:ext cx="0" cy="4590288"/>
          </a:xfrm>
          <a:prstGeom prst="line">
            <a:avLst/>
          </a:prstGeom>
          <a:noFill/>
          <a:ln w="11430">
            <a:solidFill>
              <a:srgbClr val="CBA6F7"/>
            </a:solidFill>
            <a:prstDash val="dash"/>
          </a:ln>
        </p:spPr>
      </p:sp>
      <p:sp>
        <p:nvSpPr>
          <p:cNvPr id="17" name="Shape 14"/>
          <p:cNvSpPr/>
          <p:nvPr/>
        </p:nvSpPr>
        <p:spPr>
          <a:xfrm>
            <a:off x="1874520" y="1325880"/>
            <a:ext cx="1554480" cy="502920"/>
          </a:xfrm>
          <a:prstGeom prst="roundRect">
            <a:avLst>
              <a:gd name="adj" fmla="val 12727"/>
            </a:avLst>
          </a:prstGeom>
          <a:solidFill>
            <a:srgbClr val="232338"/>
          </a:solidFill>
          <a:ln w="15240">
            <a:solidFill>
              <a:srgbClr val="CBA6F7"/>
            </a:solidFill>
            <a:prstDash val="solid"/>
          </a:ln>
        </p:spPr>
      </p:sp>
      <p:sp>
        <p:nvSpPr>
          <p:cNvPr id="18" name="Text 15"/>
          <p:cNvSpPr/>
          <p:nvPr/>
        </p:nvSpPr>
        <p:spPr>
          <a:xfrm>
            <a:off x="187452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Frontend</a:t>
            </a:r>
            <a:endParaRPr lang="en-US" sz="950" dirty="0"/>
          </a:p>
        </p:txBody>
      </p:sp>
      <p:sp>
        <p:nvSpPr>
          <p:cNvPr id="19" name="Shape 16"/>
          <p:cNvSpPr/>
          <p:nvPr/>
        </p:nvSpPr>
        <p:spPr>
          <a:xfrm>
            <a:off x="2651760" y="1920240"/>
            <a:ext cx="0" cy="4590288"/>
          </a:xfrm>
          <a:prstGeom prst="line">
            <a:avLst/>
          </a:prstGeom>
          <a:noFill/>
          <a:ln w="11430">
            <a:solidFill>
              <a:srgbClr val="CBA6F7"/>
            </a:solidFill>
            <a:prstDash val="dash"/>
          </a:ln>
        </p:spPr>
      </p:sp>
      <p:sp>
        <p:nvSpPr>
          <p:cNvPr id="20" name="Shape 17"/>
          <p:cNvSpPr/>
          <p:nvPr/>
        </p:nvSpPr>
        <p:spPr>
          <a:xfrm>
            <a:off x="3611880" y="1325880"/>
            <a:ext cx="1554480" cy="502920"/>
          </a:xfrm>
          <a:prstGeom prst="roundRect">
            <a:avLst>
              <a:gd name="adj" fmla="val 12727"/>
            </a:avLst>
          </a:prstGeom>
          <a:solidFill>
            <a:srgbClr val="232338"/>
          </a:solidFill>
          <a:ln w="15240">
            <a:solidFill>
              <a:srgbClr val="89B4FA"/>
            </a:solidFill>
            <a:prstDash val="solid"/>
          </a:ln>
        </p:spPr>
      </p:sp>
      <p:sp>
        <p:nvSpPr>
          <p:cNvPr id="21" name="Text 18"/>
          <p:cNvSpPr/>
          <p:nvPr/>
        </p:nvSpPr>
        <p:spPr>
          <a:xfrm>
            <a:off x="361188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Agent</a:t>
            </a:r>
            <a:endParaRPr lang="en-US" sz="950" dirty="0"/>
          </a:p>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Gateway</a:t>
            </a:r>
            <a:endParaRPr lang="en-US" sz="950" dirty="0"/>
          </a:p>
        </p:txBody>
      </p:sp>
      <p:sp>
        <p:nvSpPr>
          <p:cNvPr id="22" name="Shape 19"/>
          <p:cNvSpPr/>
          <p:nvPr/>
        </p:nvSpPr>
        <p:spPr>
          <a:xfrm>
            <a:off x="4389120" y="1920240"/>
            <a:ext cx="0" cy="4590288"/>
          </a:xfrm>
          <a:prstGeom prst="line">
            <a:avLst/>
          </a:prstGeom>
          <a:noFill/>
          <a:ln w="11430">
            <a:solidFill>
              <a:srgbClr val="89B4FA"/>
            </a:solidFill>
            <a:prstDash val="dash"/>
          </a:ln>
        </p:spPr>
      </p:sp>
      <p:sp>
        <p:nvSpPr>
          <p:cNvPr id="23" name="Shape 20"/>
          <p:cNvSpPr/>
          <p:nvPr/>
        </p:nvSpPr>
        <p:spPr>
          <a:xfrm>
            <a:off x="5349240" y="1325880"/>
            <a:ext cx="1554480" cy="502920"/>
          </a:xfrm>
          <a:prstGeom prst="roundRect">
            <a:avLst>
              <a:gd name="adj" fmla="val 12727"/>
            </a:avLst>
          </a:prstGeom>
          <a:solidFill>
            <a:srgbClr val="232338"/>
          </a:solidFill>
          <a:ln w="15240">
            <a:solidFill>
              <a:srgbClr val="89B4FA"/>
            </a:solidFill>
            <a:prstDash val="solid"/>
          </a:ln>
        </p:spPr>
      </p:sp>
      <p:sp>
        <p:nvSpPr>
          <p:cNvPr id="24" name="Text 21"/>
          <p:cNvSpPr/>
          <p:nvPr/>
        </p:nvSpPr>
        <p:spPr>
          <a:xfrm>
            <a:off x="534924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Explanation</a:t>
            </a:r>
            <a:endParaRPr lang="en-US" sz="950" dirty="0"/>
          </a:p>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mistral</a:t>
            </a:r>
            <a:endParaRPr lang="en-US" sz="950" dirty="0"/>
          </a:p>
        </p:txBody>
      </p:sp>
      <p:sp>
        <p:nvSpPr>
          <p:cNvPr id="25" name="Shape 22"/>
          <p:cNvSpPr/>
          <p:nvPr/>
        </p:nvSpPr>
        <p:spPr>
          <a:xfrm>
            <a:off x="6126480" y="1920240"/>
            <a:ext cx="0" cy="4590288"/>
          </a:xfrm>
          <a:prstGeom prst="line">
            <a:avLst/>
          </a:prstGeom>
          <a:noFill/>
          <a:ln w="11430">
            <a:solidFill>
              <a:srgbClr val="89B4FA"/>
            </a:solidFill>
            <a:prstDash val="dash"/>
          </a:ln>
        </p:spPr>
      </p:sp>
      <p:sp>
        <p:nvSpPr>
          <p:cNvPr id="26" name="Shape 23"/>
          <p:cNvSpPr/>
          <p:nvPr/>
        </p:nvSpPr>
        <p:spPr>
          <a:xfrm>
            <a:off x="7086600" y="1325880"/>
            <a:ext cx="1554480" cy="502920"/>
          </a:xfrm>
          <a:prstGeom prst="roundRect">
            <a:avLst>
              <a:gd name="adj" fmla="val 12727"/>
            </a:avLst>
          </a:prstGeom>
          <a:solidFill>
            <a:srgbClr val="232338"/>
          </a:solidFill>
          <a:ln w="15240">
            <a:solidFill>
              <a:srgbClr val="A6E3A1"/>
            </a:solidFill>
            <a:prstDash val="solid"/>
          </a:ln>
        </p:spPr>
      </p:sp>
      <p:sp>
        <p:nvSpPr>
          <p:cNvPr id="27" name="Text 24"/>
          <p:cNvSpPr/>
          <p:nvPr/>
        </p:nvSpPr>
        <p:spPr>
          <a:xfrm>
            <a:off x="708660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Hint</a:t>
            </a:r>
            <a:endParaRPr lang="en-US" sz="950" dirty="0"/>
          </a:p>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deepseek</a:t>
            </a:r>
            <a:endParaRPr lang="en-US" sz="950" dirty="0"/>
          </a:p>
        </p:txBody>
      </p:sp>
      <p:sp>
        <p:nvSpPr>
          <p:cNvPr id="28" name="Shape 25"/>
          <p:cNvSpPr/>
          <p:nvPr/>
        </p:nvSpPr>
        <p:spPr>
          <a:xfrm>
            <a:off x="7863840" y="1920240"/>
            <a:ext cx="0" cy="4590288"/>
          </a:xfrm>
          <a:prstGeom prst="line">
            <a:avLst/>
          </a:prstGeom>
          <a:noFill/>
          <a:ln w="11430">
            <a:solidFill>
              <a:srgbClr val="A6E3A1"/>
            </a:solidFill>
            <a:prstDash val="dash"/>
          </a:ln>
        </p:spPr>
      </p:sp>
      <p:sp>
        <p:nvSpPr>
          <p:cNvPr id="29" name="Shape 26"/>
          <p:cNvSpPr/>
          <p:nvPr/>
        </p:nvSpPr>
        <p:spPr>
          <a:xfrm>
            <a:off x="8732520" y="1325880"/>
            <a:ext cx="1554480" cy="502920"/>
          </a:xfrm>
          <a:prstGeom prst="roundRect">
            <a:avLst>
              <a:gd name="adj" fmla="val 12727"/>
            </a:avLst>
          </a:prstGeom>
          <a:solidFill>
            <a:srgbClr val="232338"/>
          </a:solidFill>
          <a:ln w="15240">
            <a:solidFill>
              <a:srgbClr val="F9E2AF"/>
            </a:solidFill>
            <a:prstDash val="solid"/>
          </a:ln>
        </p:spPr>
      </p:sp>
      <p:sp>
        <p:nvSpPr>
          <p:cNvPr id="30" name="Text 27"/>
          <p:cNvSpPr/>
          <p:nvPr/>
        </p:nvSpPr>
        <p:spPr>
          <a:xfrm>
            <a:off x="873252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Evaluation</a:t>
            </a:r>
            <a:endParaRPr lang="en-US" sz="950" dirty="0"/>
          </a:p>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gemma4</a:t>
            </a:r>
            <a:endParaRPr lang="en-US" sz="950" dirty="0"/>
          </a:p>
        </p:txBody>
      </p:sp>
      <p:sp>
        <p:nvSpPr>
          <p:cNvPr id="31" name="Shape 28"/>
          <p:cNvSpPr/>
          <p:nvPr/>
        </p:nvSpPr>
        <p:spPr>
          <a:xfrm>
            <a:off x="9509760" y="1920240"/>
            <a:ext cx="0" cy="4590288"/>
          </a:xfrm>
          <a:prstGeom prst="line">
            <a:avLst/>
          </a:prstGeom>
          <a:noFill/>
          <a:ln w="11430">
            <a:solidFill>
              <a:srgbClr val="F9E2AF"/>
            </a:solidFill>
            <a:prstDash val="dash"/>
          </a:ln>
        </p:spPr>
      </p:sp>
      <p:sp>
        <p:nvSpPr>
          <p:cNvPr id="32" name="Shape 29"/>
          <p:cNvSpPr/>
          <p:nvPr/>
        </p:nvSpPr>
        <p:spPr>
          <a:xfrm>
            <a:off x="10378440" y="1325880"/>
            <a:ext cx="1554480" cy="502920"/>
          </a:xfrm>
          <a:prstGeom prst="roundRect">
            <a:avLst>
              <a:gd name="adj" fmla="val 12727"/>
            </a:avLst>
          </a:prstGeom>
          <a:solidFill>
            <a:srgbClr val="232338"/>
          </a:solidFill>
          <a:ln w="15240">
            <a:solidFill>
              <a:srgbClr val="FAB387"/>
            </a:solidFill>
            <a:prstDash val="solid"/>
          </a:ln>
        </p:spPr>
      </p:sp>
      <p:sp>
        <p:nvSpPr>
          <p:cNvPr id="33" name="Text 30"/>
          <p:cNvSpPr/>
          <p:nvPr/>
        </p:nvSpPr>
        <p:spPr>
          <a:xfrm>
            <a:off x="10378440" y="1325880"/>
            <a:ext cx="1554480" cy="502920"/>
          </a:xfrm>
          <a:prstGeom prst="rect">
            <a:avLst/>
          </a:prstGeom>
          <a:noFill/>
          <a:ln/>
        </p:spPr>
        <p:txBody>
          <a:bodyPr wrap="square" lIns="0" tIns="0" rIns="0" bIns="0" rtlCol="0" anchor="ctr"/>
          <a:lstStyle/>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Ollama</a:t>
            </a:r>
            <a:endParaRPr lang="en-US" sz="950" dirty="0"/>
          </a:p>
          <a:p>
            <a:pPr marL="0" indent="0" algn="ctr">
              <a:lnSpc>
                <a:spcPct val="85000"/>
              </a:lnSpc>
              <a:buNone/>
            </a:pPr>
            <a:r>
              <a:rPr lang="en-US" sz="950" b="1" dirty="0">
                <a:solidFill>
                  <a:srgbClr val="CDD6F4"/>
                </a:solidFill>
                <a:latin typeface="Calibri" pitchFamily="34" charset="0"/>
                <a:ea typeface="Calibri" pitchFamily="34" charset="-122"/>
                <a:cs typeface="Calibri" pitchFamily="34" charset="-120"/>
              </a:rPr>
              <a:t>:11434</a:t>
            </a:r>
            <a:endParaRPr lang="en-US" sz="950" dirty="0"/>
          </a:p>
        </p:txBody>
      </p:sp>
      <p:sp>
        <p:nvSpPr>
          <p:cNvPr id="34" name="Shape 31"/>
          <p:cNvSpPr/>
          <p:nvPr/>
        </p:nvSpPr>
        <p:spPr>
          <a:xfrm>
            <a:off x="11155680" y="1920240"/>
            <a:ext cx="0" cy="4590288"/>
          </a:xfrm>
          <a:prstGeom prst="line">
            <a:avLst/>
          </a:prstGeom>
          <a:noFill/>
          <a:ln w="11430">
            <a:solidFill>
              <a:srgbClr val="FAB387"/>
            </a:solidFill>
            <a:prstDash val="dash"/>
          </a:ln>
        </p:spPr>
      </p:sp>
      <p:sp>
        <p:nvSpPr>
          <p:cNvPr id="35" name="Shape 32"/>
          <p:cNvSpPr/>
          <p:nvPr/>
        </p:nvSpPr>
        <p:spPr>
          <a:xfrm>
            <a:off x="914400" y="2304288"/>
            <a:ext cx="1737360" cy="0"/>
          </a:xfrm>
          <a:prstGeom prst="line">
            <a:avLst/>
          </a:prstGeom>
          <a:noFill/>
          <a:ln w="15240">
            <a:solidFill>
              <a:srgbClr val="CBA6F7"/>
            </a:solidFill>
            <a:prstDash val="solid"/>
            <a:tailEnd type="triangle"/>
          </a:ln>
        </p:spPr>
      </p:sp>
      <p:sp>
        <p:nvSpPr>
          <p:cNvPr id="36" name="Text 33"/>
          <p:cNvSpPr/>
          <p:nvPr/>
        </p:nvSpPr>
        <p:spPr>
          <a:xfrm>
            <a:off x="822960" y="2089404"/>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ouvre l'étape / pose une question</a:t>
            </a:r>
            <a:endParaRPr lang="en-US" sz="750" dirty="0"/>
          </a:p>
        </p:txBody>
      </p:sp>
      <p:sp>
        <p:nvSpPr>
          <p:cNvPr id="37" name="Shape 34"/>
          <p:cNvSpPr/>
          <p:nvPr/>
        </p:nvSpPr>
        <p:spPr>
          <a:xfrm>
            <a:off x="2651760" y="2505456"/>
            <a:ext cx="1737360" cy="0"/>
          </a:xfrm>
          <a:prstGeom prst="line">
            <a:avLst/>
          </a:prstGeom>
          <a:noFill/>
          <a:ln w="15240">
            <a:solidFill>
              <a:srgbClr val="CBA6F7"/>
            </a:solidFill>
            <a:prstDash val="solid"/>
            <a:tailEnd type="triangle"/>
          </a:ln>
        </p:spPr>
      </p:sp>
      <p:sp>
        <p:nvSpPr>
          <p:cNvPr id="38" name="Text 35"/>
          <p:cNvSpPr/>
          <p:nvPr/>
        </p:nvSpPr>
        <p:spPr>
          <a:xfrm>
            <a:off x="2560320" y="2290572"/>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POST /api/agents/explain</a:t>
            </a:r>
            <a:endParaRPr lang="en-US" sz="750" dirty="0"/>
          </a:p>
        </p:txBody>
      </p:sp>
      <p:sp>
        <p:nvSpPr>
          <p:cNvPr id="39" name="Shape 36"/>
          <p:cNvSpPr/>
          <p:nvPr/>
        </p:nvSpPr>
        <p:spPr>
          <a:xfrm>
            <a:off x="4389120" y="2706624"/>
            <a:ext cx="1737360" cy="0"/>
          </a:xfrm>
          <a:prstGeom prst="line">
            <a:avLst/>
          </a:prstGeom>
          <a:noFill/>
          <a:ln w="15240">
            <a:solidFill>
              <a:srgbClr val="CBA6F7"/>
            </a:solidFill>
            <a:prstDash val="solid"/>
            <a:tailEnd type="triangle"/>
          </a:ln>
        </p:spPr>
      </p:sp>
      <p:sp>
        <p:nvSpPr>
          <p:cNvPr id="40" name="Text 37"/>
          <p:cNvSpPr/>
          <p:nvPr/>
        </p:nvSpPr>
        <p:spPr>
          <a:xfrm>
            <a:off x="4297680" y="2491740"/>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POST /explain</a:t>
            </a:r>
            <a:endParaRPr lang="en-US" sz="750" dirty="0"/>
          </a:p>
        </p:txBody>
      </p:sp>
      <p:sp>
        <p:nvSpPr>
          <p:cNvPr id="41" name="Shape 38"/>
          <p:cNvSpPr/>
          <p:nvPr/>
        </p:nvSpPr>
        <p:spPr>
          <a:xfrm>
            <a:off x="6126480" y="2907792"/>
            <a:ext cx="5029200" cy="0"/>
          </a:xfrm>
          <a:prstGeom prst="line">
            <a:avLst/>
          </a:prstGeom>
          <a:noFill/>
          <a:ln w="15240">
            <a:solidFill>
              <a:srgbClr val="FAB387"/>
            </a:solidFill>
            <a:prstDash val="solid"/>
            <a:tailEnd type="triangle"/>
          </a:ln>
        </p:spPr>
      </p:sp>
      <p:sp>
        <p:nvSpPr>
          <p:cNvPr id="42" name="Text 39"/>
          <p:cNvSpPr/>
          <p:nvPr/>
        </p:nvSpPr>
        <p:spPr>
          <a:xfrm>
            <a:off x="6035040" y="2692908"/>
            <a:ext cx="521208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boucle ReAct (mistral)</a:t>
            </a:r>
            <a:endParaRPr lang="en-US" sz="750" dirty="0"/>
          </a:p>
        </p:txBody>
      </p:sp>
      <p:sp>
        <p:nvSpPr>
          <p:cNvPr id="43" name="Shape 40"/>
          <p:cNvSpPr/>
          <p:nvPr/>
        </p:nvSpPr>
        <p:spPr>
          <a:xfrm>
            <a:off x="11155680" y="3108960"/>
            <a:ext cx="0" cy="0"/>
          </a:xfrm>
          <a:prstGeom prst="line">
            <a:avLst/>
          </a:prstGeom>
          <a:noFill/>
          <a:ln w="15240">
            <a:solidFill>
              <a:srgbClr val="BAC2DE"/>
            </a:solidFill>
            <a:prstDash val="dash"/>
            <a:tailEnd type="triangle"/>
          </a:ln>
        </p:spPr>
      </p:sp>
      <p:sp>
        <p:nvSpPr>
          <p:cNvPr id="44" name="Text 41"/>
          <p:cNvSpPr/>
          <p:nvPr/>
        </p:nvSpPr>
        <p:spPr>
          <a:xfrm>
            <a:off x="6035040" y="2894076"/>
            <a:ext cx="521208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explication socratique — sans code</a:t>
            </a:r>
            <a:endParaRPr lang="en-US" sz="750" dirty="0"/>
          </a:p>
        </p:txBody>
      </p:sp>
      <p:sp>
        <p:nvSpPr>
          <p:cNvPr id="45" name="Shape 42"/>
          <p:cNvSpPr/>
          <p:nvPr/>
        </p:nvSpPr>
        <p:spPr>
          <a:xfrm>
            <a:off x="6126480" y="3291840"/>
            <a:ext cx="0" cy="0"/>
          </a:xfrm>
          <a:prstGeom prst="line">
            <a:avLst/>
          </a:prstGeom>
          <a:noFill/>
          <a:ln w="15240">
            <a:solidFill>
              <a:srgbClr val="BAC2DE"/>
            </a:solidFill>
            <a:prstDash val="dash"/>
            <a:tailEnd type="triangle"/>
          </a:ln>
        </p:spPr>
      </p:sp>
      <p:sp>
        <p:nvSpPr>
          <p:cNvPr id="46" name="Text 43"/>
          <p:cNvSpPr/>
          <p:nvPr/>
        </p:nvSpPr>
        <p:spPr>
          <a:xfrm>
            <a:off x="2560320" y="3076956"/>
            <a:ext cx="365760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ExplainResponse</a:t>
            </a:r>
            <a:endParaRPr lang="en-US" sz="750" dirty="0"/>
          </a:p>
        </p:txBody>
      </p:sp>
      <p:sp>
        <p:nvSpPr>
          <p:cNvPr id="47" name="Shape 44"/>
          <p:cNvSpPr/>
          <p:nvPr/>
        </p:nvSpPr>
        <p:spPr>
          <a:xfrm>
            <a:off x="914400" y="3657600"/>
            <a:ext cx="1737360" cy="0"/>
          </a:xfrm>
          <a:prstGeom prst="line">
            <a:avLst/>
          </a:prstGeom>
          <a:noFill/>
          <a:ln w="15240">
            <a:solidFill>
              <a:srgbClr val="A6E3A1"/>
            </a:solidFill>
            <a:prstDash val="solid"/>
            <a:tailEnd type="triangle"/>
          </a:ln>
        </p:spPr>
      </p:sp>
      <p:sp>
        <p:nvSpPr>
          <p:cNvPr id="48" name="Text 45"/>
          <p:cNvSpPr/>
          <p:nvPr/>
        </p:nvSpPr>
        <p:spPr>
          <a:xfrm>
            <a:off x="822960" y="3442716"/>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écrit du HTML / demande un indice</a:t>
            </a:r>
            <a:endParaRPr lang="en-US" sz="750" dirty="0"/>
          </a:p>
        </p:txBody>
      </p:sp>
      <p:sp>
        <p:nvSpPr>
          <p:cNvPr id="49" name="Shape 46"/>
          <p:cNvSpPr/>
          <p:nvPr/>
        </p:nvSpPr>
        <p:spPr>
          <a:xfrm>
            <a:off x="2651760" y="3858768"/>
            <a:ext cx="1737360" cy="0"/>
          </a:xfrm>
          <a:prstGeom prst="line">
            <a:avLst/>
          </a:prstGeom>
          <a:noFill/>
          <a:ln w="15240">
            <a:solidFill>
              <a:srgbClr val="A6E3A1"/>
            </a:solidFill>
            <a:prstDash val="solid"/>
            <a:tailEnd type="triangle"/>
          </a:ln>
        </p:spPr>
      </p:sp>
      <p:sp>
        <p:nvSpPr>
          <p:cNvPr id="50" name="Text 47"/>
          <p:cNvSpPr/>
          <p:nvPr/>
        </p:nvSpPr>
        <p:spPr>
          <a:xfrm>
            <a:off x="2560320" y="3643884"/>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POST /api/agents/hint</a:t>
            </a:r>
            <a:endParaRPr lang="en-US" sz="750" dirty="0"/>
          </a:p>
        </p:txBody>
      </p:sp>
      <p:sp>
        <p:nvSpPr>
          <p:cNvPr id="51" name="Shape 48"/>
          <p:cNvSpPr/>
          <p:nvPr/>
        </p:nvSpPr>
        <p:spPr>
          <a:xfrm>
            <a:off x="4389120" y="4059936"/>
            <a:ext cx="3474720" cy="0"/>
          </a:xfrm>
          <a:prstGeom prst="line">
            <a:avLst/>
          </a:prstGeom>
          <a:noFill/>
          <a:ln w="15240">
            <a:solidFill>
              <a:srgbClr val="A6E3A1"/>
            </a:solidFill>
            <a:prstDash val="solid"/>
            <a:tailEnd type="triangle"/>
          </a:ln>
        </p:spPr>
      </p:sp>
      <p:sp>
        <p:nvSpPr>
          <p:cNvPr id="52" name="Text 49"/>
          <p:cNvSpPr/>
          <p:nvPr/>
        </p:nvSpPr>
        <p:spPr>
          <a:xfrm>
            <a:off x="4297680" y="3845052"/>
            <a:ext cx="365760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POST /hint</a:t>
            </a:r>
            <a:endParaRPr lang="en-US" sz="750" dirty="0"/>
          </a:p>
        </p:txBody>
      </p:sp>
      <p:sp>
        <p:nvSpPr>
          <p:cNvPr id="53" name="Shape 50"/>
          <p:cNvSpPr/>
          <p:nvPr/>
        </p:nvSpPr>
        <p:spPr>
          <a:xfrm>
            <a:off x="7863840" y="4261104"/>
            <a:ext cx="3291840" cy="0"/>
          </a:xfrm>
          <a:prstGeom prst="line">
            <a:avLst/>
          </a:prstGeom>
          <a:noFill/>
          <a:ln w="15240">
            <a:solidFill>
              <a:srgbClr val="FAB387"/>
            </a:solidFill>
            <a:prstDash val="solid"/>
            <a:tailEnd type="triangle"/>
          </a:ln>
        </p:spPr>
      </p:sp>
      <p:sp>
        <p:nvSpPr>
          <p:cNvPr id="54" name="Text 51"/>
          <p:cNvSpPr/>
          <p:nvPr/>
        </p:nvSpPr>
        <p:spPr>
          <a:xfrm>
            <a:off x="7772400" y="4046220"/>
            <a:ext cx="347472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validate tags + indice progressif</a:t>
            </a:r>
            <a:endParaRPr lang="en-US" sz="750" dirty="0"/>
          </a:p>
        </p:txBody>
      </p:sp>
      <p:sp>
        <p:nvSpPr>
          <p:cNvPr id="55" name="Shape 52"/>
          <p:cNvSpPr/>
          <p:nvPr/>
        </p:nvSpPr>
        <p:spPr>
          <a:xfrm>
            <a:off x="11155680" y="4462272"/>
            <a:ext cx="0" cy="0"/>
          </a:xfrm>
          <a:prstGeom prst="line">
            <a:avLst/>
          </a:prstGeom>
          <a:noFill/>
          <a:ln w="15240">
            <a:solidFill>
              <a:srgbClr val="BAC2DE"/>
            </a:solidFill>
            <a:prstDash val="dash"/>
            <a:tailEnd type="triangle"/>
          </a:ln>
        </p:spPr>
      </p:sp>
      <p:sp>
        <p:nvSpPr>
          <p:cNvPr id="56" name="Text 53"/>
          <p:cNvSpPr/>
          <p:nvPr/>
        </p:nvSpPr>
        <p:spPr>
          <a:xfrm>
            <a:off x="7772400" y="4247388"/>
            <a:ext cx="347472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un indice de niveau N</a:t>
            </a:r>
            <a:endParaRPr lang="en-US" sz="750" dirty="0"/>
          </a:p>
        </p:txBody>
      </p:sp>
      <p:sp>
        <p:nvSpPr>
          <p:cNvPr id="57" name="Shape 54"/>
          <p:cNvSpPr/>
          <p:nvPr/>
        </p:nvSpPr>
        <p:spPr>
          <a:xfrm>
            <a:off x="7863840" y="4645152"/>
            <a:ext cx="0" cy="0"/>
          </a:xfrm>
          <a:prstGeom prst="line">
            <a:avLst/>
          </a:prstGeom>
          <a:noFill/>
          <a:ln w="15240">
            <a:solidFill>
              <a:srgbClr val="BAC2DE"/>
            </a:solidFill>
            <a:prstDash val="dash"/>
            <a:tailEnd type="triangle"/>
          </a:ln>
        </p:spPr>
      </p:sp>
      <p:sp>
        <p:nvSpPr>
          <p:cNvPr id="58" name="Text 55"/>
          <p:cNvSpPr/>
          <p:nvPr/>
        </p:nvSpPr>
        <p:spPr>
          <a:xfrm>
            <a:off x="2560320" y="4430268"/>
            <a:ext cx="539496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HintResponse (hint_level, missing_tags)</a:t>
            </a:r>
            <a:endParaRPr lang="en-US" sz="750" dirty="0"/>
          </a:p>
        </p:txBody>
      </p:sp>
      <p:sp>
        <p:nvSpPr>
          <p:cNvPr id="59" name="Shape 56"/>
          <p:cNvSpPr/>
          <p:nvPr/>
        </p:nvSpPr>
        <p:spPr>
          <a:xfrm>
            <a:off x="914400" y="5047488"/>
            <a:ext cx="1737360" cy="0"/>
          </a:xfrm>
          <a:prstGeom prst="line">
            <a:avLst/>
          </a:prstGeom>
          <a:noFill/>
          <a:ln w="15240">
            <a:solidFill>
              <a:srgbClr val="F9E2AF"/>
            </a:solidFill>
            <a:prstDash val="solid"/>
            <a:tailEnd type="triangle"/>
          </a:ln>
        </p:spPr>
      </p:sp>
      <p:sp>
        <p:nvSpPr>
          <p:cNvPr id="60" name="Text 57"/>
          <p:cNvSpPr/>
          <p:nvPr/>
        </p:nvSpPr>
        <p:spPr>
          <a:xfrm>
            <a:off x="822960" y="4832604"/>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soumet le TP terminé</a:t>
            </a:r>
            <a:endParaRPr lang="en-US" sz="750" dirty="0"/>
          </a:p>
        </p:txBody>
      </p:sp>
      <p:sp>
        <p:nvSpPr>
          <p:cNvPr id="61" name="Shape 58"/>
          <p:cNvSpPr/>
          <p:nvPr/>
        </p:nvSpPr>
        <p:spPr>
          <a:xfrm>
            <a:off x="4389120" y="5248656"/>
            <a:ext cx="5120640" cy="0"/>
          </a:xfrm>
          <a:prstGeom prst="line">
            <a:avLst/>
          </a:prstGeom>
          <a:noFill/>
          <a:ln w="15240">
            <a:solidFill>
              <a:srgbClr val="F9E2AF"/>
            </a:solidFill>
            <a:prstDash val="solid"/>
            <a:tailEnd type="triangle"/>
          </a:ln>
        </p:spPr>
      </p:sp>
      <p:sp>
        <p:nvSpPr>
          <p:cNvPr id="62" name="Text 59"/>
          <p:cNvSpPr/>
          <p:nvPr/>
        </p:nvSpPr>
        <p:spPr>
          <a:xfrm>
            <a:off x="4297680" y="5033772"/>
            <a:ext cx="530352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POST /generate-quiz</a:t>
            </a:r>
            <a:endParaRPr lang="en-US" sz="750" dirty="0"/>
          </a:p>
        </p:txBody>
      </p:sp>
      <p:sp>
        <p:nvSpPr>
          <p:cNvPr id="63" name="Shape 60"/>
          <p:cNvSpPr/>
          <p:nvPr/>
        </p:nvSpPr>
        <p:spPr>
          <a:xfrm>
            <a:off x="9509760" y="5449824"/>
            <a:ext cx="1645920" cy="0"/>
          </a:xfrm>
          <a:prstGeom prst="line">
            <a:avLst/>
          </a:prstGeom>
          <a:noFill/>
          <a:ln w="15240">
            <a:solidFill>
              <a:srgbClr val="FAB387"/>
            </a:solidFill>
            <a:prstDash val="solid"/>
            <a:tailEnd type="triangle"/>
          </a:ln>
        </p:spPr>
      </p:sp>
      <p:sp>
        <p:nvSpPr>
          <p:cNvPr id="64" name="Text 61"/>
          <p:cNvSpPr/>
          <p:nvPr/>
        </p:nvSpPr>
        <p:spPr>
          <a:xfrm>
            <a:off x="9418320" y="5234940"/>
            <a:ext cx="182880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QCM ancré dans le code étudiant</a:t>
            </a:r>
            <a:endParaRPr lang="en-US" sz="750" dirty="0"/>
          </a:p>
        </p:txBody>
      </p:sp>
      <p:sp>
        <p:nvSpPr>
          <p:cNvPr id="65" name="Shape 62"/>
          <p:cNvSpPr/>
          <p:nvPr/>
        </p:nvSpPr>
        <p:spPr>
          <a:xfrm>
            <a:off x="11155680" y="5650992"/>
            <a:ext cx="0" cy="0"/>
          </a:xfrm>
          <a:prstGeom prst="line">
            <a:avLst/>
          </a:prstGeom>
          <a:noFill/>
          <a:ln w="15240">
            <a:solidFill>
              <a:srgbClr val="BAC2DE"/>
            </a:solidFill>
            <a:prstDash val="dash"/>
            <a:tailEnd type="triangle"/>
          </a:ln>
        </p:spPr>
      </p:sp>
      <p:sp>
        <p:nvSpPr>
          <p:cNvPr id="66" name="Text 63"/>
          <p:cNvSpPr/>
          <p:nvPr/>
        </p:nvSpPr>
        <p:spPr>
          <a:xfrm>
            <a:off x="9418320" y="5436108"/>
            <a:ext cx="182880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MCQ[] JSON</a:t>
            </a:r>
            <a:endParaRPr lang="en-US" sz="750" dirty="0"/>
          </a:p>
        </p:txBody>
      </p:sp>
      <p:sp>
        <p:nvSpPr>
          <p:cNvPr id="67" name="Shape 64"/>
          <p:cNvSpPr/>
          <p:nvPr/>
        </p:nvSpPr>
        <p:spPr>
          <a:xfrm>
            <a:off x="9509760" y="5852160"/>
            <a:ext cx="0" cy="0"/>
          </a:xfrm>
          <a:prstGeom prst="line">
            <a:avLst/>
          </a:prstGeom>
          <a:noFill/>
          <a:ln w="15240">
            <a:solidFill>
              <a:srgbClr val="BAC2DE"/>
            </a:solidFill>
            <a:prstDash val="dash"/>
            <a:tailEnd type="triangle"/>
          </a:ln>
        </p:spPr>
      </p:sp>
      <p:sp>
        <p:nvSpPr>
          <p:cNvPr id="68" name="Text 65"/>
          <p:cNvSpPr/>
          <p:nvPr/>
        </p:nvSpPr>
        <p:spPr>
          <a:xfrm>
            <a:off x="2560320" y="5637276"/>
            <a:ext cx="704088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questions</a:t>
            </a:r>
            <a:endParaRPr lang="en-US" sz="750" dirty="0"/>
          </a:p>
        </p:txBody>
      </p:sp>
      <p:sp>
        <p:nvSpPr>
          <p:cNvPr id="69" name="Shape 66"/>
          <p:cNvSpPr/>
          <p:nvPr/>
        </p:nvSpPr>
        <p:spPr>
          <a:xfrm>
            <a:off x="914400" y="6053328"/>
            <a:ext cx="1737360" cy="0"/>
          </a:xfrm>
          <a:prstGeom prst="line">
            <a:avLst/>
          </a:prstGeom>
          <a:noFill/>
          <a:ln w="15240">
            <a:solidFill>
              <a:srgbClr val="F9E2AF"/>
            </a:solidFill>
            <a:prstDash val="solid"/>
            <a:tailEnd type="triangle"/>
          </a:ln>
        </p:spPr>
      </p:sp>
      <p:sp>
        <p:nvSpPr>
          <p:cNvPr id="70" name="Text 67"/>
          <p:cNvSpPr/>
          <p:nvPr/>
        </p:nvSpPr>
        <p:spPr>
          <a:xfrm>
            <a:off x="822960" y="5838444"/>
            <a:ext cx="1920240" cy="201168"/>
          </a:xfrm>
          <a:prstGeom prst="rect">
            <a:avLst/>
          </a:prstGeom>
          <a:noFill/>
          <a:ln/>
        </p:spPr>
        <p:txBody>
          <a:bodyPr wrap="square" lIns="0" tIns="0" rIns="0" bIns="0" rtlCol="0" anchor="ctr"/>
          <a:lstStyle/>
          <a:p>
            <a:pPr marL="0" indent="0" algn="ctr">
              <a:buNone/>
            </a:pPr>
            <a:r>
              <a:rPr lang="en-US" sz="750" dirty="0">
                <a:solidFill>
                  <a:srgbClr val="CDD6F4"/>
                </a:solidFill>
                <a:latin typeface="Calibri" pitchFamily="34" charset="0"/>
                <a:ea typeface="Calibri" pitchFamily="34" charset="-122"/>
                <a:cs typeface="Calibri" pitchFamily="34" charset="-120"/>
              </a:rPr>
              <a:t>répond au quiz → POST /evaluate</a:t>
            </a:r>
            <a:endParaRPr lang="en-US" sz="750" dirty="0"/>
          </a:p>
        </p:txBody>
      </p:sp>
      <p:sp>
        <p:nvSpPr>
          <p:cNvPr id="71" name="Shape 68"/>
          <p:cNvSpPr/>
          <p:nvPr/>
        </p:nvSpPr>
        <p:spPr>
          <a:xfrm>
            <a:off x="9509760" y="6199632"/>
            <a:ext cx="411480" cy="0"/>
          </a:xfrm>
          <a:prstGeom prst="line">
            <a:avLst/>
          </a:prstGeom>
          <a:noFill/>
          <a:ln w="13970">
            <a:solidFill>
              <a:srgbClr val="F9E2AF"/>
            </a:solidFill>
            <a:prstDash val="solid"/>
          </a:ln>
        </p:spPr>
      </p:sp>
      <p:sp>
        <p:nvSpPr>
          <p:cNvPr id="72" name="Shape 69"/>
          <p:cNvSpPr/>
          <p:nvPr/>
        </p:nvSpPr>
        <p:spPr>
          <a:xfrm>
            <a:off x="9921240" y="6199632"/>
            <a:ext cx="0" cy="128016"/>
          </a:xfrm>
          <a:prstGeom prst="line">
            <a:avLst/>
          </a:prstGeom>
          <a:noFill/>
          <a:ln w="13970">
            <a:solidFill>
              <a:srgbClr val="F9E2AF"/>
            </a:solidFill>
            <a:prstDash val="solid"/>
          </a:ln>
        </p:spPr>
      </p:sp>
      <p:sp>
        <p:nvSpPr>
          <p:cNvPr id="73" name="Shape 70"/>
          <p:cNvSpPr/>
          <p:nvPr/>
        </p:nvSpPr>
        <p:spPr>
          <a:xfrm>
            <a:off x="9921240" y="6327648"/>
            <a:ext cx="0" cy="0"/>
          </a:xfrm>
          <a:prstGeom prst="line">
            <a:avLst/>
          </a:prstGeom>
          <a:noFill/>
          <a:ln w="13970">
            <a:solidFill>
              <a:srgbClr val="F9E2AF"/>
            </a:solidFill>
            <a:prstDash val="solid"/>
            <a:tailEnd type="triangle"/>
          </a:ln>
        </p:spPr>
      </p:sp>
      <p:sp>
        <p:nvSpPr>
          <p:cNvPr id="74" name="Text 71"/>
          <p:cNvSpPr/>
          <p:nvPr/>
        </p:nvSpPr>
        <p:spPr>
          <a:xfrm>
            <a:off x="9966960" y="6144768"/>
            <a:ext cx="2103120" cy="201168"/>
          </a:xfrm>
          <a:prstGeom prst="rect">
            <a:avLst/>
          </a:prstGeom>
          <a:noFill/>
          <a:ln/>
        </p:spPr>
        <p:txBody>
          <a:bodyPr wrap="square" lIns="0" tIns="0" rIns="0" bIns="0" rtlCol="0" anchor="ctr"/>
          <a:lstStyle/>
          <a:p>
            <a:pPr marL="0" indent="0">
              <a:buNone/>
            </a:pPr>
            <a:r>
              <a:rPr lang="en-US" sz="750" i="1" dirty="0">
                <a:solidFill>
                  <a:srgbClr val="F9E2AF"/>
                </a:solidFill>
                <a:latin typeface="Calibri" pitchFamily="34" charset="0"/>
                <a:ea typeface="Calibri" pitchFamily="34" charset="-122"/>
                <a:cs typeface="Calibri" pitchFamily="34" charset="-120"/>
              </a:rPr>
              <a:t>calculate_quiz_score (déterministe)</a:t>
            </a:r>
            <a:endParaRPr lang="en-US" sz="750" dirty="0"/>
          </a:p>
        </p:txBody>
      </p:sp>
      <p:sp>
        <p:nvSpPr>
          <p:cNvPr id="75" name="Shape 72"/>
          <p:cNvSpPr/>
          <p:nvPr/>
        </p:nvSpPr>
        <p:spPr>
          <a:xfrm>
            <a:off x="9509760" y="6400800"/>
            <a:ext cx="0" cy="0"/>
          </a:xfrm>
          <a:prstGeom prst="line">
            <a:avLst/>
          </a:prstGeom>
          <a:noFill/>
          <a:ln w="15240">
            <a:solidFill>
              <a:srgbClr val="BAC2DE"/>
            </a:solidFill>
            <a:prstDash val="dash"/>
            <a:tailEnd type="triangle"/>
          </a:ln>
        </p:spPr>
      </p:sp>
      <p:sp>
        <p:nvSpPr>
          <p:cNvPr id="76" name="Text 73"/>
          <p:cNvSpPr/>
          <p:nvPr/>
        </p:nvSpPr>
        <p:spPr>
          <a:xfrm>
            <a:off x="2560320" y="6185916"/>
            <a:ext cx="7040880" cy="201168"/>
          </a:xfrm>
          <a:prstGeom prst="rect">
            <a:avLst/>
          </a:prstGeom>
          <a:noFill/>
          <a:ln/>
        </p:spPr>
        <p:txBody>
          <a:bodyPr wrap="square" lIns="0" tIns="0" rIns="0" bIns="0" rtlCol="0" anchor="ctr"/>
          <a:lstStyle/>
          <a:p>
            <a:pPr marL="0" indent="0" algn="ctr">
              <a:buNone/>
            </a:pPr>
            <a:r>
              <a:rPr lang="en-US" sz="750" i="1" dirty="0">
                <a:solidFill>
                  <a:srgbClr val="A6ADC8"/>
                </a:solidFill>
                <a:latin typeface="Calibri" pitchFamily="34" charset="0"/>
                <a:ea typeface="Calibri" pitchFamily="34" charset="-122"/>
                <a:cs typeface="Calibri" pitchFamily="34" charset="-120"/>
              </a:rPr>
              <a:t>score + grade + feedback personnalisé</a:t>
            </a:r>
            <a:endParaRPr lang="en-US" sz="7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shield.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A6E3A1"/>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Mécanismes anti-triche</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15</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9" name="Shape 6"/>
          <p:cNvSpPr/>
          <p:nvPr/>
        </p:nvSpPr>
        <p:spPr>
          <a:xfrm>
            <a:off x="566928" y="1801368"/>
            <a:ext cx="64008" cy="1152144"/>
          </a:xfrm>
          <a:prstGeom prst="rect">
            <a:avLst/>
          </a:prstGeom>
          <a:solidFill>
            <a:srgbClr val="A6E3A1"/>
          </a:solidFill>
          <a:ln/>
        </p:spPr>
      </p:sp>
      <p:pic>
        <p:nvPicPr>
          <p:cNvPr id="10" name="Image 1" descr="assets/ic_lock.png"/>
          <p:cNvPicPr>
            <a:picLocks noChangeAspect="1"/>
          </p:cNvPicPr>
          <p:nvPr/>
        </p:nvPicPr>
        <p:blipFill>
          <a:blip r:embed="rId4"/>
          <a:stretch>
            <a:fillRect/>
          </a:stretch>
        </p:blipFill>
        <p:spPr>
          <a:xfrm>
            <a:off x="804672" y="1929384"/>
            <a:ext cx="384048" cy="384048"/>
          </a:xfrm>
          <a:prstGeom prst="rect">
            <a:avLst/>
          </a:prstGeom>
        </p:spPr>
      </p:pic>
      <p:sp>
        <p:nvSpPr>
          <p:cNvPr id="11" name="Text 7"/>
          <p:cNvSpPr/>
          <p:nvPr/>
        </p:nvSpPr>
        <p:spPr>
          <a:xfrm>
            <a:off x="804672" y="2368296"/>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Copier-coller désactivé</a:t>
            </a:r>
            <a:endParaRPr lang="en-US" sz="1350" dirty="0"/>
          </a:p>
        </p:txBody>
      </p:sp>
      <p:sp>
        <p:nvSpPr>
          <p:cNvPr id="12" name="Text 8"/>
          <p:cNvSpPr/>
          <p:nvPr/>
        </p:nvSpPr>
        <p:spPr>
          <a:xfrm>
            <a:off x="804672" y="2642616"/>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onPaste / onDrop / onContextMenu → e.preventDefault()</a:t>
            </a:r>
            <a:endParaRPr lang="en-US" sz="900" dirty="0"/>
          </a:p>
        </p:txBody>
      </p:sp>
      <p:sp>
        <p:nvSpPr>
          <p:cNvPr id="13" name="Shape 9"/>
          <p:cNvSpPr/>
          <p:nvPr/>
        </p:nvSpPr>
        <p:spPr>
          <a:xfrm>
            <a:off x="4187952" y="1691640"/>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14" name="Shape 10"/>
          <p:cNvSpPr/>
          <p:nvPr/>
        </p:nvSpPr>
        <p:spPr>
          <a:xfrm>
            <a:off x="4187952" y="1801368"/>
            <a:ext cx="64008" cy="1152144"/>
          </a:xfrm>
          <a:prstGeom prst="rect">
            <a:avLst/>
          </a:prstGeom>
          <a:solidFill>
            <a:srgbClr val="A6E3A1"/>
          </a:solidFill>
          <a:ln/>
        </p:spPr>
      </p:sp>
      <p:pic>
        <p:nvPicPr>
          <p:cNvPr id="15" name="Image 2" descr="assets/ic_lock.png"/>
          <p:cNvPicPr>
            <a:picLocks noChangeAspect="1"/>
          </p:cNvPicPr>
          <p:nvPr/>
        </p:nvPicPr>
        <p:blipFill>
          <a:blip r:embed="rId4"/>
          <a:stretch>
            <a:fillRect/>
          </a:stretch>
        </p:blipFill>
        <p:spPr>
          <a:xfrm>
            <a:off x="4425696" y="1929384"/>
            <a:ext cx="384048" cy="384048"/>
          </a:xfrm>
          <a:prstGeom prst="rect">
            <a:avLst/>
          </a:prstGeom>
        </p:spPr>
      </p:pic>
      <p:sp>
        <p:nvSpPr>
          <p:cNvPr id="16" name="Text 11"/>
          <p:cNvSpPr/>
          <p:nvPr/>
        </p:nvSpPr>
        <p:spPr>
          <a:xfrm>
            <a:off x="4425696" y="2368296"/>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Glisser-déposer bloqué</a:t>
            </a:r>
            <a:endParaRPr lang="en-US" sz="1350" dirty="0"/>
          </a:p>
        </p:txBody>
      </p:sp>
      <p:sp>
        <p:nvSpPr>
          <p:cNvPr id="17" name="Text 12"/>
          <p:cNvSpPr/>
          <p:nvPr/>
        </p:nvSpPr>
        <p:spPr>
          <a:xfrm>
            <a:off x="4425696" y="2642616"/>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Même chaîne de gestionnaires d'événements</a:t>
            </a:r>
            <a:endParaRPr lang="en-US" sz="900" dirty="0"/>
          </a:p>
        </p:txBody>
      </p:sp>
      <p:sp>
        <p:nvSpPr>
          <p:cNvPr id="18" name="Shape 13"/>
          <p:cNvSpPr/>
          <p:nvPr/>
        </p:nvSpPr>
        <p:spPr>
          <a:xfrm>
            <a:off x="7808976" y="1691640"/>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19" name="Shape 14"/>
          <p:cNvSpPr/>
          <p:nvPr/>
        </p:nvSpPr>
        <p:spPr>
          <a:xfrm>
            <a:off x="7808976" y="1801368"/>
            <a:ext cx="64008" cy="1152144"/>
          </a:xfrm>
          <a:prstGeom prst="rect">
            <a:avLst/>
          </a:prstGeom>
          <a:solidFill>
            <a:srgbClr val="A6E3A1"/>
          </a:solidFill>
          <a:ln/>
        </p:spPr>
      </p:sp>
      <p:pic>
        <p:nvPicPr>
          <p:cNvPr id="20" name="Image 3" descr="assets/ic_lock.png"/>
          <p:cNvPicPr>
            <a:picLocks noChangeAspect="1"/>
          </p:cNvPicPr>
          <p:nvPr/>
        </p:nvPicPr>
        <p:blipFill>
          <a:blip r:embed="rId4"/>
          <a:stretch>
            <a:fillRect/>
          </a:stretch>
        </p:blipFill>
        <p:spPr>
          <a:xfrm>
            <a:off x="8046720" y="1929384"/>
            <a:ext cx="384048" cy="384048"/>
          </a:xfrm>
          <a:prstGeom prst="rect">
            <a:avLst/>
          </a:prstGeom>
        </p:spPr>
      </p:pic>
      <p:sp>
        <p:nvSpPr>
          <p:cNvPr id="21" name="Text 15"/>
          <p:cNvSpPr/>
          <p:nvPr/>
        </p:nvSpPr>
        <p:spPr>
          <a:xfrm>
            <a:off x="8046720" y="2368296"/>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Clic droit désactivé</a:t>
            </a:r>
            <a:endParaRPr lang="en-US" sz="1350" dirty="0"/>
          </a:p>
        </p:txBody>
      </p:sp>
      <p:sp>
        <p:nvSpPr>
          <p:cNvPr id="22" name="Text 16"/>
          <p:cNvSpPr/>
          <p:nvPr/>
        </p:nvSpPr>
        <p:spPr>
          <a:xfrm>
            <a:off x="8046720" y="2642616"/>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Empêche le menu contextuel du navigateur</a:t>
            </a:r>
            <a:endParaRPr lang="en-US" sz="900" dirty="0"/>
          </a:p>
        </p:txBody>
      </p:sp>
      <p:sp>
        <p:nvSpPr>
          <p:cNvPr id="23" name="Shape 17"/>
          <p:cNvSpPr/>
          <p:nvPr/>
        </p:nvSpPr>
        <p:spPr>
          <a:xfrm>
            <a:off x="566928" y="3227832"/>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24" name="Shape 18"/>
          <p:cNvSpPr/>
          <p:nvPr/>
        </p:nvSpPr>
        <p:spPr>
          <a:xfrm>
            <a:off x="566928" y="3337560"/>
            <a:ext cx="64008" cy="1152144"/>
          </a:xfrm>
          <a:prstGeom prst="rect">
            <a:avLst/>
          </a:prstGeom>
          <a:solidFill>
            <a:srgbClr val="A6E3A1"/>
          </a:solidFill>
          <a:ln/>
        </p:spPr>
      </p:sp>
      <p:pic>
        <p:nvPicPr>
          <p:cNvPr id="25" name="Image 4" descr="assets/ic_check.png"/>
          <p:cNvPicPr>
            <a:picLocks noChangeAspect="1"/>
          </p:cNvPicPr>
          <p:nvPr/>
        </p:nvPicPr>
        <p:blipFill>
          <a:blip r:embed="rId5"/>
          <a:stretch>
            <a:fillRect/>
          </a:stretch>
        </p:blipFill>
        <p:spPr>
          <a:xfrm>
            <a:off x="804672" y="3465576"/>
            <a:ext cx="384048" cy="384048"/>
          </a:xfrm>
          <a:prstGeom prst="rect">
            <a:avLst/>
          </a:prstGeom>
        </p:spPr>
      </p:pic>
      <p:sp>
        <p:nvSpPr>
          <p:cNvPr id="26" name="Text 19"/>
          <p:cNvSpPr/>
          <p:nvPr/>
        </p:nvSpPr>
        <p:spPr>
          <a:xfrm>
            <a:off x="804672" y="3904488"/>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Validation par interpréteur</a:t>
            </a:r>
            <a:endParaRPr lang="en-US" sz="1350" dirty="0"/>
          </a:p>
        </p:txBody>
      </p:sp>
      <p:sp>
        <p:nvSpPr>
          <p:cNvPr id="27" name="Text 20"/>
          <p:cNvSpPr/>
          <p:nvPr/>
        </p:nvSpPr>
        <p:spPr>
          <a:xfrm>
            <a:off x="804672" y="4178808"/>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TagExpression + AndExpression vérifient les balises requises</a:t>
            </a:r>
            <a:endParaRPr lang="en-US" sz="900" dirty="0"/>
          </a:p>
        </p:txBody>
      </p:sp>
      <p:sp>
        <p:nvSpPr>
          <p:cNvPr id="28" name="Shape 21"/>
          <p:cNvSpPr/>
          <p:nvPr/>
        </p:nvSpPr>
        <p:spPr>
          <a:xfrm>
            <a:off x="4187952" y="3227832"/>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29" name="Shape 22"/>
          <p:cNvSpPr/>
          <p:nvPr/>
        </p:nvSpPr>
        <p:spPr>
          <a:xfrm>
            <a:off x="4187952" y="3337560"/>
            <a:ext cx="64008" cy="1152144"/>
          </a:xfrm>
          <a:prstGeom prst="rect">
            <a:avLst/>
          </a:prstGeom>
          <a:solidFill>
            <a:srgbClr val="A6E3A1"/>
          </a:solidFill>
          <a:ln/>
        </p:spPr>
      </p:sp>
      <p:pic>
        <p:nvPicPr>
          <p:cNvPr id="30" name="Image 5" descr="assets/ic_clock.png"/>
          <p:cNvPicPr>
            <a:picLocks noChangeAspect="1"/>
          </p:cNvPicPr>
          <p:nvPr/>
        </p:nvPicPr>
        <p:blipFill>
          <a:blip r:embed="rId6"/>
          <a:stretch>
            <a:fillRect/>
          </a:stretch>
        </p:blipFill>
        <p:spPr>
          <a:xfrm>
            <a:off x="4425696" y="3465576"/>
            <a:ext cx="384048" cy="384048"/>
          </a:xfrm>
          <a:prstGeom prst="rect">
            <a:avLst/>
          </a:prstGeom>
        </p:spPr>
      </p:pic>
      <p:sp>
        <p:nvSpPr>
          <p:cNvPr id="31" name="Text 23"/>
          <p:cNvSpPr/>
          <p:nvPr/>
        </p:nvSpPr>
        <p:spPr>
          <a:xfrm>
            <a:off x="4425696" y="3904488"/>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Minuteur de session</a:t>
            </a:r>
            <a:endParaRPr lang="en-US" sz="1350" dirty="0"/>
          </a:p>
        </p:txBody>
      </p:sp>
      <p:sp>
        <p:nvSpPr>
          <p:cNvPr id="32" name="Text 24"/>
          <p:cNvSpPr/>
          <p:nvPr/>
        </p:nvSpPr>
        <p:spPr>
          <a:xfrm>
            <a:off x="4425696" y="4178808"/>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Décompte par étape, sauvegarde auto toutes les 5 s</a:t>
            </a:r>
            <a:endParaRPr lang="en-US" sz="900" dirty="0"/>
          </a:p>
        </p:txBody>
      </p:sp>
      <p:sp>
        <p:nvSpPr>
          <p:cNvPr id="33" name="Shape 25"/>
          <p:cNvSpPr/>
          <p:nvPr/>
        </p:nvSpPr>
        <p:spPr>
          <a:xfrm>
            <a:off x="7808976" y="3227832"/>
            <a:ext cx="3456432" cy="1371600"/>
          </a:xfrm>
          <a:prstGeom prst="roundRect">
            <a:avLst>
              <a:gd name="adj" fmla="val 6000"/>
            </a:avLst>
          </a:prstGeom>
          <a:solidFill>
            <a:srgbClr val="1E1E2E"/>
          </a:solidFill>
          <a:ln w="12700">
            <a:solidFill>
              <a:srgbClr val="45475A"/>
            </a:solidFill>
            <a:prstDash val="solid"/>
          </a:ln>
          <a:effectLst>
            <a:outerShdw blurRad="114300" dist="38100" dir="5400000" algn="bl" rotWithShape="0">
              <a:srgbClr val="000000">
                <a:alpha val="35000"/>
              </a:srgbClr>
            </a:outerShdw>
          </a:effectLst>
        </p:spPr>
      </p:sp>
      <p:sp>
        <p:nvSpPr>
          <p:cNvPr id="34" name="Shape 26"/>
          <p:cNvSpPr/>
          <p:nvPr/>
        </p:nvSpPr>
        <p:spPr>
          <a:xfrm>
            <a:off x="7808976" y="3337560"/>
            <a:ext cx="64008" cy="1152144"/>
          </a:xfrm>
          <a:prstGeom prst="rect">
            <a:avLst/>
          </a:prstGeom>
          <a:solidFill>
            <a:srgbClr val="A6E3A1"/>
          </a:solidFill>
          <a:ln/>
        </p:spPr>
      </p:sp>
      <p:pic>
        <p:nvPicPr>
          <p:cNvPr id="35" name="Image 6" descr="assets/ic_bulb.png"/>
          <p:cNvPicPr>
            <a:picLocks noChangeAspect="1"/>
          </p:cNvPicPr>
          <p:nvPr/>
        </p:nvPicPr>
        <p:blipFill>
          <a:blip r:embed="rId7"/>
          <a:stretch>
            <a:fillRect/>
          </a:stretch>
        </p:blipFill>
        <p:spPr>
          <a:xfrm>
            <a:off x="8046720" y="3465576"/>
            <a:ext cx="384048" cy="384048"/>
          </a:xfrm>
          <a:prstGeom prst="rect">
            <a:avLst/>
          </a:prstGeom>
        </p:spPr>
      </p:pic>
      <p:sp>
        <p:nvSpPr>
          <p:cNvPr id="36" name="Text 27"/>
          <p:cNvSpPr/>
          <p:nvPr/>
        </p:nvSpPr>
        <p:spPr>
          <a:xfrm>
            <a:off x="8046720" y="3904488"/>
            <a:ext cx="2999232" cy="292608"/>
          </a:xfrm>
          <a:prstGeom prst="rect">
            <a:avLst/>
          </a:prstGeom>
          <a:noFill/>
          <a:ln/>
        </p:spPr>
        <p:txBody>
          <a:bodyPr wrap="square" lIns="0" tIns="0" rIns="0" bIns="0" rtlCol="0" anchor="ctr"/>
          <a:lstStyle/>
          <a:p>
            <a:pPr marL="0" indent="0">
              <a:buNone/>
            </a:pPr>
            <a:r>
              <a:rPr lang="en-US" sz="1350" b="1" dirty="0">
                <a:solidFill>
                  <a:srgbClr val="CDD6F4"/>
                </a:solidFill>
                <a:latin typeface="Georgia" pitchFamily="34" charset="0"/>
                <a:ea typeface="Georgia" pitchFamily="34" charset="-122"/>
                <a:cs typeface="Georgia" pitchFamily="34" charset="-120"/>
              </a:rPr>
              <a:t>Suivi des indices</a:t>
            </a:r>
            <a:endParaRPr lang="en-US" sz="1350" dirty="0"/>
          </a:p>
        </p:txBody>
      </p:sp>
      <p:sp>
        <p:nvSpPr>
          <p:cNvPr id="37" name="Text 28"/>
          <p:cNvSpPr/>
          <p:nvPr/>
        </p:nvSpPr>
        <p:spPr>
          <a:xfrm>
            <a:off x="8046720" y="4178808"/>
            <a:ext cx="2999232" cy="365760"/>
          </a:xfrm>
          <a:prstGeom prst="rect">
            <a:avLst/>
          </a:prstGeom>
          <a:noFill/>
          <a:ln/>
        </p:spPr>
        <p:txBody>
          <a:bodyPr wrap="square" lIns="0" tIns="0" rIns="0" bIns="0" rtlCol="0" anchor="ctr"/>
          <a:lstStyle/>
          <a:p>
            <a:pPr marL="0" indent="0">
              <a:lnSpc>
                <a:spcPct val="100000"/>
              </a:lnSpc>
              <a:buNone/>
            </a:pPr>
            <a:r>
              <a:rPr lang="en-US" sz="900" dirty="0">
                <a:solidFill>
                  <a:srgbClr val="A6ADC8"/>
                </a:solidFill>
                <a:latin typeface="Consolas" pitchFamily="34" charset="0"/>
                <a:ea typeface="Consolas" pitchFamily="34" charset="-122"/>
                <a:cs typeface="Consolas" pitchFamily="34" charset="-120"/>
              </a:rPr>
              <a:t>Nombre d'indices persisté dans l'enregistrement de progression</a:t>
            </a:r>
            <a:endParaRPr lang="en-US" sz="900" dirty="0"/>
          </a:p>
        </p:txBody>
      </p:sp>
      <p:sp>
        <p:nvSpPr>
          <p:cNvPr id="38" name="Shape 29"/>
          <p:cNvSpPr/>
          <p:nvPr/>
        </p:nvSpPr>
        <p:spPr>
          <a:xfrm>
            <a:off x="566928" y="4800600"/>
            <a:ext cx="11055096" cy="1417320"/>
          </a:xfrm>
          <a:prstGeom prst="roundRect">
            <a:avLst>
              <a:gd name="adj" fmla="val 5806"/>
            </a:avLst>
          </a:prstGeom>
          <a:solidFill>
            <a:srgbClr val="232338"/>
          </a:solidFill>
          <a:ln w="12700">
            <a:solidFill>
              <a:srgbClr val="313244"/>
            </a:solidFill>
            <a:prstDash val="solid"/>
          </a:ln>
          <a:effectLst>
            <a:outerShdw blurRad="114300" dist="38100" dir="5400000" algn="bl" rotWithShape="0">
              <a:srgbClr val="000000">
                <a:alpha val="35000"/>
              </a:srgbClr>
            </a:outerShdw>
          </a:effectLst>
        </p:spPr>
      </p:sp>
      <p:pic>
        <p:nvPicPr>
          <p:cNvPr id="40" name="Image 7" descr="assets/student_ide.png"/>
          <p:cNvPicPr>
            <a:picLocks noChangeAspect="1"/>
          </p:cNvPicPr>
          <p:nvPr/>
        </p:nvPicPr>
        <p:blipFill>
          <a:blip r:embed="rId8"/>
          <a:srcRect t="58333" r="69785" b="19618"/>
          <a:stretch>
            <a:fillRect/>
          </a:stretch>
        </p:blipFill>
        <p:spPr>
          <a:xfrm>
            <a:off x="1133856" y="4855464"/>
            <a:ext cx="3255264" cy="1207008"/>
          </a:xfrm>
          <a:prstGeom prst="rect">
            <a:avLst/>
          </a:prstGeom>
        </p:spPr>
      </p:pic>
      <p:sp>
        <p:nvSpPr>
          <p:cNvPr id="41" name="Text 31"/>
          <p:cNvSpPr/>
          <p:nvPr/>
        </p:nvSpPr>
        <p:spPr>
          <a:xfrm>
            <a:off x="5074920" y="4983480"/>
            <a:ext cx="6400800" cy="365760"/>
          </a:xfrm>
          <a:prstGeom prst="rect">
            <a:avLst/>
          </a:prstGeom>
          <a:noFill/>
          <a:ln/>
        </p:spPr>
        <p:txBody>
          <a:bodyPr wrap="square" lIns="0" tIns="0" rIns="0" bIns="0" rtlCol="0" anchor="ctr"/>
          <a:lstStyle/>
          <a:p>
            <a:pPr marL="0" indent="0">
              <a:buNone/>
            </a:pPr>
            <a:r>
              <a:rPr lang="en-US" sz="1600" b="1" dirty="0">
                <a:solidFill>
                  <a:srgbClr val="A6E3A1"/>
                </a:solidFill>
                <a:latin typeface="Georgia" pitchFamily="34" charset="0"/>
                <a:ea typeface="Georgia" pitchFamily="34" charset="-122"/>
                <a:cs typeface="Georgia" pitchFamily="34" charset="-120"/>
              </a:rPr>
              <a:t>« PASTE DISABLED — Type your code manually »</a:t>
            </a:r>
            <a:endParaRPr lang="en-US" sz="1600" dirty="0"/>
          </a:p>
        </p:txBody>
      </p:sp>
      <p:sp>
        <p:nvSpPr>
          <p:cNvPr id="42" name="Text 32"/>
          <p:cNvSpPr/>
          <p:nvPr/>
        </p:nvSpPr>
        <p:spPr>
          <a:xfrm>
            <a:off x="5074920" y="5413248"/>
            <a:ext cx="6400800" cy="777240"/>
          </a:xfrm>
          <a:prstGeom prst="rect">
            <a:avLst/>
          </a:prstGeom>
          <a:noFill/>
          <a:ln/>
        </p:spPr>
        <p:txBody>
          <a:bodyPr wrap="square" lIns="0" tIns="0" rIns="0" bIns="0" rtlCol="0" anchor="ctr"/>
          <a:lstStyle/>
          <a:p>
            <a:pPr marL="0" indent="0">
              <a:lnSpc>
                <a:spcPct val="112000"/>
              </a:lnSpc>
              <a:buNone/>
            </a:pPr>
            <a:r>
              <a:rPr lang="en-US" sz="1200" dirty="0">
                <a:solidFill>
                  <a:srgbClr val="BAC2DE"/>
                </a:solidFill>
                <a:latin typeface="Calibri" pitchFamily="34" charset="0"/>
                <a:ea typeface="Calibri" pitchFamily="34" charset="-122"/>
                <a:cs typeface="Calibri" pitchFamily="34" charset="-120"/>
              </a:rPr>
              <a:t>L'éditeur force la frappe manuelle : l'étudiant ne peut pas coller un corrigé. Combiné au minuteur et à la validation live des balises, l'environnement garantit que le code reflète une compréhension réelle.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F9E2AF"/>
            </a:solidFill>
            <a:prstDash val="solid"/>
          </a:ln>
        </p:spPr>
      </p:sp>
      <p:pic>
        <p:nvPicPr>
          <p:cNvPr id="3" name="Image 0" descr="assets/ic_folder.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F9E2AF"/>
                </a:solidFill>
                <a:latin typeface="Calibri" pitchFamily="34" charset="0"/>
                <a:ea typeface="Calibri" pitchFamily="34" charset="-122"/>
                <a:cs typeface="Calibri" pitchFamily="34" charset="-120"/>
              </a:rPr>
              <a:t>CONCEPTION TECHNIQUE</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Structure du dépôt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16</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7040880" cy="4526280"/>
          </a:xfrm>
          <a:prstGeom prst="roundRect">
            <a:avLst>
              <a:gd name="adj" fmla="val 1616"/>
            </a:avLst>
          </a:prstGeom>
          <a:solidFill>
            <a:srgbClr val="11111B"/>
          </a:solidFill>
          <a:ln w="12700">
            <a:solidFill>
              <a:srgbClr val="45475A"/>
            </a:solidFill>
            <a:prstDash val="solid"/>
          </a:ln>
          <a:effectLst>
            <a:outerShdw blurRad="114300" dist="38100" dir="5400000" algn="bl" rotWithShape="0">
              <a:srgbClr val="000000">
                <a:alpha val="35000"/>
              </a:srgbClr>
            </a:outerShdw>
          </a:effectLst>
        </p:spPr>
      </p:sp>
      <p:sp>
        <p:nvSpPr>
          <p:cNvPr id="9" name="Shape 6"/>
          <p:cNvSpPr/>
          <p:nvPr/>
        </p:nvSpPr>
        <p:spPr>
          <a:xfrm>
            <a:off x="566928" y="1691640"/>
            <a:ext cx="7040880" cy="384048"/>
          </a:xfrm>
          <a:prstGeom prst="rect">
            <a:avLst/>
          </a:prstGeom>
          <a:solidFill>
            <a:srgbClr val="181825"/>
          </a:solidFill>
          <a:ln w="12700">
            <a:solidFill>
              <a:srgbClr val="45475A"/>
            </a:solidFill>
            <a:prstDash val="solid"/>
          </a:ln>
        </p:spPr>
      </p:sp>
      <p:sp>
        <p:nvSpPr>
          <p:cNvPr id="10" name="Shape 7"/>
          <p:cNvSpPr/>
          <p:nvPr/>
        </p:nvSpPr>
        <p:spPr>
          <a:xfrm>
            <a:off x="859536" y="1828800"/>
            <a:ext cx="109728" cy="109728"/>
          </a:xfrm>
          <a:prstGeom prst="ellipse">
            <a:avLst/>
          </a:prstGeom>
          <a:solidFill>
            <a:srgbClr val="F38BA8"/>
          </a:solidFill>
          <a:ln/>
        </p:spPr>
      </p:sp>
      <p:sp>
        <p:nvSpPr>
          <p:cNvPr id="11" name="Shape 8"/>
          <p:cNvSpPr/>
          <p:nvPr/>
        </p:nvSpPr>
        <p:spPr>
          <a:xfrm>
            <a:off x="1042416" y="1828800"/>
            <a:ext cx="109728" cy="109728"/>
          </a:xfrm>
          <a:prstGeom prst="ellipse">
            <a:avLst/>
          </a:prstGeom>
          <a:solidFill>
            <a:srgbClr val="F9E2AF"/>
          </a:solidFill>
          <a:ln/>
        </p:spPr>
      </p:sp>
      <p:sp>
        <p:nvSpPr>
          <p:cNvPr id="12" name="Shape 9"/>
          <p:cNvSpPr/>
          <p:nvPr/>
        </p:nvSpPr>
        <p:spPr>
          <a:xfrm>
            <a:off x="1225296" y="1828800"/>
            <a:ext cx="109728" cy="109728"/>
          </a:xfrm>
          <a:prstGeom prst="ellipse">
            <a:avLst/>
          </a:prstGeom>
          <a:solidFill>
            <a:srgbClr val="A6E3A1"/>
          </a:solidFill>
          <a:ln/>
        </p:spPr>
      </p:sp>
      <p:sp>
        <p:nvSpPr>
          <p:cNvPr id="13" name="Text 10"/>
          <p:cNvSpPr/>
          <p:nvPr/>
        </p:nvSpPr>
        <p:spPr>
          <a:xfrm>
            <a:off x="1481328" y="1691640"/>
            <a:ext cx="5943600" cy="384048"/>
          </a:xfrm>
          <a:prstGeom prst="rect">
            <a:avLst/>
          </a:prstGeom>
          <a:noFill/>
          <a:ln/>
        </p:spPr>
        <p:txBody>
          <a:bodyPr wrap="square" lIns="0" tIns="0" rIns="0" bIns="0" rtlCol="0" anchor="ctr"/>
          <a:lstStyle/>
          <a:p>
            <a:pPr marL="0" indent="0">
              <a:buNone/>
            </a:pPr>
            <a:r>
              <a:rPr lang="en-US" sz="950" dirty="0">
                <a:solidFill>
                  <a:srgbClr val="A6ADC8"/>
                </a:solidFill>
                <a:latin typeface="Consolas" pitchFamily="34" charset="0"/>
                <a:ea typeface="Consolas" pitchFamily="34" charset="-122"/>
                <a:cs typeface="Consolas" pitchFamily="34" charset="-120"/>
              </a:rPr>
              <a:t>enset-challenge-submission-embedding3x</a:t>
            </a:r>
            <a:endParaRPr lang="en-US" sz="950" dirty="0"/>
          </a:p>
        </p:txBody>
      </p:sp>
      <p:sp>
        <p:nvSpPr>
          <p:cNvPr id="14" name="Text 11"/>
          <p:cNvSpPr/>
          <p:nvPr/>
        </p:nvSpPr>
        <p:spPr>
          <a:xfrm>
            <a:off x="822960" y="2194560"/>
            <a:ext cx="6675120" cy="182880"/>
          </a:xfrm>
          <a:prstGeom prst="rect">
            <a:avLst/>
          </a:prstGeom>
          <a:noFill/>
          <a:ln/>
        </p:spPr>
        <p:txBody>
          <a:bodyPr wrap="square" lIns="0" tIns="0" rIns="0" bIns="0" rtlCol="0" anchor="ctr"/>
          <a:lstStyle/>
          <a:p>
            <a:pPr marL="0" indent="0">
              <a:buNone/>
            </a:pPr>
            <a:r>
              <a:rPr lang="en-US" sz="920" dirty="0">
                <a:solidFill>
                  <a:srgbClr val="A6ADC8"/>
                </a:solidFill>
                <a:latin typeface="Consolas" pitchFamily="34" charset="0"/>
                <a:ea typeface="Consolas" pitchFamily="34" charset="-122"/>
                <a:cs typeface="Consolas" pitchFamily="34" charset="-120"/>
              </a:rPr>
              <a:t>.env  start.sh  test.sh</a:t>
            </a:r>
            <a:endParaRPr lang="en-US" sz="920" dirty="0"/>
          </a:p>
        </p:txBody>
      </p:sp>
      <p:sp>
        <p:nvSpPr>
          <p:cNvPr id="15" name="Text 12"/>
          <p:cNvSpPr/>
          <p:nvPr/>
        </p:nvSpPr>
        <p:spPr>
          <a:xfrm>
            <a:off x="822960" y="2382012"/>
            <a:ext cx="6675120" cy="182880"/>
          </a:xfrm>
          <a:prstGeom prst="rect">
            <a:avLst/>
          </a:prstGeom>
          <a:noFill/>
          <a:ln/>
        </p:spPr>
        <p:txBody>
          <a:bodyPr wrap="square" lIns="0" tIns="0" rIns="0" bIns="0" rtlCol="0" anchor="ctr"/>
          <a:lstStyle/>
          <a:p>
            <a:pPr marL="0" indent="0">
              <a:buNone/>
            </a:pPr>
            <a:r>
              <a:rPr lang="en-US" sz="920" b="1" dirty="0">
                <a:solidFill>
                  <a:srgbClr val="CBA6F7"/>
                </a:solidFill>
                <a:latin typeface="Consolas" pitchFamily="34" charset="0"/>
                <a:ea typeface="Consolas" pitchFamily="34" charset="-122"/>
                <a:cs typeface="Consolas" pitchFamily="34" charset="-120"/>
              </a:rPr>
              <a:t>agents/</a:t>
            </a:r>
            <a:endParaRPr lang="en-US" sz="920" dirty="0"/>
          </a:p>
        </p:txBody>
      </p:sp>
      <p:sp>
        <p:nvSpPr>
          <p:cNvPr id="16" name="Text 13"/>
          <p:cNvSpPr/>
          <p:nvPr/>
        </p:nvSpPr>
        <p:spPr>
          <a:xfrm>
            <a:off x="822960" y="2569464"/>
            <a:ext cx="6675120" cy="182880"/>
          </a:xfrm>
          <a:prstGeom prst="rect">
            <a:avLst/>
          </a:prstGeom>
          <a:noFill/>
          <a:ln/>
        </p:spPr>
        <p:txBody>
          <a:bodyPr wrap="square" lIns="0" tIns="0" rIns="0" bIns="0" rtlCol="0" anchor="ctr"/>
          <a:lstStyle/>
          <a:p>
            <a:pPr marL="0" indent="0">
              <a:buNone/>
            </a:pPr>
            <a:r>
              <a:rPr lang="en-US" sz="920" dirty="0">
                <a:solidFill>
                  <a:srgbClr val="89B4FA"/>
                </a:solidFill>
                <a:latin typeface="Consolas" pitchFamily="34" charset="0"/>
                <a:ea typeface="Consolas" pitchFamily="34" charset="-122"/>
                <a:cs typeface="Consolas" pitchFamily="34" charset="-120"/>
              </a:rPr>
              <a:t>  explanation-agent/   FastAPI + Mistral (LangGraph)</a:t>
            </a:r>
            <a:endParaRPr lang="en-US" sz="920" dirty="0"/>
          </a:p>
        </p:txBody>
      </p:sp>
      <p:sp>
        <p:nvSpPr>
          <p:cNvPr id="17" name="Text 14"/>
          <p:cNvSpPr/>
          <p:nvPr/>
        </p:nvSpPr>
        <p:spPr>
          <a:xfrm>
            <a:off x="822960" y="2756916"/>
            <a:ext cx="6675120" cy="182880"/>
          </a:xfrm>
          <a:prstGeom prst="rect">
            <a:avLst/>
          </a:prstGeom>
          <a:noFill/>
          <a:ln/>
        </p:spPr>
        <p:txBody>
          <a:bodyPr wrap="square" lIns="0" tIns="0" rIns="0" bIns="0" rtlCol="0" anchor="ctr"/>
          <a:lstStyle/>
          <a:p>
            <a:pPr marL="0" indent="0">
              <a:buNone/>
            </a:pPr>
            <a:r>
              <a:rPr lang="en-US" sz="920" dirty="0">
                <a:solidFill>
                  <a:srgbClr val="89B4FA"/>
                </a:solidFill>
                <a:latin typeface="Consolas" pitchFamily="34" charset="0"/>
                <a:ea typeface="Consolas" pitchFamily="34" charset="-122"/>
                <a:cs typeface="Consolas" pitchFamily="34" charset="-120"/>
              </a:rPr>
              <a:t>  hint-agent/          FastAPI + deepseek-coder</a:t>
            </a:r>
            <a:endParaRPr lang="en-US" sz="920" dirty="0"/>
          </a:p>
        </p:txBody>
      </p:sp>
      <p:sp>
        <p:nvSpPr>
          <p:cNvPr id="18" name="Text 15"/>
          <p:cNvSpPr/>
          <p:nvPr/>
        </p:nvSpPr>
        <p:spPr>
          <a:xfrm>
            <a:off x="822960" y="2944368"/>
            <a:ext cx="6675120" cy="182880"/>
          </a:xfrm>
          <a:prstGeom prst="rect">
            <a:avLst/>
          </a:prstGeom>
          <a:noFill/>
          <a:ln/>
        </p:spPr>
        <p:txBody>
          <a:bodyPr wrap="square" lIns="0" tIns="0" rIns="0" bIns="0" rtlCol="0" anchor="ctr"/>
          <a:lstStyle/>
          <a:p>
            <a:pPr marL="0" indent="0">
              <a:buNone/>
            </a:pPr>
            <a:r>
              <a:rPr lang="en-US" sz="920" dirty="0">
                <a:solidFill>
                  <a:srgbClr val="89B4FA"/>
                </a:solidFill>
                <a:latin typeface="Consolas" pitchFamily="34" charset="0"/>
                <a:ea typeface="Consolas" pitchFamily="34" charset="-122"/>
                <a:cs typeface="Consolas" pitchFamily="34" charset="-120"/>
              </a:rPr>
              <a:t>  evaluation-agent/    FastAPI + gemma4:31b</a:t>
            </a:r>
            <a:endParaRPr lang="en-US" sz="920" dirty="0"/>
          </a:p>
        </p:txBody>
      </p:sp>
      <p:sp>
        <p:nvSpPr>
          <p:cNvPr id="19" name="Text 16"/>
          <p:cNvSpPr/>
          <p:nvPr/>
        </p:nvSpPr>
        <p:spPr>
          <a:xfrm>
            <a:off x="822960" y="3131820"/>
            <a:ext cx="6675120" cy="182880"/>
          </a:xfrm>
          <a:prstGeom prst="rect">
            <a:avLst/>
          </a:prstGeom>
          <a:noFill/>
          <a:ln/>
        </p:spPr>
        <p:txBody>
          <a:bodyPr wrap="square" lIns="0" tIns="0" rIns="0" bIns="0" rtlCol="0" anchor="ctr"/>
          <a:lstStyle/>
          <a:p>
            <a:pPr marL="0" indent="0">
              <a:buNone/>
            </a:pPr>
            <a:r>
              <a:rPr lang="en-US" sz="920" dirty="0">
                <a:solidFill>
                  <a:srgbClr val="CBA6F7"/>
                </a:solidFill>
                <a:latin typeface="Consolas" pitchFamily="34" charset="0"/>
                <a:ea typeface="Consolas" pitchFamily="34" charset="-122"/>
                <a:cs typeface="Consolas" pitchFamily="34" charset="-120"/>
              </a:rPr>
              <a:t>  orchestrator/        FastAPI + deepseek-v3.2</a:t>
            </a:r>
            <a:endParaRPr lang="en-US" sz="920" dirty="0"/>
          </a:p>
        </p:txBody>
      </p:sp>
      <p:sp>
        <p:nvSpPr>
          <p:cNvPr id="20" name="Text 17"/>
          <p:cNvSpPr/>
          <p:nvPr/>
        </p:nvSpPr>
        <p:spPr>
          <a:xfrm>
            <a:off x="822960" y="3319272"/>
            <a:ext cx="6675120" cy="182880"/>
          </a:xfrm>
          <a:prstGeom prst="rect">
            <a:avLst/>
          </a:prstGeom>
          <a:noFill/>
          <a:ln/>
        </p:spPr>
        <p:txBody>
          <a:bodyPr wrap="square" lIns="0" tIns="0" rIns="0" bIns="0" rtlCol="0" anchor="ctr"/>
          <a:lstStyle/>
          <a:p>
            <a:pPr marL="0" indent="0">
              <a:buNone/>
            </a:pPr>
            <a:r>
              <a:rPr lang="en-US" sz="920" b="1" dirty="0">
                <a:solidFill>
                  <a:srgbClr val="A6E3A1"/>
                </a:solidFill>
                <a:latin typeface="Consolas" pitchFamily="34" charset="0"/>
                <a:ea typeface="Consolas" pitchFamily="34" charset="-122"/>
                <a:cs typeface="Consolas" pitchFamily="34" charset="-120"/>
              </a:rPr>
              <a:t>backend/</a:t>
            </a:r>
            <a:endParaRPr lang="en-US" sz="920" dirty="0"/>
          </a:p>
        </p:txBody>
      </p:sp>
      <p:sp>
        <p:nvSpPr>
          <p:cNvPr id="21" name="Text 18"/>
          <p:cNvSpPr/>
          <p:nvPr/>
        </p:nvSpPr>
        <p:spPr>
          <a:xfrm>
            <a:off x="822960" y="3506724"/>
            <a:ext cx="6675120" cy="182880"/>
          </a:xfrm>
          <a:prstGeom prst="rect">
            <a:avLst/>
          </a:prstGeom>
          <a:noFill/>
          <a:ln/>
        </p:spPr>
        <p:txBody>
          <a:bodyPr wrap="square" lIns="0" tIns="0" rIns="0" bIns="0" rtlCol="0" anchor="ctr"/>
          <a:lstStyle/>
          <a:p>
            <a:pPr marL="0" indent="0">
              <a:buNone/>
            </a:pPr>
            <a:r>
              <a:rPr lang="en-US" sz="920" dirty="0">
                <a:solidFill>
                  <a:srgbClr val="89B4FA"/>
                </a:solidFill>
                <a:latin typeface="Consolas" pitchFamily="34" charset="0"/>
                <a:ea typeface="Consolas" pitchFamily="34" charset="-122"/>
                <a:cs typeface="Consolas" pitchFamily="34" charset="-120"/>
              </a:rPr>
              <a:t>  agent-gateway/       FastAPI router — endpoint IA</a:t>
            </a:r>
            <a:endParaRPr lang="en-US" sz="920" dirty="0"/>
          </a:p>
        </p:txBody>
      </p:sp>
      <p:sp>
        <p:nvSpPr>
          <p:cNvPr id="22" name="Text 19"/>
          <p:cNvSpPr/>
          <p:nvPr/>
        </p:nvSpPr>
        <p:spPr>
          <a:xfrm>
            <a:off x="822960" y="3694176"/>
            <a:ext cx="6675120" cy="182880"/>
          </a:xfrm>
          <a:prstGeom prst="rect">
            <a:avLst/>
          </a:prstGeom>
          <a:noFill/>
          <a:ln/>
        </p:spPr>
        <p:txBody>
          <a:bodyPr wrap="square" lIns="0" tIns="0" rIns="0" bIns="0" rtlCol="0" anchor="ctr"/>
          <a:lstStyle/>
          <a:p>
            <a:pPr marL="0" indent="0">
              <a:buNone/>
            </a:pPr>
            <a:r>
              <a:rPr lang="en-US" sz="920" dirty="0">
                <a:solidFill>
                  <a:srgbClr val="A6E3A1"/>
                </a:solidFill>
                <a:latin typeface="Consolas" pitchFamily="34" charset="0"/>
                <a:ea typeface="Consolas" pitchFamily="34" charset="-122"/>
                <a:cs typeface="Consolas" pitchFamily="34" charset="-120"/>
              </a:rPr>
              <a:t>  auth-service/        Spring Boot 3 — JWT, users</a:t>
            </a:r>
            <a:endParaRPr lang="en-US" sz="920" dirty="0"/>
          </a:p>
        </p:txBody>
      </p:sp>
      <p:sp>
        <p:nvSpPr>
          <p:cNvPr id="23" name="Text 20"/>
          <p:cNvSpPr/>
          <p:nvPr/>
        </p:nvSpPr>
        <p:spPr>
          <a:xfrm>
            <a:off x="822960" y="3881628"/>
            <a:ext cx="6675120" cy="182880"/>
          </a:xfrm>
          <a:prstGeom prst="rect">
            <a:avLst/>
          </a:prstGeom>
          <a:noFill/>
          <a:ln/>
        </p:spPr>
        <p:txBody>
          <a:bodyPr wrap="square" lIns="0" tIns="0" rIns="0" bIns="0" rtlCol="0" anchor="ctr"/>
          <a:lstStyle/>
          <a:p>
            <a:pPr marL="0" indent="0">
              <a:buNone/>
            </a:pPr>
            <a:r>
              <a:rPr lang="en-US" sz="920" dirty="0">
                <a:solidFill>
                  <a:srgbClr val="A6E3A1"/>
                </a:solidFill>
                <a:latin typeface="Consolas" pitchFamily="34" charset="0"/>
                <a:ea typeface="Consolas" pitchFamily="34" charset="-122"/>
                <a:cs typeface="Consolas" pitchFamily="34" charset="-120"/>
              </a:rPr>
              <a:t>  tp-service/          Spring Boot 3 — TP/Progress</a:t>
            </a:r>
            <a:endParaRPr lang="en-US" sz="920" dirty="0"/>
          </a:p>
        </p:txBody>
      </p:sp>
      <p:sp>
        <p:nvSpPr>
          <p:cNvPr id="24" name="Text 21"/>
          <p:cNvSpPr/>
          <p:nvPr/>
        </p:nvSpPr>
        <p:spPr>
          <a:xfrm>
            <a:off x="822960" y="4069080"/>
            <a:ext cx="6675120" cy="182880"/>
          </a:xfrm>
          <a:prstGeom prst="rect">
            <a:avLst/>
          </a:prstGeom>
          <a:noFill/>
          <a:ln/>
        </p:spPr>
        <p:txBody>
          <a:bodyPr wrap="square" lIns="0" tIns="0" rIns="0" bIns="0" rtlCol="0" anchor="ctr"/>
          <a:lstStyle/>
          <a:p>
            <a:pPr marL="0" indent="0">
              <a:buNone/>
            </a:pPr>
            <a:r>
              <a:rPr lang="en-US" sz="920" dirty="0">
                <a:solidFill>
                  <a:srgbClr val="A6E3A1"/>
                </a:solidFill>
                <a:latin typeface="Consolas" pitchFamily="34" charset="0"/>
                <a:ea typeface="Consolas" pitchFamily="34" charset="-122"/>
                <a:cs typeface="Consolas" pitchFamily="34" charset="-120"/>
              </a:rPr>
              <a:t>  api-gateway/         Spring Cloud Gateway</a:t>
            </a:r>
            <a:endParaRPr lang="en-US" sz="920" dirty="0"/>
          </a:p>
        </p:txBody>
      </p:sp>
      <p:sp>
        <p:nvSpPr>
          <p:cNvPr id="25" name="Text 22"/>
          <p:cNvSpPr/>
          <p:nvPr/>
        </p:nvSpPr>
        <p:spPr>
          <a:xfrm>
            <a:off x="822960" y="4256532"/>
            <a:ext cx="6675120" cy="182880"/>
          </a:xfrm>
          <a:prstGeom prst="rect">
            <a:avLst/>
          </a:prstGeom>
          <a:noFill/>
          <a:ln/>
        </p:spPr>
        <p:txBody>
          <a:bodyPr wrap="square" lIns="0" tIns="0" rIns="0" bIns="0" rtlCol="0" anchor="ctr"/>
          <a:lstStyle/>
          <a:p>
            <a:pPr marL="0" indent="0">
              <a:buNone/>
            </a:pPr>
            <a:r>
              <a:rPr lang="en-US" sz="920" dirty="0">
                <a:solidFill>
                  <a:srgbClr val="A6E3A1"/>
                </a:solidFill>
                <a:latin typeface="Consolas" pitchFamily="34" charset="0"/>
                <a:ea typeface="Consolas" pitchFamily="34" charset="-122"/>
                <a:cs typeface="Consolas" pitchFamily="34" charset="-120"/>
              </a:rPr>
              <a:t>  discovery-server/    Eureka Server</a:t>
            </a:r>
            <a:endParaRPr lang="en-US" sz="920" dirty="0"/>
          </a:p>
        </p:txBody>
      </p:sp>
      <p:sp>
        <p:nvSpPr>
          <p:cNvPr id="26" name="Text 23"/>
          <p:cNvSpPr/>
          <p:nvPr/>
        </p:nvSpPr>
        <p:spPr>
          <a:xfrm>
            <a:off x="822960" y="4443984"/>
            <a:ext cx="6675120" cy="182880"/>
          </a:xfrm>
          <a:prstGeom prst="rect">
            <a:avLst/>
          </a:prstGeom>
          <a:noFill/>
          <a:ln/>
        </p:spPr>
        <p:txBody>
          <a:bodyPr wrap="square" lIns="0" tIns="0" rIns="0" bIns="0" rtlCol="0" anchor="ctr"/>
          <a:lstStyle/>
          <a:p>
            <a:pPr marL="0" indent="0">
              <a:buNone/>
            </a:pPr>
            <a:r>
              <a:rPr lang="en-US" sz="920" b="1" dirty="0">
                <a:solidFill>
                  <a:srgbClr val="CBA6F7"/>
                </a:solidFill>
                <a:latin typeface="Consolas" pitchFamily="34" charset="0"/>
                <a:ea typeface="Consolas" pitchFamily="34" charset="-122"/>
                <a:cs typeface="Consolas" pitchFamily="34" charset="-120"/>
              </a:rPr>
              <a:t>frontend/</a:t>
            </a:r>
            <a:endParaRPr lang="en-US" sz="920" dirty="0"/>
          </a:p>
        </p:txBody>
      </p:sp>
      <p:sp>
        <p:nvSpPr>
          <p:cNvPr id="27" name="Text 24"/>
          <p:cNvSpPr/>
          <p:nvPr/>
        </p:nvSpPr>
        <p:spPr>
          <a:xfrm>
            <a:off x="822960" y="4631436"/>
            <a:ext cx="6675120" cy="182880"/>
          </a:xfrm>
          <a:prstGeom prst="rect">
            <a:avLst/>
          </a:prstGeom>
          <a:noFill/>
          <a:ln/>
        </p:spPr>
        <p:txBody>
          <a:bodyPr wrap="square" lIns="0" tIns="0" rIns="0" bIns="0" rtlCol="0" anchor="ctr"/>
          <a:lstStyle/>
          <a:p>
            <a:pPr marL="0" indent="0">
              <a:buNone/>
            </a:pPr>
            <a:r>
              <a:rPr lang="en-US" sz="920" dirty="0">
                <a:solidFill>
                  <a:srgbClr val="BAC2DE"/>
                </a:solidFill>
                <a:latin typeface="Consolas" pitchFamily="34" charset="0"/>
                <a:ea typeface="Consolas" pitchFamily="34" charset="-122"/>
                <a:cs typeface="Consolas" pitchFamily="34" charset="-120"/>
              </a:rPr>
              <a:t>  app/                 login · student · teacher</a:t>
            </a:r>
            <a:endParaRPr lang="en-US" sz="920" dirty="0"/>
          </a:p>
        </p:txBody>
      </p:sp>
      <p:sp>
        <p:nvSpPr>
          <p:cNvPr id="28" name="Text 25"/>
          <p:cNvSpPr/>
          <p:nvPr/>
        </p:nvSpPr>
        <p:spPr>
          <a:xfrm>
            <a:off x="822960" y="4818888"/>
            <a:ext cx="6675120" cy="182880"/>
          </a:xfrm>
          <a:prstGeom prst="rect">
            <a:avLst/>
          </a:prstGeom>
          <a:noFill/>
          <a:ln/>
        </p:spPr>
        <p:txBody>
          <a:bodyPr wrap="square" lIns="0" tIns="0" rIns="0" bIns="0" rtlCol="0" anchor="ctr"/>
          <a:lstStyle/>
          <a:p>
            <a:pPr marL="0" indent="0">
              <a:buNone/>
            </a:pPr>
            <a:r>
              <a:rPr lang="en-US" sz="920" dirty="0">
                <a:solidFill>
                  <a:srgbClr val="BAC2DE"/>
                </a:solidFill>
                <a:latin typeface="Consolas" pitchFamily="34" charset="0"/>
                <a:ea typeface="Consolas" pitchFamily="34" charset="-122"/>
                <a:cs typeface="Consolas" pitchFamily="34" charset="-120"/>
              </a:rPr>
              <a:t>  components/agents/   ExplanationChat · HintBox</a:t>
            </a:r>
            <a:endParaRPr lang="en-US" sz="920" dirty="0"/>
          </a:p>
        </p:txBody>
      </p:sp>
      <p:sp>
        <p:nvSpPr>
          <p:cNvPr id="29" name="Text 26"/>
          <p:cNvSpPr/>
          <p:nvPr/>
        </p:nvSpPr>
        <p:spPr>
          <a:xfrm>
            <a:off x="822960" y="5006340"/>
            <a:ext cx="6675120" cy="182880"/>
          </a:xfrm>
          <a:prstGeom prst="rect">
            <a:avLst/>
          </a:prstGeom>
          <a:noFill/>
          <a:ln/>
        </p:spPr>
        <p:txBody>
          <a:bodyPr wrap="square" lIns="0" tIns="0" rIns="0" bIns="0" rtlCol="0" anchor="ctr"/>
          <a:lstStyle/>
          <a:p>
            <a:pPr marL="0" indent="0">
              <a:buNone/>
            </a:pPr>
            <a:r>
              <a:rPr lang="en-US" sz="920" dirty="0">
                <a:solidFill>
                  <a:srgbClr val="BAC2DE"/>
                </a:solidFill>
                <a:latin typeface="Consolas" pitchFamily="34" charset="0"/>
                <a:ea typeface="Consolas" pitchFamily="34" charset="-122"/>
                <a:cs typeface="Consolas" pitchFamily="34" charset="-120"/>
              </a:rPr>
              <a:t>  components/quiz/     QuizComponent</a:t>
            </a:r>
            <a:endParaRPr lang="en-US" sz="920" dirty="0"/>
          </a:p>
        </p:txBody>
      </p:sp>
      <p:sp>
        <p:nvSpPr>
          <p:cNvPr id="30" name="Text 27"/>
          <p:cNvSpPr/>
          <p:nvPr/>
        </p:nvSpPr>
        <p:spPr>
          <a:xfrm>
            <a:off x="822960" y="5193792"/>
            <a:ext cx="6675120" cy="182880"/>
          </a:xfrm>
          <a:prstGeom prst="rect">
            <a:avLst/>
          </a:prstGeom>
          <a:noFill/>
          <a:ln/>
        </p:spPr>
        <p:txBody>
          <a:bodyPr wrap="square" lIns="0" tIns="0" rIns="0" bIns="0" rtlCol="0" anchor="ctr"/>
          <a:lstStyle/>
          <a:p>
            <a:pPr marL="0" indent="0">
              <a:buNone/>
            </a:pPr>
            <a:r>
              <a:rPr lang="en-US" sz="920" dirty="0">
                <a:solidFill>
                  <a:srgbClr val="FAB387"/>
                </a:solidFill>
                <a:latin typeface="Consolas" pitchFamily="34" charset="0"/>
                <a:ea typeface="Consolas" pitchFamily="34" charset="-122"/>
                <a:cs typeface="Consolas" pitchFamily="34" charset="-120"/>
              </a:rPr>
              <a:t>  patterns/Interpreter HTML tag-expression tree</a:t>
            </a:r>
            <a:endParaRPr lang="en-US" sz="920" dirty="0"/>
          </a:p>
        </p:txBody>
      </p:sp>
      <p:sp>
        <p:nvSpPr>
          <p:cNvPr id="31" name="Text 28"/>
          <p:cNvSpPr/>
          <p:nvPr/>
        </p:nvSpPr>
        <p:spPr>
          <a:xfrm>
            <a:off x="822960" y="5381244"/>
            <a:ext cx="6675120" cy="182880"/>
          </a:xfrm>
          <a:prstGeom prst="rect">
            <a:avLst/>
          </a:prstGeom>
          <a:noFill/>
          <a:ln/>
        </p:spPr>
        <p:txBody>
          <a:bodyPr wrap="square" lIns="0" tIns="0" rIns="0" bIns="0" rtlCol="0" anchor="ctr"/>
          <a:lstStyle/>
          <a:p>
            <a:pPr marL="0" indent="0">
              <a:buNone/>
            </a:pPr>
            <a:r>
              <a:rPr lang="en-US" sz="920" dirty="0">
                <a:solidFill>
                  <a:srgbClr val="BAC2DE"/>
                </a:solidFill>
                <a:latin typeface="Consolas" pitchFamily="34" charset="0"/>
                <a:ea typeface="Consolas" pitchFamily="34" charset="-122"/>
                <a:cs typeface="Consolas" pitchFamily="34" charset="-120"/>
              </a:rPr>
              <a:t>  services/            agentService · tpService</a:t>
            </a:r>
            <a:endParaRPr lang="en-US" sz="920" dirty="0"/>
          </a:p>
        </p:txBody>
      </p:sp>
      <p:sp>
        <p:nvSpPr>
          <p:cNvPr id="32" name="Text 29"/>
          <p:cNvSpPr/>
          <p:nvPr/>
        </p:nvSpPr>
        <p:spPr>
          <a:xfrm>
            <a:off x="822960" y="5568696"/>
            <a:ext cx="6675120" cy="182880"/>
          </a:xfrm>
          <a:prstGeom prst="rect">
            <a:avLst/>
          </a:prstGeom>
          <a:noFill/>
          <a:ln/>
        </p:spPr>
        <p:txBody>
          <a:bodyPr wrap="square" lIns="0" tIns="0" rIns="0" bIns="0" rtlCol="0" anchor="ctr"/>
          <a:lstStyle/>
          <a:p>
            <a:pPr marL="0" indent="0">
              <a:buNone/>
            </a:pPr>
            <a:r>
              <a:rPr lang="en-US" sz="920" b="1" dirty="0">
                <a:solidFill>
                  <a:srgbClr val="F9E2AF"/>
                </a:solidFill>
                <a:latin typeface="Consolas" pitchFamily="34" charset="0"/>
                <a:ea typeface="Consolas" pitchFamily="34" charset="-122"/>
                <a:cs typeface="Consolas" pitchFamily="34" charset="-120"/>
              </a:rPr>
              <a:t>infra/</a:t>
            </a:r>
            <a:endParaRPr lang="en-US" sz="920" dirty="0"/>
          </a:p>
        </p:txBody>
      </p:sp>
      <p:sp>
        <p:nvSpPr>
          <p:cNvPr id="33" name="Text 30"/>
          <p:cNvSpPr/>
          <p:nvPr/>
        </p:nvSpPr>
        <p:spPr>
          <a:xfrm>
            <a:off x="822960" y="5756148"/>
            <a:ext cx="6675120" cy="182880"/>
          </a:xfrm>
          <a:prstGeom prst="rect">
            <a:avLst/>
          </a:prstGeom>
          <a:noFill/>
          <a:ln/>
        </p:spPr>
        <p:txBody>
          <a:bodyPr wrap="square" lIns="0" tIns="0" rIns="0" bIns="0" rtlCol="0" anchor="ctr"/>
          <a:lstStyle/>
          <a:p>
            <a:pPr marL="0" indent="0">
              <a:buNone/>
            </a:pPr>
            <a:r>
              <a:rPr lang="en-US" sz="920" dirty="0">
                <a:solidFill>
                  <a:srgbClr val="F9E2AF"/>
                </a:solidFill>
                <a:latin typeface="Consolas" pitchFamily="34" charset="0"/>
                <a:ea typeface="Consolas" pitchFamily="34" charset="-122"/>
                <a:cs typeface="Consolas" pitchFamily="34" charset="-120"/>
              </a:rPr>
              <a:t>  docker/              docker-compose · 12 services</a:t>
            </a:r>
            <a:endParaRPr lang="en-US" sz="920" dirty="0"/>
          </a:p>
        </p:txBody>
      </p:sp>
      <p:sp>
        <p:nvSpPr>
          <p:cNvPr id="34" name="Text 31"/>
          <p:cNvSpPr/>
          <p:nvPr/>
        </p:nvSpPr>
        <p:spPr>
          <a:xfrm>
            <a:off x="822960" y="5943600"/>
            <a:ext cx="6675120" cy="182880"/>
          </a:xfrm>
          <a:prstGeom prst="rect">
            <a:avLst/>
          </a:prstGeom>
          <a:noFill/>
          <a:ln/>
        </p:spPr>
        <p:txBody>
          <a:bodyPr wrap="square" lIns="0" tIns="0" rIns="0" bIns="0" rtlCol="0" anchor="ctr"/>
          <a:lstStyle/>
          <a:p>
            <a:pPr marL="0" indent="0">
              <a:buNone/>
            </a:pPr>
            <a:r>
              <a:rPr lang="en-US" sz="920" dirty="0">
                <a:solidFill>
                  <a:srgbClr val="F9E2AF"/>
                </a:solidFill>
                <a:latin typeface="Consolas" pitchFamily="34" charset="0"/>
                <a:ea typeface="Consolas" pitchFamily="34" charset="-122"/>
                <a:cs typeface="Consolas" pitchFamily="34" charset="-120"/>
              </a:rPr>
              <a:t>  kafka/               kafka-config (6 topics)</a:t>
            </a:r>
            <a:endParaRPr lang="en-US" sz="920" dirty="0"/>
          </a:p>
        </p:txBody>
      </p:sp>
      <p:sp>
        <p:nvSpPr>
          <p:cNvPr id="35" name="Shape 32"/>
          <p:cNvSpPr/>
          <p:nvPr/>
        </p:nvSpPr>
        <p:spPr>
          <a:xfrm>
            <a:off x="7818120" y="1691640"/>
            <a:ext cx="3803904" cy="1033272"/>
          </a:xfrm>
          <a:prstGeom prst="roundRect">
            <a:avLst>
              <a:gd name="adj" fmla="val 7965"/>
            </a:avLst>
          </a:prstGeom>
          <a:solidFill>
            <a:srgbClr val="232338"/>
          </a:solidFill>
          <a:ln w="12700">
            <a:solidFill>
              <a:srgbClr val="CBA6F7"/>
            </a:solidFill>
            <a:prstDash val="solid"/>
          </a:ln>
          <a:effectLst>
            <a:outerShdw blurRad="114300" dist="38100" dir="5400000" algn="bl" rotWithShape="0">
              <a:srgbClr val="000000">
                <a:alpha val="35000"/>
              </a:srgbClr>
            </a:outerShdw>
          </a:effectLst>
        </p:spPr>
      </p:sp>
      <p:pic>
        <p:nvPicPr>
          <p:cNvPr id="36" name="Image 1" descr="assets/ic_robot.png"/>
          <p:cNvPicPr>
            <a:picLocks noChangeAspect="1"/>
          </p:cNvPicPr>
          <p:nvPr/>
        </p:nvPicPr>
        <p:blipFill>
          <a:blip r:embed="rId4"/>
          <a:stretch>
            <a:fillRect/>
          </a:stretch>
        </p:blipFill>
        <p:spPr>
          <a:xfrm>
            <a:off x="8046720" y="1892808"/>
            <a:ext cx="402336" cy="402336"/>
          </a:xfrm>
          <a:prstGeom prst="rect">
            <a:avLst/>
          </a:prstGeom>
        </p:spPr>
      </p:pic>
      <p:sp>
        <p:nvSpPr>
          <p:cNvPr id="37" name="Text 33"/>
          <p:cNvSpPr/>
          <p:nvPr/>
        </p:nvSpPr>
        <p:spPr>
          <a:xfrm>
            <a:off x="8595360" y="1837944"/>
            <a:ext cx="2834640" cy="292608"/>
          </a:xfrm>
          <a:prstGeom prst="rect">
            <a:avLst/>
          </a:prstGeom>
          <a:noFill/>
          <a:ln/>
        </p:spPr>
        <p:txBody>
          <a:bodyPr wrap="square" lIns="0" tIns="0" rIns="0" bIns="0" rtlCol="0" anchor="ctr"/>
          <a:lstStyle/>
          <a:p>
            <a:pPr marL="0" indent="0">
              <a:buNone/>
            </a:pPr>
            <a:r>
              <a:rPr lang="en-US" sz="1300" b="1" dirty="0">
                <a:solidFill>
                  <a:srgbClr val="CBA6F7"/>
                </a:solidFill>
                <a:latin typeface="Consolas" pitchFamily="34" charset="0"/>
                <a:ea typeface="Consolas" pitchFamily="34" charset="-122"/>
                <a:cs typeface="Consolas" pitchFamily="34" charset="-120"/>
              </a:rPr>
              <a:t>agents/</a:t>
            </a:r>
            <a:endParaRPr lang="en-US" sz="1300" dirty="0"/>
          </a:p>
        </p:txBody>
      </p:sp>
      <p:sp>
        <p:nvSpPr>
          <p:cNvPr id="38" name="Text 34"/>
          <p:cNvSpPr/>
          <p:nvPr/>
        </p:nvSpPr>
        <p:spPr>
          <a:xfrm>
            <a:off x="8595360" y="2130552"/>
            <a:ext cx="2880360" cy="548640"/>
          </a:xfrm>
          <a:prstGeom prst="rect">
            <a:avLst/>
          </a:prstGeom>
          <a:noFill/>
          <a:ln/>
        </p:spPr>
        <p:txBody>
          <a:bodyPr wrap="square" lIns="0" tIns="0" rIns="0" bIns="0" rtlCol="0" anchor="ctr"/>
          <a:lstStyle/>
          <a:p>
            <a:pPr marL="0" indent="0">
              <a:lnSpc>
                <a:spcPct val="105000"/>
              </a:lnSpc>
              <a:buNone/>
            </a:pPr>
            <a:r>
              <a:rPr lang="en-US" sz="1050" dirty="0">
                <a:solidFill>
                  <a:srgbClr val="A6ADC8"/>
                </a:solidFill>
                <a:latin typeface="Calibri" pitchFamily="34" charset="0"/>
                <a:ea typeface="Calibri" pitchFamily="34" charset="-122"/>
                <a:cs typeface="Calibri" pitchFamily="34" charset="-120"/>
              </a:rPr>
              <a:t>4 micro-services Python, un par agent — venv &amp; modèle isolés</a:t>
            </a:r>
            <a:endParaRPr lang="en-US" sz="1050" dirty="0"/>
          </a:p>
        </p:txBody>
      </p:sp>
      <p:sp>
        <p:nvSpPr>
          <p:cNvPr id="39" name="Shape 35"/>
          <p:cNvSpPr/>
          <p:nvPr/>
        </p:nvSpPr>
        <p:spPr>
          <a:xfrm>
            <a:off x="7818120" y="2852928"/>
            <a:ext cx="3803904" cy="1033272"/>
          </a:xfrm>
          <a:prstGeom prst="roundRect">
            <a:avLst>
              <a:gd name="adj" fmla="val 7965"/>
            </a:avLst>
          </a:prstGeom>
          <a:solidFill>
            <a:srgbClr val="232338"/>
          </a:solidFill>
          <a:ln w="12700">
            <a:solidFill>
              <a:srgbClr val="A6E3A1"/>
            </a:solidFill>
            <a:prstDash val="solid"/>
          </a:ln>
          <a:effectLst>
            <a:outerShdw blurRad="114300" dist="38100" dir="5400000" algn="bl" rotWithShape="0">
              <a:srgbClr val="000000">
                <a:alpha val="35000"/>
              </a:srgbClr>
            </a:outerShdw>
          </a:effectLst>
        </p:spPr>
      </p:sp>
      <p:pic>
        <p:nvPicPr>
          <p:cNvPr id="40" name="Image 2" descr="assets/ic_server.png"/>
          <p:cNvPicPr>
            <a:picLocks noChangeAspect="1"/>
          </p:cNvPicPr>
          <p:nvPr/>
        </p:nvPicPr>
        <p:blipFill>
          <a:blip r:embed="rId5"/>
          <a:stretch>
            <a:fillRect/>
          </a:stretch>
        </p:blipFill>
        <p:spPr>
          <a:xfrm>
            <a:off x="8046720" y="3054096"/>
            <a:ext cx="402336" cy="402336"/>
          </a:xfrm>
          <a:prstGeom prst="rect">
            <a:avLst/>
          </a:prstGeom>
        </p:spPr>
      </p:pic>
      <p:sp>
        <p:nvSpPr>
          <p:cNvPr id="41" name="Text 36"/>
          <p:cNvSpPr/>
          <p:nvPr/>
        </p:nvSpPr>
        <p:spPr>
          <a:xfrm>
            <a:off x="8595360" y="2999232"/>
            <a:ext cx="2834640" cy="292608"/>
          </a:xfrm>
          <a:prstGeom prst="rect">
            <a:avLst/>
          </a:prstGeom>
          <a:noFill/>
          <a:ln/>
        </p:spPr>
        <p:txBody>
          <a:bodyPr wrap="square" lIns="0" tIns="0" rIns="0" bIns="0" rtlCol="0" anchor="ctr"/>
          <a:lstStyle/>
          <a:p>
            <a:pPr marL="0" indent="0">
              <a:buNone/>
            </a:pPr>
            <a:r>
              <a:rPr lang="en-US" sz="1300" b="1" dirty="0">
                <a:solidFill>
                  <a:srgbClr val="A6E3A1"/>
                </a:solidFill>
                <a:latin typeface="Consolas" pitchFamily="34" charset="0"/>
                <a:ea typeface="Consolas" pitchFamily="34" charset="-122"/>
                <a:cs typeface="Consolas" pitchFamily="34" charset="-120"/>
              </a:rPr>
              <a:t>backend/</a:t>
            </a:r>
            <a:endParaRPr lang="en-US" sz="1300" dirty="0"/>
          </a:p>
        </p:txBody>
      </p:sp>
      <p:sp>
        <p:nvSpPr>
          <p:cNvPr id="42" name="Text 37"/>
          <p:cNvSpPr/>
          <p:nvPr/>
        </p:nvSpPr>
        <p:spPr>
          <a:xfrm>
            <a:off x="8595360" y="3291840"/>
            <a:ext cx="2880360" cy="548640"/>
          </a:xfrm>
          <a:prstGeom prst="rect">
            <a:avLst/>
          </a:prstGeom>
          <a:noFill/>
          <a:ln/>
        </p:spPr>
        <p:txBody>
          <a:bodyPr wrap="square" lIns="0" tIns="0" rIns="0" bIns="0" rtlCol="0" anchor="ctr"/>
          <a:lstStyle/>
          <a:p>
            <a:pPr marL="0" indent="0">
              <a:lnSpc>
                <a:spcPct val="105000"/>
              </a:lnSpc>
              <a:buNone/>
            </a:pPr>
            <a:r>
              <a:rPr lang="en-US" sz="1050" dirty="0">
                <a:solidFill>
                  <a:srgbClr val="A6ADC8"/>
                </a:solidFill>
                <a:latin typeface="Calibri" pitchFamily="34" charset="0"/>
                <a:ea typeface="Calibri" pitchFamily="34" charset="-122"/>
                <a:cs typeface="Calibri" pitchFamily="34" charset="-120"/>
              </a:rPr>
              <a:t>5 services Spring Cloud — gateway, auth, TP, discovery + agent-gateway</a:t>
            </a:r>
            <a:endParaRPr lang="en-US" sz="1050" dirty="0"/>
          </a:p>
        </p:txBody>
      </p:sp>
      <p:sp>
        <p:nvSpPr>
          <p:cNvPr id="43" name="Shape 38"/>
          <p:cNvSpPr/>
          <p:nvPr/>
        </p:nvSpPr>
        <p:spPr>
          <a:xfrm>
            <a:off x="7818120" y="4014216"/>
            <a:ext cx="3803904" cy="1033272"/>
          </a:xfrm>
          <a:prstGeom prst="roundRect">
            <a:avLst>
              <a:gd name="adj" fmla="val 7965"/>
            </a:avLst>
          </a:prstGeom>
          <a:solidFill>
            <a:srgbClr val="232338"/>
          </a:solidFill>
          <a:ln w="12700">
            <a:solidFill>
              <a:srgbClr val="89B4FA"/>
            </a:solidFill>
            <a:prstDash val="solid"/>
          </a:ln>
          <a:effectLst>
            <a:outerShdw blurRad="114300" dist="38100" dir="5400000" algn="bl" rotWithShape="0">
              <a:srgbClr val="000000">
                <a:alpha val="35000"/>
              </a:srgbClr>
            </a:outerShdw>
          </a:effectLst>
        </p:spPr>
      </p:sp>
      <p:pic>
        <p:nvPicPr>
          <p:cNvPr id="44" name="Image 3" descr="assets/ic_code.png"/>
          <p:cNvPicPr>
            <a:picLocks noChangeAspect="1"/>
          </p:cNvPicPr>
          <p:nvPr/>
        </p:nvPicPr>
        <p:blipFill>
          <a:blip r:embed="rId6"/>
          <a:stretch>
            <a:fillRect/>
          </a:stretch>
        </p:blipFill>
        <p:spPr>
          <a:xfrm>
            <a:off x="8046720" y="4215384"/>
            <a:ext cx="402336" cy="402336"/>
          </a:xfrm>
          <a:prstGeom prst="rect">
            <a:avLst/>
          </a:prstGeom>
        </p:spPr>
      </p:pic>
      <p:sp>
        <p:nvSpPr>
          <p:cNvPr id="45" name="Text 39"/>
          <p:cNvSpPr/>
          <p:nvPr/>
        </p:nvSpPr>
        <p:spPr>
          <a:xfrm>
            <a:off x="8595360" y="4160520"/>
            <a:ext cx="2834640" cy="292608"/>
          </a:xfrm>
          <a:prstGeom prst="rect">
            <a:avLst/>
          </a:prstGeom>
          <a:noFill/>
          <a:ln/>
        </p:spPr>
        <p:txBody>
          <a:bodyPr wrap="square" lIns="0" tIns="0" rIns="0" bIns="0" rtlCol="0" anchor="ctr"/>
          <a:lstStyle/>
          <a:p>
            <a:pPr marL="0" indent="0">
              <a:buNone/>
            </a:pPr>
            <a:r>
              <a:rPr lang="en-US" sz="1300" b="1" dirty="0">
                <a:solidFill>
                  <a:srgbClr val="89B4FA"/>
                </a:solidFill>
                <a:latin typeface="Consolas" pitchFamily="34" charset="0"/>
                <a:ea typeface="Consolas" pitchFamily="34" charset="-122"/>
                <a:cs typeface="Consolas" pitchFamily="34" charset="-120"/>
              </a:rPr>
              <a:t>frontend/</a:t>
            </a:r>
            <a:endParaRPr lang="en-US" sz="1300" dirty="0"/>
          </a:p>
        </p:txBody>
      </p:sp>
      <p:sp>
        <p:nvSpPr>
          <p:cNvPr id="46" name="Text 40"/>
          <p:cNvSpPr/>
          <p:nvPr/>
        </p:nvSpPr>
        <p:spPr>
          <a:xfrm>
            <a:off x="8595360" y="4453128"/>
            <a:ext cx="2880360" cy="548640"/>
          </a:xfrm>
          <a:prstGeom prst="rect">
            <a:avLst/>
          </a:prstGeom>
          <a:noFill/>
          <a:ln/>
        </p:spPr>
        <p:txBody>
          <a:bodyPr wrap="square" lIns="0" tIns="0" rIns="0" bIns="0" rtlCol="0" anchor="ctr"/>
          <a:lstStyle/>
          <a:p>
            <a:pPr marL="0" indent="0">
              <a:lnSpc>
                <a:spcPct val="105000"/>
              </a:lnSpc>
              <a:buNone/>
            </a:pPr>
            <a:r>
              <a:rPr lang="en-US" sz="1050" dirty="0">
                <a:solidFill>
                  <a:srgbClr val="A6ADC8"/>
                </a:solidFill>
                <a:latin typeface="Calibri" pitchFamily="34" charset="0"/>
                <a:ea typeface="Calibri" pitchFamily="34" charset="-122"/>
                <a:cs typeface="Calibri" pitchFamily="34" charset="-120"/>
              </a:rPr>
              <a:t>Next.js 14 — pages, composants agents, pattern Interpreter, services typés</a:t>
            </a:r>
            <a:endParaRPr lang="en-US" sz="1050" dirty="0"/>
          </a:p>
        </p:txBody>
      </p:sp>
      <p:sp>
        <p:nvSpPr>
          <p:cNvPr id="47" name="Shape 41"/>
          <p:cNvSpPr/>
          <p:nvPr/>
        </p:nvSpPr>
        <p:spPr>
          <a:xfrm>
            <a:off x="7818120" y="5175504"/>
            <a:ext cx="3803904" cy="1033272"/>
          </a:xfrm>
          <a:prstGeom prst="roundRect">
            <a:avLst>
              <a:gd name="adj" fmla="val 7965"/>
            </a:avLst>
          </a:prstGeom>
          <a:solidFill>
            <a:srgbClr val="232338"/>
          </a:solidFill>
          <a:ln w="12700">
            <a:solidFill>
              <a:srgbClr val="F9E2AF"/>
            </a:solidFill>
            <a:prstDash val="solid"/>
          </a:ln>
          <a:effectLst>
            <a:outerShdw blurRad="114300" dist="38100" dir="5400000" algn="bl" rotWithShape="0">
              <a:srgbClr val="000000">
                <a:alpha val="35000"/>
              </a:srgbClr>
            </a:outerShdw>
          </a:effectLst>
        </p:spPr>
      </p:sp>
      <p:pic>
        <p:nvPicPr>
          <p:cNvPr id="48" name="Image 4" descr="assets/ic_gears.png"/>
          <p:cNvPicPr>
            <a:picLocks noChangeAspect="1"/>
          </p:cNvPicPr>
          <p:nvPr/>
        </p:nvPicPr>
        <p:blipFill>
          <a:blip r:embed="rId7"/>
          <a:stretch>
            <a:fillRect/>
          </a:stretch>
        </p:blipFill>
        <p:spPr>
          <a:xfrm>
            <a:off x="8046720" y="5376672"/>
            <a:ext cx="402336" cy="402336"/>
          </a:xfrm>
          <a:prstGeom prst="rect">
            <a:avLst/>
          </a:prstGeom>
        </p:spPr>
      </p:pic>
      <p:sp>
        <p:nvSpPr>
          <p:cNvPr id="49" name="Text 42"/>
          <p:cNvSpPr/>
          <p:nvPr/>
        </p:nvSpPr>
        <p:spPr>
          <a:xfrm>
            <a:off x="8595360" y="5321808"/>
            <a:ext cx="2834640" cy="292608"/>
          </a:xfrm>
          <a:prstGeom prst="rect">
            <a:avLst/>
          </a:prstGeom>
          <a:noFill/>
          <a:ln/>
        </p:spPr>
        <p:txBody>
          <a:bodyPr wrap="square" lIns="0" tIns="0" rIns="0" bIns="0" rtlCol="0" anchor="ctr"/>
          <a:lstStyle/>
          <a:p>
            <a:pPr marL="0" indent="0">
              <a:buNone/>
            </a:pPr>
            <a:r>
              <a:rPr lang="en-US" sz="1300" b="1" dirty="0">
                <a:solidFill>
                  <a:srgbClr val="F9E2AF"/>
                </a:solidFill>
                <a:latin typeface="Consolas" pitchFamily="34" charset="0"/>
                <a:ea typeface="Consolas" pitchFamily="34" charset="-122"/>
                <a:cs typeface="Consolas" pitchFamily="34" charset="-120"/>
              </a:rPr>
              <a:t>infra/</a:t>
            </a:r>
            <a:endParaRPr lang="en-US" sz="1300" dirty="0"/>
          </a:p>
        </p:txBody>
      </p:sp>
      <p:sp>
        <p:nvSpPr>
          <p:cNvPr id="50" name="Text 43"/>
          <p:cNvSpPr/>
          <p:nvPr/>
        </p:nvSpPr>
        <p:spPr>
          <a:xfrm>
            <a:off x="8595360" y="5614416"/>
            <a:ext cx="2880360" cy="548640"/>
          </a:xfrm>
          <a:prstGeom prst="rect">
            <a:avLst/>
          </a:prstGeom>
          <a:noFill/>
          <a:ln/>
        </p:spPr>
        <p:txBody>
          <a:bodyPr wrap="square" lIns="0" tIns="0" rIns="0" bIns="0" rtlCol="0" anchor="ctr"/>
          <a:lstStyle/>
          <a:p>
            <a:pPr marL="0" indent="0">
              <a:lnSpc>
                <a:spcPct val="105000"/>
              </a:lnSpc>
              <a:buNone/>
            </a:pPr>
            <a:r>
              <a:rPr lang="en-US" sz="1050" dirty="0">
                <a:solidFill>
                  <a:srgbClr val="A6ADC8"/>
                </a:solidFill>
                <a:latin typeface="Calibri" pitchFamily="34" charset="0"/>
                <a:ea typeface="Calibri" pitchFamily="34" charset="-122"/>
                <a:cs typeface="Calibri" pitchFamily="34" charset="-120"/>
              </a:rPr>
              <a:t>Docker Compose (12 services) + topics Kafka définis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94E2D5"/>
            </a:solidFill>
            <a:prstDash val="solid"/>
          </a:ln>
        </p:spPr>
      </p:sp>
      <p:pic>
        <p:nvPicPr>
          <p:cNvPr id="3" name="Image 0" descr="assets/ic_play.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05</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94E2D5"/>
                </a:solidFill>
                <a:latin typeface="Calibri" pitchFamily="34" charset="0"/>
                <a:ea typeface="Calibri" pitchFamily="34" charset="-122"/>
                <a:cs typeface="Calibri" pitchFamily="34" charset="-120"/>
              </a:rPr>
              <a:t>PARTIE 05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Réalisation</a:t>
            </a:r>
            <a:endParaRPr lang="en-US" sz="4400" dirty="0"/>
          </a:p>
        </p:txBody>
      </p:sp>
      <p:sp>
        <p:nvSpPr>
          <p:cNvPr id="8" name="Shape 5"/>
          <p:cNvSpPr/>
          <p:nvPr/>
        </p:nvSpPr>
        <p:spPr>
          <a:xfrm>
            <a:off x="658368" y="4114800"/>
            <a:ext cx="1554480" cy="54864"/>
          </a:xfrm>
          <a:prstGeom prst="rect">
            <a:avLst/>
          </a:prstGeom>
          <a:solidFill>
            <a:srgbClr val="94E2D5"/>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Captures de l'application déployée — côté étudiant et côté enseignant — et état d'avancement du développement.</a:t>
            </a:r>
            <a:endParaRPr lang="en-US" sz="14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89B4FA"/>
            </a:solidFill>
            <a:prstDash val="solid"/>
          </a:ln>
        </p:spPr>
      </p:sp>
      <p:pic>
        <p:nvPicPr>
          <p:cNvPr id="3" name="Image 0" descr="assets/ic_studen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89B4FA"/>
                </a:solidFill>
                <a:latin typeface="Calibri" pitchFamily="34" charset="0"/>
                <a:ea typeface="Calibri" pitchFamily="34" charset="-122"/>
                <a:cs typeface="Calibri" pitchFamily="34" charset="-120"/>
              </a:rPr>
              <a:t>RÉALISATION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Espace étudiant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17</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566928" y="1371600"/>
            <a:ext cx="11064240" cy="411480"/>
          </a:xfrm>
          <a:prstGeom prst="rect">
            <a:avLst/>
          </a:prstGeom>
          <a:noFill/>
          <a:ln/>
        </p:spPr>
        <p:txBody>
          <a:bodyPr wrap="square" lIns="0" tIns="0" rIns="0" bIns="0" rtlCol="0" anchor="ctr"/>
          <a:lstStyle/>
          <a:p>
            <a:pPr marL="0" indent="0">
              <a:lnSpc>
                <a:spcPct val="105000"/>
              </a:lnSpc>
              <a:buNone/>
            </a:pPr>
            <a:r>
              <a:rPr lang="en-US" sz="1200" i="1" dirty="0">
                <a:solidFill>
                  <a:srgbClr val="A6ADC8"/>
                </a:solidFill>
                <a:latin typeface="Calibri" pitchFamily="34" charset="0"/>
                <a:ea typeface="Calibri" pitchFamily="34" charset="-122"/>
                <a:cs typeface="Calibri" pitchFamily="34" charset="-120"/>
              </a:rPr>
              <a:t>L'étudiant dispose d'un workspace complet : accueil guidé par l'agent, IDE anti-triche avec preview live, puis quiz d'évaluation généré sur son propre code.</a:t>
            </a:r>
            <a:endParaRPr lang="en-US" sz="1200" dirty="0"/>
          </a:p>
        </p:txBody>
      </p:sp>
      <p:sp>
        <p:nvSpPr>
          <p:cNvPr id="9" name="Shape 6"/>
          <p:cNvSpPr/>
          <p:nvPr/>
        </p:nvSpPr>
        <p:spPr>
          <a:xfrm>
            <a:off x="566928" y="1920240"/>
            <a:ext cx="6766560" cy="3524850"/>
          </a:xfrm>
          <a:prstGeom prst="roundRect">
            <a:avLst>
              <a:gd name="adj" fmla="val 2335"/>
            </a:avLst>
          </a:prstGeom>
          <a:solidFill>
            <a:srgbClr val="11111B"/>
          </a:solidFill>
          <a:ln w="12700">
            <a:solidFill>
              <a:srgbClr val="CBA6F7"/>
            </a:solidFill>
            <a:prstDash val="solid"/>
          </a:ln>
          <a:effectLst>
            <a:outerShdw blurRad="114300" dist="38100" dir="5400000" algn="bl" rotWithShape="0">
              <a:srgbClr val="000000">
                <a:alpha val="35000"/>
              </a:srgbClr>
            </a:outerShdw>
          </a:effectLst>
        </p:spPr>
      </p:sp>
      <p:pic>
        <p:nvPicPr>
          <p:cNvPr id="10" name="Image 1" descr="assets/explanation_agent.png"/>
          <p:cNvPicPr>
            <a:picLocks noChangeAspect="1"/>
          </p:cNvPicPr>
          <p:nvPr/>
        </p:nvPicPr>
        <p:blipFill>
          <a:blip r:embed="rId4"/>
          <a:stretch>
            <a:fillRect/>
          </a:stretch>
        </p:blipFill>
        <p:spPr>
          <a:xfrm>
            <a:off x="658368" y="2011680"/>
            <a:ext cx="6583680" cy="3341970"/>
          </a:xfrm>
          <a:prstGeom prst="rect">
            <a:avLst/>
          </a:prstGeom>
        </p:spPr>
      </p:pic>
      <p:sp>
        <p:nvSpPr>
          <p:cNvPr id="11" name="Text 7"/>
          <p:cNvSpPr/>
          <p:nvPr/>
        </p:nvSpPr>
        <p:spPr>
          <a:xfrm>
            <a:off x="658368" y="5408514"/>
            <a:ext cx="658368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Étape guidée — chat avec l'agent d'explication</a:t>
            </a:r>
            <a:endParaRPr lang="en-US" sz="950" dirty="0"/>
          </a:p>
        </p:txBody>
      </p:sp>
      <p:sp>
        <p:nvSpPr>
          <p:cNvPr id="12" name="Shape 8"/>
          <p:cNvSpPr/>
          <p:nvPr/>
        </p:nvSpPr>
        <p:spPr>
          <a:xfrm>
            <a:off x="7452360" y="1920240"/>
            <a:ext cx="4343400" cy="2294819"/>
          </a:xfrm>
          <a:prstGeom prst="roundRect">
            <a:avLst>
              <a:gd name="adj" fmla="val 3586"/>
            </a:avLst>
          </a:prstGeom>
          <a:solidFill>
            <a:srgbClr val="11111B"/>
          </a:solidFill>
          <a:ln w="12700">
            <a:solidFill>
              <a:srgbClr val="A6E3A1"/>
            </a:solidFill>
            <a:prstDash val="solid"/>
          </a:ln>
          <a:effectLst>
            <a:outerShdw blurRad="114300" dist="38100" dir="5400000" algn="bl" rotWithShape="0">
              <a:srgbClr val="000000">
                <a:alpha val="35000"/>
              </a:srgbClr>
            </a:outerShdw>
          </a:effectLst>
        </p:spPr>
      </p:sp>
      <p:pic>
        <p:nvPicPr>
          <p:cNvPr id="13" name="Image 2" descr="assets/student_ide.png"/>
          <p:cNvPicPr>
            <a:picLocks noChangeAspect="1"/>
          </p:cNvPicPr>
          <p:nvPr/>
        </p:nvPicPr>
        <p:blipFill>
          <a:blip r:embed="rId5"/>
          <a:stretch>
            <a:fillRect/>
          </a:stretch>
        </p:blipFill>
        <p:spPr>
          <a:xfrm>
            <a:off x="7543800" y="2011680"/>
            <a:ext cx="4160520" cy="2111939"/>
          </a:xfrm>
          <a:prstGeom prst="rect">
            <a:avLst/>
          </a:prstGeom>
        </p:spPr>
      </p:pic>
      <p:sp>
        <p:nvSpPr>
          <p:cNvPr id="14" name="Text 9"/>
          <p:cNvSpPr/>
          <p:nvPr/>
        </p:nvSpPr>
        <p:spPr>
          <a:xfrm>
            <a:off x="7543800" y="4178483"/>
            <a:ext cx="416052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IDE — éditeur anti-paste &amp; preview</a:t>
            </a:r>
            <a:endParaRPr lang="en-US" sz="950" dirty="0"/>
          </a:p>
        </p:txBody>
      </p:sp>
      <p:sp>
        <p:nvSpPr>
          <p:cNvPr id="15" name="Shape 10"/>
          <p:cNvSpPr/>
          <p:nvPr/>
        </p:nvSpPr>
        <p:spPr>
          <a:xfrm>
            <a:off x="7452360" y="4224528"/>
            <a:ext cx="4343400" cy="2294819"/>
          </a:xfrm>
          <a:prstGeom prst="roundRect">
            <a:avLst>
              <a:gd name="adj" fmla="val 3586"/>
            </a:avLst>
          </a:prstGeom>
          <a:solidFill>
            <a:srgbClr val="11111B"/>
          </a:solidFill>
          <a:ln w="12700">
            <a:solidFill>
              <a:srgbClr val="F9E2AF"/>
            </a:solidFill>
            <a:prstDash val="solid"/>
          </a:ln>
          <a:effectLst>
            <a:outerShdw blurRad="114300" dist="38100" dir="5400000" algn="bl" rotWithShape="0">
              <a:srgbClr val="000000">
                <a:alpha val="35000"/>
              </a:srgbClr>
            </a:outerShdw>
          </a:effectLst>
        </p:spPr>
      </p:sp>
      <p:pic>
        <p:nvPicPr>
          <p:cNvPr id="16" name="Image 3" descr="assets/evaluation.png"/>
          <p:cNvPicPr>
            <a:picLocks noChangeAspect="1"/>
          </p:cNvPicPr>
          <p:nvPr/>
        </p:nvPicPr>
        <p:blipFill>
          <a:blip r:embed="rId6"/>
          <a:stretch>
            <a:fillRect/>
          </a:stretch>
        </p:blipFill>
        <p:spPr>
          <a:xfrm>
            <a:off x="7543800" y="4315968"/>
            <a:ext cx="4160520" cy="2111939"/>
          </a:xfrm>
          <a:prstGeom prst="rect">
            <a:avLst/>
          </a:prstGeom>
        </p:spPr>
      </p:pic>
      <p:sp>
        <p:nvSpPr>
          <p:cNvPr id="17" name="Text 11"/>
          <p:cNvSpPr/>
          <p:nvPr/>
        </p:nvSpPr>
        <p:spPr>
          <a:xfrm>
            <a:off x="7543800" y="6482771"/>
            <a:ext cx="416052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Quiz d'évaluation &amp; feedback IA</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teacher.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A6E3A1"/>
                </a:solidFill>
                <a:latin typeface="Calibri" pitchFamily="34" charset="0"/>
                <a:ea typeface="Calibri" pitchFamily="34" charset="-122"/>
                <a:cs typeface="Calibri" pitchFamily="34" charset="-120"/>
              </a:rPr>
              <a:t>RÉALISATION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Espace enseignant &amp; contenus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18</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Text 5"/>
          <p:cNvSpPr/>
          <p:nvPr/>
        </p:nvSpPr>
        <p:spPr>
          <a:xfrm>
            <a:off x="566928" y="1371600"/>
            <a:ext cx="11064240" cy="411480"/>
          </a:xfrm>
          <a:prstGeom prst="rect">
            <a:avLst/>
          </a:prstGeom>
          <a:noFill/>
          <a:ln/>
        </p:spPr>
        <p:txBody>
          <a:bodyPr wrap="square" lIns="0" tIns="0" rIns="0" bIns="0" rtlCol="0" anchor="ctr"/>
          <a:lstStyle/>
          <a:p>
            <a:pPr marL="0" indent="0">
              <a:lnSpc>
                <a:spcPct val="105000"/>
              </a:lnSpc>
              <a:buNone/>
            </a:pPr>
            <a:r>
              <a:rPr lang="en-US" sz="1200" i="1" dirty="0">
                <a:solidFill>
                  <a:srgbClr val="A6ADC8"/>
                </a:solidFill>
                <a:latin typeface="Calibri" pitchFamily="34" charset="0"/>
                <a:ea typeface="Calibri" pitchFamily="34" charset="-122"/>
                <a:cs typeface="Calibri" pitchFamily="34" charset="-120"/>
              </a:rPr>
              <a:t>L'enseignant crée ses TP manuellement ou via l'agent générateur (à partir d'un PDF), assigne, suit la progression, et alimente la base de cours RAG.</a:t>
            </a:r>
            <a:endParaRPr lang="en-US" sz="1200" dirty="0"/>
          </a:p>
        </p:txBody>
      </p:sp>
      <p:sp>
        <p:nvSpPr>
          <p:cNvPr id="9" name="Shape 6"/>
          <p:cNvSpPr/>
          <p:nvPr/>
        </p:nvSpPr>
        <p:spPr>
          <a:xfrm>
            <a:off x="566928" y="1920240"/>
            <a:ext cx="6766560" cy="3458343"/>
          </a:xfrm>
          <a:prstGeom prst="roundRect">
            <a:avLst>
              <a:gd name="adj" fmla="val 2380"/>
            </a:avLst>
          </a:prstGeom>
          <a:solidFill>
            <a:srgbClr val="11111B"/>
          </a:solidFill>
          <a:ln w="12700">
            <a:solidFill>
              <a:srgbClr val="A6E3A1"/>
            </a:solidFill>
            <a:prstDash val="solid"/>
          </a:ln>
          <a:effectLst>
            <a:outerShdw blurRad="114300" dist="38100" dir="5400000" algn="bl" rotWithShape="0">
              <a:srgbClr val="000000">
                <a:alpha val="35000"/>
              </a:srgbClr>
            </a:outerShdw>
          </a:effectLst>
        </p:spPr>
      </p:sp>
      <p:pic>
        <p:nvPicPr>
          <p:cNvPr id="10" name="Image 1" descr="assets/teacher_dashboard.png"/>
          <p:cNvPicPr>
            <a:picLocks noChangeAspect="1"/>
          </p:cNvPicPr>
          <p:nvPr/>
        </p:nvPicPr>
        <p:blipFill>
          <a:blip r:embed="rId4"/>
          <a:stretch>
            <a:fillRect/>
          </a:stretch>
        </p:blipFill>
        <p:spPr>
          <a:xfrm>
            <a:off x="658368" y="2011680"/>
            <a:ext cx="6583680" cy="3275463"/>
          </a:xfrm>
          <a:prstGeom prst="rect">
            <a:avLst/>
          </a:prstGeom>
        </p:spPr>
      </p:pic>
      <p:sp>
        <p:nvSpPr>
          <p:cNvPr id="11" name="Text 7"/>
          <p:cNvSpPr/>
          <p:nvPr/>
        </p:nvSpPr>
        <p:spPr>
          <a:xfrm>
            <a:off x="658368" y="5342007"/>
            <a:ext cx="658368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Tableau de bord enseignant — création &amp; suivi</a:t>
            </a:r>
            <a:endParaRPr lang="en-US" sz="950" dirty="0"/>
          </a:p>
        </p:txBody>
      </p:sp>
      <p:sp>
        <p:nvSpPr>
          <p:cNvPr id="12" name="Shape 8"/>
          <p:cNvSpPr/>
          <p:nvPr/>
        </p:nvSpPr>
        <p:spPr>
          <a:xfrm>
            <a:off x="7452360" y="1920240"/>
            <a:ext cx="4343400" cy="2284153"/>
          </a:xfrm>
          <a:prstGeom prst="roundRect">
            <a:avLst>
              <a:gd name="adj" fmla="val 3603"/>
            </a:avLst>
          </a:prstGeom>
          <a:solidFill>
            <a:srgbClr val="11111B"/>
          </a:solidFill>
          <a:ln w="12700">
            <a:solidFill>
              <a:srgbClr val="CBA6F7"/>
            </a:solidFill>
            <a:prstDash val="solid"/>
          </a:ln>
          <a:effectLst>
            <a:outerShdw blurRad="114300" dist="38100" dir="5400000" algn="bl" rotWithShape="0">
              <a:srgbClr val="000000">
                <a:alpha val="35000"/>
              </a:srgbClr>
            </a:outerShdw>
          </a:effectLst>
        </p:spPr>
      </p:sp>
      <p:pic>
        <p:nvPicPr>
          <p:cNvPr id="13" name="Image 2" descr="assets/create_modal.png"/>
          <p:cNvPicPr>
            <a:picLocks noChangeAspect="1"/>
          </p:cNvPicPr>
          <p:nvPr/>
        </p:nvPicPr>
        <p:blipFill>
          <a:blip r:embed="rId5"/>
          <a:stretch>
            <a:fillRect/>
          </a:stretch>
        </p:blipFill>
        <p:spPr>
          <a:xfrm>
            <a:off x="7543800" y="2011680"/>
            <a:ext cx="4160520" cy="2101273"/>
          </a:xfrm>
          <a:prstGeom prst="rect">
            <a:avLst/>
          </a:prstGeom>
        </p:spPr>
      </p:pic>
      <p:sp>
        <p:nvSpPr>
          <p:cNvPr id="14" name="Text 9"/>
          <p:cNvSpPr/>
          <p:nvPr/>
        </p:nvSpPr>
        <p:spPr>
          <a:xfrm>
            <a:off x="7543800" y="4167817"/>
            <a:ext cx="416052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Choix du mode de création de TP</a:t>
            </a:r>
            <a:endParaRPr lang="en-US" sz="950" dirty="0"/>
          </a:p>
        </p:txBody>
      </p:sp>
      <p:sp>
        <p:nvSpPr>
          <p:cNvPr id="15" name="Shape 10"/>
          <p:cNvSpPr/>
          <p:nvPr/>
        </p:nvSpPr>
        <p:spPr>
          <a:xfrm>
            <a:off x="7452360" y="4224528"/>
            <a:ext cx="4343400" cy="2289472"/>
          </a:xfrm>
          <a:prstGeom prst="roundRect">
            <a:avLst>
              <a:gd name="adj" fmla="val 3595"/>
            </a:avLst>
          </a:prstGeom>
          <a:solidFill>
            <a:srgbClr val="11111B"/>
          </a:solidFill>
          <a:ln w="12700">
            <a:solidFill>
              <a:srgbClr val="89B4FA"/>
            </a:solidFill>
            <a:prstDash val="solid"/>
          </a:ln>
          <a:effectLst>
            <a:outerShdw blurRad="114300" dist="38100" dir="5400000" algn="bl" rotWithShape="0">
              <a:srgbClr val="000000">
                <a:alpha val="35000"/>
              </a:srgbClr>
            </a:outerShdw>
          </a:effectLst>
        </p:spPr>
      </p:sp>
      <p:pic>
        <p:nvPicPr>
          <p:cNvPr id="16" name="Image 3" descr="assets/rag.png"/>
          <p:cNvPicPr>
            <a:picLocks noChangeAspect="1"/>
          </p:cNvPicPr>
          <p:nvPr/>
        </p:nvPicPr>
        <p:blipFill>
          <a:blip r:embed="rId6"/>
          <a:stretch>
            <a:fillRect/>
          </a:stretch>
        </p:blipFill>
        <p:spPr>
          <a:xfrm>
            <a:off x="7543800" y="4315968"/>
            <a:ext cx="4160520" cy="2106592"/>
          </a:xfrm>
          <a:prstGeom prst="rect">
            <a:avLst/>
          </a:prstGeom>
        </p:spPr>
      </p:pic>
      <p:sp>
        <p:nvSpPr>
          <p:cNvPr id="17" name="Text 11"/>
          <p:cNvSpPr/>
          <p:nvPr/>
        </p:nvSpPr>
        <p:spPr>
          <a:xfrm>
            <a:off x="7543800" y="6477424"/>
            <a:ext cx="4160520" cy="274320"/>
          </a:xfrm>
          <a:prstGeom prst="rect">
            <a:avLst/>
          </a:prstGeom>
          <a:noFill/>
          <a:ln/>
        </p:spPr>
        <p:txBody>
          <a:bodyPr wrap="square" lIns="0" tIns="0" rIns="0" bIns="0" rtlCol="0" anchor="ctr"/>
          <a:lstStyle/>
          <a:p>
            <a:pPr marL="0" indent="0" algn="ctr">
              <a:buNone/>
            </a:pPr>
            <a:r>
              <a:rPr lang="en-US" sz="950" dirty="0">
                <a:solidFill>
                  <a:srgbClr val="6C7086"/>
                </a:solidFill>
                <a:latin typeface="Consolas" pitchFamily="34" charset="0"/>
                <a:ea typeface="Consolas" pitchFamily="34" charset="-122"/>
                <a:cs typeface="Consolas" pitchFamily="34" charset="-120"/>
              </a:rPr>
              <a:t>Bibliothèque de cours — base RAG</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A6E3A1"/>
            </a:solidFill>
            <a:prstDash val="solid"/>
          </a:ln>
        </p:spPr>
      </p:sp>
      <p:pic>
        <p:nvPicPr>
          <p:cNvPr id="3" name="Image 0" descr="assets/ic_check.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A6E3A1"/>
                </a:solidFill>
                <a:latin typeface="Calibri" pitchFamily="34" charset="0"/>
                <a:ea typeface="Calibri" pitchFamily="34" charset="-122"/>
                <a:cs typeface="Calibri" pitchFamily="34" charset="-120"/>
              </a:rPr>
              <a:t>RÉALISATION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État d'implémentation</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19</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5486400" cy="507492"/>
          </a:xfrm>
          <a:prstGeom prst="roundRect">
            <a:avLst>
              <a:gd name="adj" fmla="val 9009"/>
            </a:avLst>
          </a:prstGeom>
          <a:solidFill>
            <a:srgbClr val="232338"/>
          </a:solidFill>
          <a:ln w="12700">
            <a:solidFill>
              <a:srgbClr val="313244"/>
            </a:solidFill>
            <a:prstDash val="solid"/>
          </a:ln>
        </p:spPr>
      </p:sp>
      <p:pic>
        <p:nvPicPr>
          <p:cNvPr id="9" name="Image 1" descr="assets/ic_check.png"/>
          <p:cNvPicPr>
            <a:picLocks noChangeAspect="1"/>
          </p:cNvPicPr>
          <p:nvPr/>
        </p:nvPicPr>
        <p:blipFill>
          <a:blip r:embed="rId3"/>
          <a:stretch>
            <a:fillRect/>
          </a:stretch>
        </p:blipFill>
        <p:spPr>
          <a:xfrm>
            <a:off x="731520" y="1799082"/>
            <a:ext cx="292608" cy="292608"/>
          </a:xfrm>
          <a:prstGeom prst="rect">
            <a:avLst/>
          </a:prstGeom>
        </p:spPr>
      </p:pic>
      <p:sp>
        <p:nvSpPr>
          <p:cNvPr id="10" name="Text 6"/>
          <p:cNvSpPr/>
          <p:nvPr/>
        </p:nvSpPr>
        <p:spPr>
          <a:xfrm>
            <a:off x="1133856" y="1691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Frontend — workspace étudiant (IDE, preview, timer)</a:t>
            </a:r>
            <a:endParaRPr lang="en-US" sz="1050" dirty="0"/>
          </a:p>
        </p:txBody>
      </p:sp>
      <p:sp>
        <p:nvSpPr>
          <p:cNvPr id="11" name="Shape 7"/>
          <p:cNvSpPr/>
          <p:nvPr/>
        </p:nvSpPr>
        <p:spPr>
          <a:xfrm>
            <a:off x="5212080" y="1799082"/>
            <a:ext cx="713232" cy="292608"/>
          </a:xfrm>
          <a:prstGeom prst="roundRect">
            <a:avLst>
              <a:gd name="adj" fmla="val 50000"/>
            </a:avLst>
          </a:prstGeom>
          <a:solidFill>
            <a:srgbClr val="A6E3A1">
              <a:alpha val="20000"/>
            </a:srgbClr>
          </a:solidFill>
          <a:ln w="12700">
            <a:solidFill>
              <a:srgbClr val="A6E3A1"/>
            </a:solidFill>
            <a:prstDash val="solid"/>
          </a:ln>
        </p:spPr>
      </p:sp>
      <p:sp>
        <p:nvSpPr>
          <p:cNvPr id="12" name="Text 8"/>
          <p:cNvSpPr/>
          <p:nvPr/>
        </p:nvSpPr>
        <p:spPr>
          <a:xfrm>
            <a:off x="5212080" y="1799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13" name="Shape 9"/>
          <p:cNvSpPr/>
          <p:nvPr/>
        </p:nvSpPr>
        <p:spPr>
          <a:xfrm>
            <a:off x="566928" y="2263140"/>
            <a:ext cx="5486400" cy="507492"/>
          </a:xfrm>
          <a:prstGeom prst="roundRect">
            <a:avLst>
              <a:gd name="adj" fmla="val 9009"/>
            </a:avLst>
          </a:prstGeom>
          <a:solidFill>
            <a:srgbClr val="232338"/>
          </a:solidFill>
          <a:ln w="12700">
            <a:solidFill>
              <a:srgbClr val="313244"/>
            </a:solidFill>
            <a:prstDash val="solid"/>
          </a:ln>
        </p:spPr>
      </p:sp>
      <p:pic>
        <p:nvPicPr>
          <p:cNvPr id="14" name="Image 2" descr="assets/ic_check.png"/>
          <p:cNvPicPr>
            <a:picLocks noChangeAspect="1"/>
          </p:cNvPicPr>
          <p:nvPr/>
        </p:nvPicPr>
        <p:blipFill>
          <a:blip r:embed="rId3"/>
          <a:stretch>
            <a:fillRect/>
          </a:stretch>
        </p:blipFill>
        <p:spPr>
          <a:xfrm>
            <a:off x="731520" y="2370582"/>
            <a:ext cx="292608" cy="292608"/>
          </a:xfrm>
          <a:prstGeom prst="rect">
            <a:avLst/>
          </a:prstGeom>
        </p:spPr>
      </p:pic>
      <p:sp>
        <p:nvSpPr>
          <p:cNvPr id="15" name="Text 10"/>
          <p:cNvSpPr/>
          <p:nvPr/>
        </p:nvSpPr>
        <p:spPr>
          <a:xfrm>
            <a:off x="1133856" y="2263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Frontend — dashboard enseignant (créer, assigner, suivre)</a:t>
            </a:r>
            <a:endParaRPr lang="en-US" sz="1050" dirty="0"/>
          </a:p>
        </p:txBody>
      </p:sp>
      <p:sp>
        <p:nvSpPr>
          <p:cNvPr id="16" name="Shape 11"/>
          <p:cNvSpPr/>
          <p:nvPr/>
        </p:nvSpPr>
        <p:spPr>
          <a:xfrm>
            <a:off x="5212080" y="2370582"/>
            <a:ext cx="713232" cy="292608"/>
          </a:xfrm>
          <a:prstGeom prst="roundRect">
            <a:avLst>
              <a:gd name="adj" fmla="val 50000"/>
            </a:avLst>
          </a:prstGeom>
          <a:solidFill>
            <a:srgbClr val="A6E3A1">
              <a:alpha val="20000"/>
            </a:srgbClr>
          </a:solidFill>
          <a:ln w="12700">
            <a:solidFill>
              <a:srgbClr val="A6E3A1"/>
            </a:solidFill>
            <a:prstDash val="solid"/>
          </a:ln>
        </p:spPr>
      </p:sp>
      <p:sp>
        <p:nvSpPr>
          <p:cNvPr id="17" name="Text 12"/>
          <p:cNvSpPr/>
          <p:nvPr/>
        </p:nvSpPr>
        <p:spPr>
          <a:xfrm>
            <a:off x="5212080" y="2370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18" name="Shape 13"/>
          <p:cNvSpPr/>
          <p:nvPr/>
        </p:nvSpPr>
        <p:spPr>
          <a:xfrm>
            <a:off x="566928" y="2834640"/>
            <a:ext cx="5486400" cy="507492"/>
          </a:xfrm>
          <a:prstGeom prst="roundRect">
            <a:avLst>
              <a:gd name="adj" fmla="val 9009"/>
            </a:avLst>
          </a:prstGeom>
          <a:solidFill>
            <a:srgbClr val="232338"/>
          </a:solidFill>
          <a:ln w="12700">
            <a:solidFill>
              <a:srgbClr val="313244"/>
            </a:solidFill>
            <a:prstDash val="solid"/>
          </a:ln>
        </p:spPr>
      </p:sp>
      <p:pic>
        <p:nvPicPr>
          <p:cNvPr id="19" name="Image 3" descr="assets/ic_check.png"/>
          <p:cNvPicPr>
            <a:picLocks noChangeAspect="1"/>
          </p:cNvPicPr>
          <p:nvPr/>
        </p:nvPicPr>
        <p:blipFill>
          <a:blip r:embed="rId3"/>
          <a:stretch>
            <a:fillRect/>
          </a:stretch>
        </p:blipFill>
        <p:spPr>
          <a:xfrm>
            <a:off x="731520" y="2942082"/>
            <a:ext cx="292608" cy="292608"/>
          </a:xfrm>
          <a:prstGeom prst="rect">
            <a:avLst/>
          </a:prstGeom>
        </p:spPr>
      </p:pic>
      <p:sp>
        <p:nvSpPr>
          <p:cNvPr id="20" name="Text 14"/>
          <p:cNvSpPr/>
          <p:nvPr/>
        </p:nvSpPr>
        <p:spPr>
          <a:xfrm>
            <a:off x="1133856" y="2834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Frontend — UI agents (Chat, HintBox, Quiz)</a:t>
            </a:r>
            <a:endParaRPr lang="en-US" sz="1050" dirty="0"/>
          </a:p>
        </p:txBody>
      </p:sp>
      <p:sp>
        <p:nvSpPr>
          <p:cNvPr id="21" name="Shape 15"/>
          <p:cNvSpPr/>
          <p:nvPr/>
        </p:nvSpPr>
        <p:spPr>
          <a:xfrm>
            <a:off x="5212080" y="2942082"/>
            <a:ext cx="713232" cy="292608"/>
          </a:xfrm>
          <a:prstGeom prst="roundRect">
            <a:avLst>
              <a:gd name="adj" fmla="val 50000"/>
            </a:avLst>
          </a:prstGeom>
          <a:solidFill>
            <a:srgbClr val="A6E3A1">
              <a:alpha val="20000"/>
            </a:srgbClr>
          </a:solidFill>
          <a:ln w="12700">
            <a:solidFill>
              <a:srgbClr val="A6E3A1"/>
            </a:solidFill>
            <a:prstDash val="solid"/>
          </a:ln>
        </p:spPr>
      </p:sp>
      <p:sp>
        <p:nvSpPr>
          <p:cNvPr id="22" name="Text 16"/>
          <p:cNvSpPr/>
          <p:nvPr/>
        </p:nvSpPr>
        <p:spPr>
          <a:xfrm>
            <a:off x="5212080" y="2942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23" name="Shape 17"/>
          <p:cNvSpPr/>
          <p:nvPr/>
        </p:nvSpPr>
        <p:spPr>
          <a:xfrm>
            <a:off x="566928" y="3406140"/>
            <a:ext cx="5486400" cy="507492"/>
          </a:xfrm>
          <a:prstGeom prst="roundRect">
            <a:avLst>
              <a:gd name="adj" fmla="val 9009"/>
            </a:avLst>
          </a:prstGeom>
          <a:solidFill>
            <a:srgbClr val="232338"/>
          </a:solidFill>
          <a:ln w="12700">
            <a:solidFill>
              <a:srgbClr val="313244"/>
            </a:solidFill>
            <a:prstDash val="solid"/>
          </a:ln>
        </p:spPr>
      </p:sp>
      <p:pic>
        <p:nvPicPr>
          <p:cNvPr id="24" name="Image 4" descr="assets/ic_check.png"/>
          <p:cNvPicPr>
            <a:picLocks noChangeAspect="1"/>
          </p:cNvPicPr>
          <p:nvPr/>
        </p:nvPicPr>
        <p:blipFill>
          <a:blip r:embed="rId3"/>
          <a:stretch>
            <a:fillRect/>
          </a:stretch>
        </p:blipFill>
        <p:spPr>
          <a:xfrm>
            <a:off x="731520" y="3513582"/>
            <a:ext cx="292608" cy="292608"/>
          </a:xfrm>
          <a:prstGeom prst="rect">
            <a:avLst/>
          </a:prstGeom>
        </p:spPr>
      </p:pic>
      <p:sp>
        <p:nvSpPr>
          <p:cNvPr id="25" name="Text 18"/>
          <p:cNvSpPr/>
          <p:nvPr/>
        </p:nvSpPr>
        <p:spPr>
          <a:xfrm>
            <a:off x="1133856" y="3406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Explanation Agent (Mistral + LangGraph)</a:t>
            </a:r>
            <a:endParaRPr lang="en-US" sz="1050" dirty="0"/>
          </a:p>
        </p:txBody>
      </p:sp>
      <p:sp>
        <p:nvSpPr>
          <p:cNvPr id="26" name="Shape 19"/>
          <p:cNvSpPr/>
          <p:nvPr/>
        </p:nvSpPr>
        <p:spPr>
          <a:xfrm>
            <a:off x="5212080" y="3513582"/>
            <a:ext cx="713232" cy="292608"/>
          </a:xfrm>
          <a:prstGeom prst="roundRect">
            <a:avLst>
              <a:gd name="adj" fmla="val 50000"/>
            </a:avLst>
          </a:prstGeom>
          <a:solidFill>
            <a:srgbClr val="A6E3A1">
              <a:alpha val="20000"/>
            </a:srgbClr>
          </a:solidFill>
          <a:ln w="12700">
            <a:solidFill>
              <a:srgbClr val="A6E3A1"/>
            </a:solidFill>
            <a:prstDash val="solid"/>
          </a:ln>
        </p:spPr>
      </p:sp>
      <p:sp>
        <p:nvSpPr>
          <p:cNvPr id="27" name="Text 20"/>
          <p:cNvSpPr/>
          <p:nvPr/>
        </p:nvSpPr>
        <p:spPr>
          <a:xfrm>
            <a:off x="5212080" y="3513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28" name="Shape 21"/>
          <p:cNvSpPr/>
          <p:nvPr/>
        </p:nvSpPr>
        <p:spPr>
          <a:xfrm>
            <a:off x="566928" y="3977640"/>
            <a:ext cx="5486400" cy="507492"/>
          </a:xfrm>
          <a:prstGeom prst="roundRect">
            <a:avLst>
              <a:gd name="adj" fmla="val 9009"/>
            </a:avLst>
          </a:prstGeom>
          <a:solidFill>
            <a:srgbClr val="232338"/>
          </a:solidFill>
          <a:ln w="12700">
            <a:solidFill>
              <a:srgbClr val="313244"/>
            </a:solidFill>
            <a:prstDash val="solid"/>
          </a:ln>
        </p:spPr>
      </p:sp>
      <p:pic>
        <p:nvPicPr>
          <p:cNvPr id="29" name="Image 5" descr="assets/ic_check.png"/>
          <p:cNvPicPr>
            <a:picLocks noChangeAspect="1"/>
          </p:cNvPicPr>
          <p:nvPr/>
        </p:nvPicPr>
        <p:blipFill>
          <a:blip r:embed="rId3"/>
          <a:stretch>
            <a:fillRect/>
          </a:stretch>
        </p:blipFill>
        <p:spPr>
          <a:xfrm>
            <a:off x="731520" y="4085082"/>
            <a:ext cx="292608" cy="292608"/>
          </a:xfrm>
          <a:prstGeom prst="rect">
            <a:avLst/>
          </a:prstGeom>
        </p:spPr>
      </p:pic>
      <p:sp>
        <p:nvSpPr>
          <p:cNvPr id="30" name="Text 22"/>
          <p:cNvSpPr/>
          <p:nvPr/>
        </p:nvSpPr>
        <p:spPr>
          <a:xfrm>
            <a:off x="1133856" y="3977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Hint Agent (deepseek-coder:6.7b + LangGraph)</a:t>
            </a:r>
            <a:endParaRPr lang="en-US" sz="1050" dirty="0"/>
          </a:p>
        </p:txBody>
      </p:sp>
      <p:sp>
        <p:nvSpPr>
          <p:cNvPr id="31" name="Shape 23"/>
          <p:cNvSpPr/>
          <p:nvPr/>
        </p:nvSpPr>
        <p:spPr>
          <a:xfrm>
            <a:off x="5212080" y="4085082"/>
            <a:ext cx="713232" cy="292608"/>
          </a:xfrm>
          <a:prstGeom prst="roundRect">
            <a:avLst>
              <a:gd name="adj" fmla="val 50000"/>
            </a:avLst>
          </a:prstGeom>
          <a:solidFill>
            <a:srgbClr val="A6E3A1">
              <a:alpha val="20000"/>
            </a:srgbClr>
          </a:solidFill>
          <a:ln w="12700">
            <a:solidFill>
              <a:srgbClr val="A6E3A1"/>
            </a:solidFill>
            <a:prstDash val="solid"/>
          </a:ln>
        </p:spPr>
      </p:sp>
      <p:sp>
        <p:nvSpPr>
          <p:cNvPr id="32" name="Text 24"/>
          <p:cNvSpPr/>
          <p:nvPr/>
        </p:nvSpPr>
        <p:spPr>
          <a:xfrm>
            <a:off x="5212080" y="4085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33" name="Shape 25"/>
          <p:cNvSpPr/>
          <p:nvPr/>
        </p:nvSpPr>
        <p:spPr>
          <a:xfrm>
            <a:off x="566928" y="4549140"/>
            <a:ext cx="5486400" cy="507492"/>
          </a:xfrm>
          <a:prstGeom prst="roundRect">
            <a:avLst>
              <a:gd name="adj" fmla="val 9009"/>
            </a:avLst>
          </a:prstGeom>
          <a:solidFill>
            <a:srgbClr val="232338"/>
          </a:solidFill>
          <a:ln w="12700">
            <a:solidFill>
              <a:srgbClr val="313244"/>
            </a:solidFill>
            <a:prstDash val="solid"/>
          </a:ln>
        </p:spPr>
      </p:sp>
      <p:pic>
        <p:nvPicPr>
          <p:cNvPr id="34" name="Image 6" descr="assets/ic_check.png"/>
          <p:cNvPicPr>
            <a:picLocks noChangeAspect="1"/>
          </p:cNvPicPr>
          <p:nvPr/>
        </p:nvPicPr>
        <p:blipFill>
          <a:blip r:embed="rId3"/>
          <a:stretch>
            <a:fillRect/>
          </a:stretch>
        </p:blipFill>
        <p:spPr>
          <a:xfrm>
            <a:off x="731520" y="4656582"/>
            <a:ext cx="292608" cy="292608"/>
          </a:xfrm>
          <a:prstGeom prst="rect">
            <a:avLst/>
          </a:prstGeom>
        </p:spPr>
      </p:pic>
      <p:sp>
        <p:nvSpPr>
          <p:cNvPr id="35" name="Text 26"/>
          <p:cNvSpPr/>
          <p:nvPr/>
        </p:nvSpPr>
        <p:spPr>
          <a:xfrm>
            <a:off x="1133856" y="4549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Evaluation Agent (gemma4:31b + LangGraph)</a:t>
            </a:r>
            <a:endParaRPr lang="en-US" sz="1050" dirty="0"/>
          </a:p>
        </p:txBody>
      </p:sp>
      <p:sp>
        <p:nvSpPr>
          <p:cNvPr id="36" name="Shape 27"/>
          <p:cNvSpPr/>
          <p:nvPr/>
        </p:nvSpPr>
        <p:spPr>
          <a:xfrm>
            <a:off x="5212080" y="4656582"/>
            <a:ext cx="713232" cy="292608"/>
          </a:xfrm>
          <a:prstGeom prst="roundRect">
            <a:avLst>
              <a:gd name="adj" fmla="val 50000"/>
            </a:avLst>
          </a:prstGeom>
          <a:solidFill>
            <a:srgbClr val="A6E3A1">
              <a:alpha val="20000"/>
            </a:srgbClr>
          </a:solidFill>
          <a:ln w="12700">
            <a:solidFill>
              <a:srgbClr val="A6E3A1"/>
            </a:solidFill>
            <a:prstDash val="solid"/>
          </a:ln>
        </p:spPr>
      </p:sp>
      <p:sp>
        <p:nvSpPr>
          <p:cNvPr id="37" name="Text 28"/>
          <p:cNvSpPr/>
          <p:nvPr/>
        </p:nvSpPr>
        <p:spPr>
          <a:xfrm>
            <a:off x="5212080" y="4656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38" name="Shape 29"/>
          <p:cNvSpPr/>
          <p:nvPr/>
        </p:nvSpPr>
        <p:spPr>
          <a:xfrm>
            <a:off x="566928" y="5120640"/>
            <a:ext cx="5486400" cy="507492"/>
          </a:xfrm>
          <a:prstGeom prst="roundRect">
            <a:avLst>
              <a:gd name="adj" fmla="val 9009"/>
            </a:avLst>
          </a:prstGeom>
          <a:solidFill>
            <a:srgbClr val="232338"/>
          </a:solidFill>
          <a:ln w="12700">
            <a:solidFill>
              <a:srgbClr val="313244"/>
            </a:solidFill>
            <a:prstDash val="solid"/>
          </a:ln>
        </p:spPr>
      </p:sp>
      <p:pic>
        <p:nvPicPr>
          <p:cNvPr id="39" name="Image 7" descr="assets/ic_check.png"/>
          <p:cNvPicPr>
            <a:picLocks noChangeAspect="1"/>
          </p:cNvPicPr>
          <p:nvPr/>
        </p:nvPicPr>
        <p:blipFill>
          <a:blip r:embed="rId3"/>
          <a:stretch>
            <a:fillRect/>
          </a:stretch>
        </p:blipFill>
        <p:spPr>
          <a:xfrm>
            <a:off x="731520" y="5228082"/>
            <a:ext cx="292608" cy="292608"/>
          </a:xfrm>
          <a:prstGeom prst="rect">
            <a:avLst/>
          </a:prstGeom>
        </p:spPr>
      </p:pic>
      <p:sp>
        <p:nvSpPr>
          <p:cNvPr id="40" name="Text 30"/>
          <p:cNvSpPr/>
          <p:nvPr/>
        </p:nvSpPr>
        <p:spPr>
          <a:xfrm>
            <a:off x="1133856" y="5120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Orchestrator (deepseek-v3.2 + LangGraph)</a:t>
            </a:r>
            <a:endParaRPr lang="en-US" sz="1050" dirty="0"/>
          </a:p>
        </p:txBody>
      </p:sp>
      <p:sp>
        <p:nvSpPr>
          <p:cNvPr id="41" name="Shape 31"/>
          <p:cNvSpPr/>
          <p:nvPr/>
        </p:nvSpPr>
        <p:spPr>
          <a:xfrm>
            <a:off x="5212080" y="5228082"/>
            <a:ext cx="713232" cy="292608"/>
          </a:xfrm>
          <a:prstGeom prst="roundRect">
            <a:avLst>
              <a:gd name="adj" fmla="val 50000"/>
            </a:avLst>
          </a:prstGeom>
          <a:solidFill>
            <a:srgbClr val="A6E3A1">
              <a:alpha val="20000"/>
            </a:srgbClr>
          </a:solidFill>
          <a:ln w="12700">
            <a:solidFill>
              <a:srgbClr val="A6E3A1"/>
            </a:solidFill>
            <a:prstDash val="solid"/>
          </a:ln>
        </p:spPr>
      </p:sp>
      <p:sp>
        <p:nvSpPr>
          <p:cNvPr id="42" name="Text 32"/>
          <p:cNvSpPr/>
          <p:nvPr/>
        </p:nvSpPr>
        <p:spPr>
          <a:xfrm>
            <a:off x="5212080" y="5228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43" name="Shape 33"/>
          <p:cNvSpPr/>
          <p:nvPr/>
        </p:nvSpPr>
        <p:spPr>
          <a:xfrm>
            <a:off x="566928" y="5692140"/>
            <a:ext cx="5486400" cy="507492"/>
          </a:xfrm>
          <a:prstGeom prst="roundRect">
            <a:avLst>
              <a:gd name="adj" fmla="val 9009"/>
            </a:avLst>
          </a:prstGeom>
          <a:solidFill>
            <a:srgbClr val="232338"/>
          </a:solidFill>
          <a:ln w="12700">
            <a:solidFill>
              <a:srgbClr val="313244"/>
            </a:solidFill>
            <a:prstDash val="solid"/>
          </a:ln>
        </p:spPr>
      </p:sp>
      <p:pic>
        <p:nvPicPr>
          <p:cNvPr id="44" name="Image 8" descr="assets/ic_check.png"/>
          <p:cNvPicPr>
            <a:picLocks noChangeAspect="1"/>
          </p:cNvPicPr>
          <p:nvPr/>
        </p:nvPicPr>
        <p:blipFill>
          <a:blip r:embed="rId3"/>
          <a:stretch>
            <a:fillRect/>
          </a:stretch>
        </p:blipFill>
        <p:spPr>
          <a:xfrm>
            <a:off x="731520" y="5799582"/>
            <a:ext cx="292608" cy="292608"/>
          </a:xfrm>
          <a:prstGeom prst="rect">
            <a:avLst/>
          </a:prstGeom>
        </p:spPr>
      </p:pic>
      <p:sp>
        <p:nvSpPr>
          <p:cNvPr id="45" name="Text 34"/>
          <p:cNvSpPr/>
          <p:nvPr/>
        </p:nvSpPr>
        <p:spPr>
          <a:xfrm>
            <a:off x="1133856" y="5692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Agent Gateway (routeur FastAPI)</a:t>
            </a:r>
            <a:endParaRPr lang="en-US" sz="1050" dirty="0"/>
          </a:p>
        </p:txBody>
      </p:sp>
      <p:sp>
        <p:nvSpPr>
          <p:cNvPr id="46" name="Shape 35"/>
          <p:cNvSpPr/>
          <p:nvPr/>
        </p:nvSpPr>
        <p:spPr>
          <a:xfrm>
            <a:off x="5212080" y="5799582"/>
            <a:ext cx="713232" cy="292608"/>
          </a:xfrm>
          <a:prstGeom prst="roundRect">
            <a:avLst>
              <a:gd name="adj" fmla="val 50000"/>
            </a:avLst>
          </a:prstGeom>
          <a:solidFill>
            <a:srgbClr val="A6E3A1">
              <a:alpha val="20000"/>
            </a:srgbClr>
          </a:solidFill>
          <a:ln w="12700">
            <a:solidFill>
              <a:srgbClr val="A6E3A1"/>
            </a:solidFill>
            <a:prstDash val="solid"/>
          </a:ln>
        </p:spPr>
      </p:sp>
      <p:sp>
        <p:nvSpPr>
          <p:cNvPr id="47" name="Text 36"/>
          <p:cNvSpPr/>
          <p:nvPr/>
        </p:nvSpPr>
        <p:spPr>
          <a:xfrm>
            <a:off x="5212080" y="5799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48" name="Shape 37"/>
          <p:cNvSpPr/>
          <p:nvPr/>
        </p:nvSpPr>
        <p:spPr>
          <a:xfrm>
            <a:off x="566928" y="6263640"/>
            <a:ext cx="5486400" cy="507492"/>
          </a:xfrm>
          <a:prstGeom prst="roundRect">
            <a:avLst>
              <a:gd name="adj" fmla="val 9009"/>
            </a:avLst>
          </a:prstGeom>
          <a:solidFill>
            <a:srgbClr val="232338"/>
          </a:solidFill>
          <a:ln w="12700">
            <a:solidFill>
              <a:srgbClr val="313244"/>
            </a:solidFill>
            <a:prstDash val="solid"/>
          </a:ln>
        </p:spPr>
      </p:sp>
      <p:pic>
        <p:nvPicPr>
          <p:cNvPr id="49" name="Image 9" descr="assets/ic_check.png"/>
          <p:cNvPicPr>
            <a:picLocks noChangeAspect="1"/>
          </p:cNvPicPr>
          <p:nvPr/>
        </p:nvPicPr>
        <p:blipFill>
          <a:blip r:embed="rId3"/>
          <a:stretch>
            <a:fillRect/>
          </a:stretch>
        </p:blipFill>
        <p:spPr>
          <a:xfrm>
            <a:off x="731520" y="6371082"/>
            <a:ext cx="292608" cy="292608"/>
          </a:xfrm>
          <a:prstGeom prst="rect">
            <a:avLst/>
          </a:prstGeom>
        </p:spPr>
      </p:pic>
      <p:sp>
        <p:nvSpPr>
          <p:cNvPr id="50" name="Text 38"/>
          <p:cNvSpPr/>
          <p:nvPr/>
        </p:nvSpPr>
        <p:spPr>
          <a:xfrm>
            <a:off x="1133856" y="6263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Auth Service (JWT, BCrypt, Spring Security)</a:t>
            </a:r>
            <a:endParaRPr lang="en-US" sz="1050" dirty="0"/>
          </a:p>
        </p:txBody>
      </p:sp>
      <p:sp>
        <p:nvSpPr>
          <p:cNvPr id="51" name="Shape 39"/>
          <p:cNvSpPr/>
          <p:nvPr/>
        </p:nvSpPr>
        <p:spPr>
          <a:xfrm>
            <a:off x="5212080" y="6371082"/>
            <a:ext cx="713232" cy="292608"/>
          </a:xfrm>
          <a:prstGeom prst="roundRect">
            <a:avLst>
              <a:gd name="adj" fmla="val 50000"/>
            </a:avLst>
          </a:prstGeom>
          <a:solidFill>
            <a:srgbClr val="A6E3A1">
              <a:alpha val="20000"/>
            </a:srgbClr>
          </a:solidFill>
          <a:ln w="12700">
            <a:solidFill>
              <a:srgbClr val="A6E3A1"/>
            </a:solidFill>
            <a:prstDash val="solid"/>
          </a:ln>
        </p:spPr>
      </p:sp>
      <p:sp>
        <p:nvSpPr>
          <p:cNvPr id="52" name="Text 40"/>
          <p:cNvSpPr/>
          <p:nvPr/>
        </p:nvSpPr>
        <p:spPr>
          <a:xfrm>
            <a:off x="5212080" y="6371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53" name="Shape 41"/>
          <p:cNvSpPr/>
          <p:nvPr/>
        </p:nvSpPr>
        <p:spPr>
          <a:xfrm>
            <a:off x="6135624" y="1691640"/>
            <a:ext cx="5486400" cy="507492"/>
          </a:xfrm>
          <a:prstGeom prst="roundRect">
            <a:avLst>
              <a:gd name="adj" fmla="val 9009"/>
            </a:avLst>
          </a:prstGeom>
          <a:solidFill>
            <a:srgbClr val="232338"/>
          </a:solidFill>
          <a:ln w="12700">
            <a:solidFill>
              <a:srgbClr val="313244"/>
            </a:solidFill>
            <a:prstDash val="solid"/>
          </a:ln>
        </p:spPr>
      </p:sp>
      <p:pic>
        <p:nvPicPr>
          <p:cNvPr id="54" name="Image 10" descr="assets/ic_check.png"/>
          <p:cNvPicPr>
            <a:picLocks noChangeAspect="1"/>
          </p:cNvPicPr>
          <p:nvPr/>
        </p:nvPicPr>
        <p:blipFill>
          <a:blip r:embed="rId3"/>
          <a:stretch>
            <a:fillRect/>
          </a:stretch>
        </p:blipFill>
        <p:spPr>
          <a:xfrm>
            <a:off x="6300216" y="1799082"/>
            <a:ext cx="292608" cy="292608"/>
          </a:xfrm>
          <a:prstGeom prst="rect">
            <a:avLst/>
          </a:prstGeom>
        </p:spPr>
      </p:pic>
      <p:sp>
        <p:nvSpPr>
          <p:cNvPr id="55" name="Text 42"/>
          <p:cNvSpPr/>
          <p:nvPr/>
        </p:nvSpPr>
        <p:spPr>
          <a:xfrm>
            <a:off x="6702552" y="1691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TP Service (CRUD, stockage colonnes JSON)</a:t>
            </a:r>
            <a:endParaRPr lang="en-US" sz="1050" dirty="0"/>
          </a:p>
        </p:txBody>
      </p:sp>
      <p:sp>
        <p:nvSpPr>
          <p:cNvPr id="56" name="Shape 43"/>
          <p:cNvSpPr/>
          <p:nvPr/>
        </p:nvSpPr>
        <p:spPr>
          <a:xfrm>
            <a:off x="10780776" y="1799082"/>
            <a:ext cx="713232" cy="292608"/>
          </a:xfrm>
          <a:prstGeom prst="roundRect">
            <a:avLst>
              <a:gd name="adj" fmla="val 50000"/>
            </a:avLst>
          </a:prstGeom>
          <a:solidFill>
            <a:srgbClr val="A6E3A1">
              <a:alpha val="20000"/>
            </a:srgbClr>
          </a:solidFill>
          <a:ln w="12700">
            <a:solidFill>
              <a:srgbClr val="A6E3A1"/>
            </a:solidFill>
            <a:prstDash val="solid"/>
          </a:ln>
        </p:spPr>
      </p:sp>
      <p:sp>
        <p:nvSpPr>
          <p:cNvPr id="57" name="Text 44"/>
          <p:cNvSpPr/>
          <p:nvPr/>
        </p:nvSpPr>
        <p:spPr>
          <a:xfrm>
            <a:off x="10780776" y="1799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58" name="Shape 45"/>
          <p:cNvSpPr/>
          <p:nvPr/>
        </p:nvSpPr>
        <p:spPr>
          <a:xfrm>
            <a:off x="6135624" y="2263140"/>
            <a:ext cx="5486400" cy="507492"/>
          </a:xfrm>
          <a:prstGeom prst="roundRect">
            <a:avLst>
              <a:gd name="adj" fmla="val 9009"/>
            </a:avLst>
          </a:prstGeom>
          <a:solidFill>
            <a:srgbClr val="232338"/>
          </a:solidFill>
          <a:ln w="12700">
            <a:solidFill>
              <a:srgbClr val="313244"/>
            </a:solidFill>
            <a:prstDash val="solid"/>
          </a:ln>
        </p:spPr>
      </p:sp>
      <p:pic>
        <p:nvPicPr>
          <p:cNvPr id="59" name="Image 11" descr="assets/ic_check.png"/>
          <p:cNvPicPr>
            <a:picLocks noChangeAspect="1"/>
          </p:cNvPicPr>
          <p:nvPr/>
        </p:nvPicPr>
        <p:blipFill>
          <a:blip r:embed="rId3"/>
          <a:stretch>
            <a:fillRect/>
          </a:stretch>
        </p:blipFill>
        <p:spPr>
          <a:xfrm>
            <a:off x="6300216" y="2370582"/>
            <a:ext cx="292608" cy="292608"/>
          </a:xfrm>
          <a:prstGeom prst="rect">
            <a:avLst/>
          </a:prstGeom>
        </p:spPr>
      </p:pic>
      <p:sp>
        <p:nvSpPr>
          <p:cNvPr id="60" name="Text 46"/>
          <p:cNvSpPr/>
          <p:nvPr/>
        </p:nvSpPr>
        <p:spPr>
          <a:xfrm>
            <a:off x="6702552" y="2263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Spring Cloud Gateway (filtre JWT, routage)</a:t>
            </a:r>
            <a:endParaRPr lang="en-US" sz="1050" dirty="0"/>
          </a:p>
        </p:txBody>
      </p:sp>
      <p:sp>
        <p:nvSpPr>
          <p:cNvPr id="61" name="Shape 47"/>
          <p:cNvSpPr/>
          <p:nvPr/>
        </p:nvSpPr>
        <p:spPr>
          <a:xfrm>
            <a:off x="10780776" y="2370582"/>
            <a:ext cx="713232" cy="292608"/>
          </a:xfrm>
          <a:prstGeom prst="roundRect">
            <a:avLst>
              <a:gd name="adj" fmla="val 50000"/>
            </a:avLst>
          </a:prstGeom>
          <a:solidFill>
            <a:srgbClr val="A6E3A1">
              <a:alpha val="20000"/>
            </a:srgbClr>
          </a:solidFill>
          <a:ln w="12700">
            <a:solidFill>
              <a:srgbClr val="A6E3A1"/>
            </a:solidFill>
            <a:prstDash val="solid"/>
          </a:ln>
        </p:spPr>
      </p:sp>
      <p:sp>
        <p:nvSpPr>
          <p:cNvPr id="62" name="Text 48"/>
          <p:cNvSpPr/>
          <p:nvPr/>
        </p:nvSpPr>
        <p:spPr>
          <a:xfrm>
            <a:off x="10780776" y="2370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63" name="Shape 49"/>
          <p:cNvSpPr/>
          <p:nvPr/>
        </p:nvSpPr>
        <p:spPr>
          <a:xfrm>
            <a:off x="6135624" y="2834640"/>
            <a:ext cx="5486400" cy="507492"/>
          </a:xfrm>
          <a:prstGeom prst="roundRect">
            <a:avLst>
              <a:gd name="adj" fmla="val 9009"/>
            </a:avLst>
          </a:prstGeom>
          <a:solidFill>
            <a:srgbClr val="232338"/>
          </a:solidFill>
          <a:ln w="12700">
            <a:solidFill>
              <a:srgbClr val="313244"/>
            </a:solidFill>
            <a:prstDash val="solid"/>
          </a:ln>
        </p:spPr>
      </p:sp>
      <p:pic>
        <p:nvPicPr>
          <p:cNvPr id="64" name="Image 12" descr="assets/ic_check.png"/>
          <p:cNvPicPr>
            <a:picLocks noChangeAspect="1"/>
          </p:cNvPicPr>
          <p:nvPr/>
        </p:nvPicPr>
        <p:blipFill>
          <a:blip r:embed="rId3"/>
          <a:stretch>
            <a:fillRect/>
          </a:stretch>
        </p:blipFill>
        <p:spPr>
          <a:xfrm>
            <a:off x="6300216" y="2942082"/>
            <a:ext cx="292608" cy="292608"/>
          </a:xfrm>
          <a:prstGeom prst="rect">
            <a:avLst/>
          </a:prstGeom>
        </p:spPr>
      </p:pic>
      <p:sp>
        <p:nvSpPr>
          <p:cNvPr id="65" name="Text 50"/>
          <p:cNvSpPr/>
          <p:nvPr/>
        </p:nvSpPr>
        <p:spPr>
          <a:xfrm>
            <a:off x="6702552" y="2834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Eureka Discovery Server</a:t>
            </a:r>
            <a:endParaRPr lang="en-US" sz="1050" dirty="0"/>
          </a:p>
        </p:txBody>
      </p:sp>
      <p:sp>
        <p:nvSpPr>
          <p:cNvPr id="66" name="Shape 51"/>
          <p:cNvSpPr/>
          <p:nvPr/>
        </p:nvSpPr>
        <p:spPr>
          <a:xfrm>
            <a:off x="10780776" y="2942082"/>
            <a:ext cx="713232" cy="292608"/>
          </a:xfrm>
          <a:prstGeom prst="roundRect">
            <a:avLst>
              <a:gd name="adj" fmla="val 50000"/>
            </a:avLst>
          </a:prstGeom>
          <a:solidFill>
            <a:srgbClr val="A6E3A1">
              <a:alpha val="20000"/>
            </a:srgbClr>
          </a:solidFill>
          <a:ln w="12700">
            <a:solidFill>
              <a:srgbClr val="A6E3A1"/>
            </a:solidFill>
            <a:prstDash val="solid"/>
          </a:ln>
        </p:spPr>
      </p:sp>
      <p:sp>
        <p:nvSpPr>
          <p:cNvPr id="67" name="Text 52"/>
          <p:cNvSpPr/>
          <p:nvPr/>
        </p:nvSpPr>
        <p:spPr>
          <a:xfrm>
            <a:off x="10780776" y="2942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68" name="Shape 53"/>
          <p:cNvSpPr/>
          <p:nvPr/>
        </p:nvSpPr>
        <p:spPr>
          <a:xfrm>
            <a:off x="6135624" y="3406140"/>
            <a:ext cx="5486400" cy="507492"/>
          </a:xfrm>
          <a:prstGeom prst="roundRect">
            <a:avLst>
              <a:gd name="adj" fmla="val 9009"/>
            </a:avLst>
          </a:prstGeom>
          <a:solidFill>
            <a:srgbClr val="232338"/>
          </a:solidFill>
          <a:ln w="12700">
            <a:solidFill>
              <a:srgbClr val="313244"/>
            </a:solidFill>
            <a:prstDash val="solid"/>
          </a:ln>
        </p:spPr>
      </p:sp>
      <p:pic>
        <p:nvPicPr>
          <p:cNvPr id="69" name="Image 13" descr="assets/ic_check.png"/>
          <p:cNvPicPr>
            <a:picLocks noChangeAspect="1"/>
          </p:cNvPicPr>
          <p:nvPr/>
        </p:nvPicPr>
        <p:blipFill>
          <a:blip r:embed="rId3"/>
          <a:stretch>
            <a:fillRect/>
          </a:stretch>
        </p:blipFill>
        <p:spPr>
          <a:xfrm>
            <a:off x="6300216" y="3513582"/>
            <a:ext cx="292608" cy="292608"/>
          </a:xfrm>
          <a:prstGeom prst="rect">
            <a:avLst/>
          </a:prstGeom>
        </p:spPr>
      </p:pic>
      <p:sp>
        <p:nvSpPr>
          <p:cNvPr id="70" name="Text 54"/>
          <p:cNvSpPr/>
          <p:nvPr/>
        </p:nvSpPr>
        <p:spPr>
          <a:xfrm>
            <a:off x="6702552" y="3406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Docker Compose (12 services)</a:t>
            </a:r>
            <a:endParaRPr lang="en-US" sz="1050" dirty="0"/>
          </a:p>
        </p:txBody>
      </p:sp>
      <p:sp>
        <p:nvSpPr>
          <p:cNvPr id="71" name="Shape 55"/>
          <p:cNvSpPr/>
          <p:nvPr/>
        </p:nvSpPr>
        <p:spPr>
          <a:xfrm>
            <a:off x="10780776" y="3513582"/>
            <a:ext cx="713232" cy="292608"/>
          </a:xfrm>
          <a:prstGeom prst="roundRect">
            <a:avLst>
              <a:gd name="adj" fmla="val 50000"/>
            </a:avLst>
          </a:prstGeom>
          <a:solidFill>
            <a:srgbClr val="A6E3A1">
              <a:alpha val="20000"/>
            </a:srgbClr>
          </a:solidFill>
          <a:ln w="12700">
            <a:solidFill>
              <a:srgbClr val="A6E3A1"/>
            </a:solidFill>
            <a:prstDash val="solid"/>
          </a:ln>
        </p:spPr>
      </p:sp>
      <p:sp>
        <p:nvSpPr>
          <p:cNvPr id="72" name="Text 56"/>
          <p:cNvSpPr/>
          <p:nvPr/>
        </p:nvSpPr>
        <p:spPr>
          <a:xfrm>
            <a:off x="10780776" y="3513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73" name="Shape 57"/>
          <p:cNvSpPr/>
          <p:nvPr/>
        </p:nvSpPr>
        <p:spPr>
          <a:xfrm>
            <a:off x="6135624" y="3977640"/>
            <a:ext cx="5486400" cy="507492"/>
          </a:xfrm>
          <a:prstGeom prst="roundRect">
            <a:avLst>
              <a:gd name="adj" fmla="val 9009"/>
            </a:avLst>
          </a:prstGeom>
          <a:solidFill>
            <a:srgbClr val="232338"/>
          </a:solidFill>
          <a:ln w="12700">
            <a:solidFill>
              <a:srgbClr val="313244"/>
            </a:solidFill>
            <a:prstDash val="solid"/>
          </a:ln>
        </p:spPr>
      </p:sp>
      <p:pic>
        <p:nvPicPr>
          <p:cNvPr id="74" name="Image 14" descr="assets/ic_check.png"/>
          <p:cNvPicPr>
            <a:picLocks noChangeAspect="1"/>
          </p:cNvPicPr>
          <p:nvPr/>
        </p:nvPicPr>
        <p:blipFill>
          <a:blip r:embed="rId3"/>
          <a:stretch>
            <a:fillRect/>
          </a:stretch>
        </p:blipFill>
        <p:spPr>
          <a:xfrm>
            <a:off x="6300216" y="4085082"/>
            <a:ext cx="292608" cy="292608"/>
          </a:xfrm>
          <a:prstGeom prst="rect">
            <a:avLst/>
          </a:prstGeom>
        </p:spPr>
      </p:pic>
      <p:sp>
        <p:nvSpPr>
          <p:cNvPr id="75" name="Text 58"/>
          <p:cNvSpPr/>
          <p:nvPr/>
        </p:nvSpPr>
        <p:spPr>
          <a:xfrm>
            <a:off x="6702552" y="3977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Script de démarrage (start.sh) + tests (test.sh)</a:t>
            </a:r>
            <a:endParaRPr lang="en-US" sz="1050" dirty="0"/>
          </a:p>
        </p:txBody>
      </p:sp>
      <p:sp>
        <p:nvSpPr>
          <p:cNvPr id="76" name="Shape 59"/>
          <p:cNvSpPr/>
          <p:nvPr/>
        </p:nvSpPr>
        <p:spPr>
          <a:xfrm>
            <a:off x="10780776" y="4085082"/>
            <a:ext cx="713232" cy="292608"/>
          </a:xfrm>
          <a:prstGeom prst="roundRect">
            <a:avLst>
              <a:gd name="adj" fmla="val 50000"/>
            </a:avLst>
          </a:prstGeom>
          <a:solidFill>
            <a:srgbClr val="A6E3A1">
              <a:alpha val="20000"/>
            </a:srgbClr>
          </a:solidFill>
          <a:ln w="12700">
            <a:solidFill>
              <a:srgbClr val="A6E3A1"/>
            </a:solidFill>
            <a:prstDash val="solid"/>
          </a:ln>
        </p:spPr>
      </p:sp>
      <p:sp>
        <p:nvSpPr>
          <p:cNvPr id="77" name="Text 60"/>
          <p:cNvSpPr/>
          <p:nvPr/>
        </p:nvSpPr>
        <p:spPr>
          <a:xfrm>
            <a:off x="10780776" y="4085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78" name="Shape 61"/>
          <p:cNvSpPr/>
          <p:nvPr/>
        </p:nvSpPr>
        <p:spPr>
          <a:xfrm>
            <a:off x="6135624" y="4549140"/>
            <a:ext cx="5486400" cy="507492"/>
          </a:xfrm>
          <a:prstGeom prst="roundRect">
            <a:avLst>
              <a:gd name="adj" fmla="val 9009"/>
            </a:avLst>
          </a:prstGeom>
          <a:solidFill>
            <a:srgbClr val="232338"/>
          </a:solidFill>
          <a:ln w="12700">
            <a:solidFill>
              <a:srgbClr val="313244"/>
            </a:solidFill>
            <a:prstDash val="solid"/>
          </a:ln>
        </p:spPr>
      </p:sp>
      <p:pic>
        <p:nvPicPr>
          <p:cNvPr id="79" name="Image 15" descr="assets/ic_check.png"/>
          <p:cNvPicPr>
            <a:picLocks noChangeAspect="1"/>
          </p:cNvPicPr>
          <p:nvPr/>
        </p:nvPicPr>
        <p:blipFill>
          <a:blip r:embed="rId3"/>
          <a:stretch>
            <a:fillRect/>
          </a:stretch>
        </p:blipFill>
        <p:spPr>
          <a:xfrm>
            <a:off x="6300216" y="4656582"/>
            <a:ext cx="292608" cy="292608"/>
          </a:xfrm>
          <a:prstGeom prst="rect">
            <a:avLst/>
          </a:prstGeom>
        </p:spPr>
      </p:pic>
      <p:sp>
        <p:nvSpPr>
          <p:cNvPr id="80" name="Text 62"/>
          <p:cNvSpPr/>
          <p:nvPr/>
        </p:nvSpPr>
        <p:spPr>
          <a:xfrm>
            <a:off x="6702552" y="4549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Mécanismes anti-triche</a:t>
            </a:r>
            <a:endParaRPr lang="en-US" sz="1050" dirty="0"/>
          </a:p>
        </p:txBody>
      </p:sp>
      <p:sp>
        <p:nvSpPr>
          <p:cNvPr id="81" name="Shape 63"/>
          <p:cNvSpPr/>
          <p:nvPr/>
        </p:nvSpPr>
        <p:spPr>
          <a:xfrm>
            <a:off x="10780776" y="4656582"/>
            <a:ext cx="713232" cy="292608"/>
          </a:xfrm>
          <a:prstGeom prst="roundRect">
            <a:avLst>
              <a:gd name="adj" fmla="val 50000"/>
            </a:avLst>
          </a:prstGeom>
          <a:solidFill>
            <a:srgbClr val="A6E3A1">
              <a:alpha val="20000"/>
            </a:srgbClr>
          </a:solidFill>
          <a:ln w="12700">
            <a:solidFill>
              <a:srgbClr val="A6E3A1"/>
            </a:solidFill>
            <a:prstDash val="solid"/>
          </a:ln>
        </p:spPr>
      </p:sp>
      <p:sp>
        <p:nvSpPr>
          <p:cNvPr id="82" name="Text 64"/>
          <p:cNvSpPr/>
          <p:nvPr/>
        </p:nvSpPr>
        <p:spPr>
          <a:xfrm>
            <a:off x="10780776" y="46565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sp>
        <p:nvSpPr>
          <p:cNvPr id="83" name="Shape 65"/>
          <p:cNvSpPr/>
          <p:nvPr/>
        </p:nvSpPr>
        <p:spPr>
          <a:xfrm>
            <a:off x="6135624" y="5692140"/>
            <a:ext cx="5486400" cy="507492"/>
          </a:xfrm>
          <a:prstGeom prst="roundRect">
            <a:avLst>
              <a:gd name="adj" fmla="val 9009"/>
            </a:avLst>
          </a:prstGeom>
          <a:solidFill>
            <a:srgbClr val="232338"/>
          </a:solidFill>
          <a:ln w="12700">
            <a:solidFill>
              <a:srgbClr val="313244"/>
            </a:solidFill>
            <a:prstDash val="solid"/>
          </a:ln>
        </p:spPr>
      </p:sp>
      <p:pic>
        <p:nvPicPr>
          <p:cNvPr id="84" name="Image 16" descr="assets/ic_tools.png"/>
          <p:cNvPicPr>
            <a:picLocks noChangeAspect="1"/>
          </p:cNvPicPr>
          <p:nvPr/>
        </p:nvPicPr>
        <p:blipFill>
          <a:blip r:embed="rId4"/>
          <a:stretch>
            <a:fillRect/>
          </a:stretch>
        </p:blipFill>
        <p:spPr>
          <a:xfrm>
            <a:off x="6300216" y="5799582"/>
            <a:ext cx="292608" cy="292608"/>
          </a:xfrm>
          <a:prstGeom prst="rect">
            <a:avLst/>
          </a:prstGeom>
        </p:spPr>
      </p:pic>
      <p:sp>
        <p:nvSpPr>
          <p:cNvPr id="85" name="Text 66"/>
          <p:cNvSpPr/>
          <p:nvPr/>
        </p:nvSpPr>
        <p:spPr>
          <a:xfrm>
            <a:off x="6702552" y="56921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Topics Kafka (pipeline async optionnel)</a:t>
            </a:r>
            <a:endParaRPr lang="en-US" sz="1050" dirty="0"/>
          </a:p>
        </p:txBody>
      </p:sp>
      <p:sp>
        <p:nvSpPr>
          <p:cNvPr id="86" name="Shape 67"/>
          <p:cNvSpPr/>
          <p:nvPr/>
        </p:nvSpPr>
        <p:spPr>
          <a:xfrm>
            <a:off x="10780776" y="5799582"/>
            <a:ext cx="713232" cy="292608"/>
          </a:xfrm>
          <a:prstGeom prst="roundRect">
            <a:avLst>
              <a:gd name="adj" fmla="val 50000"/>
            </a:avLst>
          </a:prstGeom>
          <a:solidFill>
            <a:srgbClr val="F9E2AF">
              <a:alpha val="20000"/>
            </a:srgbClr>
          </a:solidFill>
          <a:ln w="12700">
            <a:solidFill>
              <a:srgbClr val="F9E2AF"/>
            </a:solidFill>
            <a:prstDash val="solid"/>
          </a:ln>
        </p:spPr>
      </p:sp>
      <p:sp>
        <p:nvSpPr>
          <p:cNvPr id="87" name="Text 68"/>
          <p:cNvSpPr/>
          <p:nvPr/>
        </p:nvSpPr>
        <p:spPr>
          <a:xfrm>
            <a:off x="10780776" y="5799582"/>
            <a:ext cx="713232" cy="292608"/>
          </a:xfrm>
          <a:prstGeom prst="rect">
            <a:avLst/>
          </a:prstGeom>
          <a:noFill/>
          <a:ln/>
        </p:spPr>
        <p:txBody>
          <a:bodyPr wrap="square" lIns="0" tIns="0" rIns="0" bIns="0" rtlCol="0" anchor="ctr"/>
          <a:lstStyle/>
          <a:p>
            <a:pPr marL="0" indent="0" algn="ctr">
              <a:buNone/>
            </a:pPr>
            <a:r>
              <a:rPr lang="en-US" sz="800" b="1" dirty="0">
                <a:solidFill>
                  <a:srgbClr val="F9E2AF"/>
                </a:solidFill>
                <a:latin typeface="Calibri" pitchFamily="34" charset="0"/>
                <a:ea typeface="Calibri" pitchFamily="34" charset="-122"/>
                <a:cs typeface="Calibri" pitchFamily="34" charset="-120"/>
              </a:rPr>
              <a:t>En cours</a:t>
            </a:r>
            <a:endParaRPr lang="en-US" sz="800" dirty="0"/>
          </a:p>
        </p:txBody>
      </p:sp>
      <p:sp>
        <p:nvSpPr>
          <p:cNvPr id="93" name="Text 73"/>
          <p:cNvSpPr/>
          <p:nvPr/>
        </p:nvSpPr>
        <p:spPr>
          <a:xfrm>
            <a:off x="6135624" y="6355080"/>
            <a:ext cx="5486400" cy="365760"/>
          </a:xfrm>
          <a:prstGeom prst="rect">
            <a:avLst/>
          </a:prstGeom>
          <a:noFill/>
          <a:ln/>
        </p:spPr>
        <p:txBody>
          <a:bodyPr wrap="square" lIns="0" tIns="0" rIns="0" bIns="0" rtlCol="0" anchor="ctr"/>
          <a:lstStyle/>
          <a:p>
            <a:pPr marL="0" indent="0">
              <a:buNone/>
            </a:pPr>
            <a:r>
              <a:rPr lang="en-US" sz="1500" b="1" dirty="0">
                <a:solidFill>
                  <a:srgbClr val="A6E3A1"/>
                </a:solidFill>
                <a:latin typeface="Calibri" pitchFamily="34" charset="0"/>
                <a:ea typeface="Calibri" pitchFamily="34" charset="-122"/>
                <a:cs typeface="Calibri" pitchFamily="34" charset="-120"/>
              </a:rPr>
              <a:t>16 / 17  </a:t>
            </a:r>
            <a:r>
              <a:rPr lang="en-US" sz="1150" dirty="0">
                <a:solidFill>
                  <a:srgbClr val="BAC2DE"/>
                </a:solidFill>
                <a:latin typeface="Calibri" pitchFamily="34" charset="0"/>
                <a:ea typeface="Calibri" pitchFamily="34" charset="-122"/>
                <a:cs typeface="Calibri" pitchFamily="34" charset="-120"/>
              </a:rPr>
              <a:t>fonctionnalités livrées et opérationnelles  ·  1 en </a:t>
            </a:r>
            <a:r>
              <a:rPr lang="en-US" sz="1150" dirty="0" err="1">
                <a:solidFill>
                  <a:srgbClr val="BAC2DE"/>
                </a:solidFill>
                <a:latin typeface="Calibri" pitchFamily="34" charset="0"/>
                <a:ea typeface="Calibri" pitchFamily="34" charset="-122"/>
                <a:cs typeface="Calibri" pitchFamily="34" charset="-120"/>
              </a:rPr>
              <a:t>cours</a:t>
            </a:r>
            <a:r>
              <a:rPr lang="en-US" sz="1150" dirty="0">
                <a:solidFill>
                  <a:srgbClr val="BAC2DE"/>
                </a:solidFill>
                <a:latin typeface="Calibri" pitchFamily="34" charset="0"/>
                <a:ea typeface="Calibri" pitchFamily="34" charset="-122"/>
                <a:cs typeface="Calibri" pitchFamily="34" charset="-120"/>
              </a:rPr>
              <a:t> (Kafka async)</a:t>
            </a:r>
            <a:endParaRPr lang="en-US" sz="1500" dirty="0"/>
          </a:p>
        </p:txBody>
      </p:sp>
      <p:sp>
        <p:nvSpPr>
          <p:cNvPr id="94" name="Shape 69">
            <a:extLst>
              <a:ext uri="{FF2B5EF4-FFF2-40B4-BE49-F238E27FC236}">
                <a16:creationId xmlns:a16="http://schemas.microsoft.com/office/drawing/2014/main" id="{61512947-0D46-4928-CCEB-CB244F8E7F51}"/>
              </a:ext>
            </a:extLst>
          </p:cNvPr>
          <p:cNvSpPr/>
          <p:nvPr/>
        </p:nvSpPr>
        <p:spPr>
          <a:xfrm>
            <a:off x="6135624" y="5120640"/>
            <a:ext cx="5486400" cy="507492"/>
          </a:xfrm>
          <a:prstGeom prst="roundRect">
            <a:avLst>
              <a:gd name="adj" fmla="val 9009"/>
            </a:avLst>
          </a:prstGeom>
          <a:solidFill>
            <a:srgbClr val="232338"/>
          </a:solidFill>
          <a:ln w="12700">
            <a:solidFill>
              <a:srgbClr val="313244"/>
            </a:solidFill>
            <a:prstDash val="solid"/>
          </a:ln>
        </p:spPr>
      </p:sp>
      <p:sp>
        <p:nvSpPr>
          <p:cNvPr id="96" name="Text 70">
            <a:extLst>
              <a:ext uri="{FF2B5EF4-FFF2-40B4-BE49-F238E27FC236}">
                <a16:creationId xmlns:a16="http://schemas.microsoft.com/office/drawing/2014/main" id="{F4499523-A3EC-11C6-3764-CB027FF7180E}"/>
              </a:ext>
            </a:extLst>
          </p:cNvPr>
          <p:cNvSpPr/>
          <p:nvPr/>
        </p:nvSpPr>
        <p:spPr>
          <a:xfrm>
            <a:off x="6702552" y="5120640"/>
            <a:ext cx="4069080" cy="507492"/>
          </a:xfrm>
          <a:prstGeom prst="rect">
            <a:avLst/>
          </a:prstGeom>
          <a:noFill/>
          <a:ln/>
        </p:spPr>
        <p:txBody>
          <a:bodyPr wrap="square" lIns="0" tIns="0" rIns="0" bIns="0" rtlCol="0" anchor="ctr"/>
          <a:lstStyle/>
          <a:p>
            <a:pPr marL="0" indent="0">
              <a:lnSpc>
                <a:spcPct val="95000"/>
              </a:lnSpc>
              <a:buNone/>
            </a:pPr>
            <a:r>
              <a:rPr lang="en-US" sz="1050" dirty="0">
                <a:solidFill>
                  <a:srgbClr val="CDD6F4"/>
                </a:solidFill>
                <a:latin typeface="Calibri" pitchFamily="34" charset="0"/>
                <a:ea typeface="Calibri" pitchFamily="34" charset="-122"/>
                <a:cs typeface="Calibri" pitchFamily="34" charset="-120"/>
              </a:rPr>
              <a:t>pgvector / service RAG — ingestion à câbler</a:t>
            </a:r>
            <a:endParaRPr lang="en-US" sz="1050" dirty="0"/>
          </a:p>
        </p:txBody>
      </p:sp>
      <p:sp>
        <p:nvSpPr>
          <p:cNvPr id="99" name="Shape 63">
            <a:extLst>
              <a:ext uri="{FF2B5EF4-FFF2-40B4-BE49-F238E27FC236}">
                <a16:creationId xmlns:a16="http://schemas.microsoft.com/office/drawing/2014/main" id="{2A427356-6941-7A6B-2FD0-3CA7EB59F7E4}"/>
              </a:ext>
            </a:extLst>
          </p:cNvPr>
          <p:cNvSpPr/>
          <p:nvPr/>
        </p:nvSpPr>
        <p:spPr>
          <a:xfrm>
            <a:off x="10780776" y="5228082"/>
            <a:ext cx="713232" cy="292608"/>
          </a:xfrm>
          <a:prstGeom prst="roundRect">
            <a:avLst>
              <a:gd name="adj" fmla="val 50000"/>
            </a:avLst>
          </a:prstGeom>
          <a:solidFill>
            <a:srgbClr val="A6E3A1">
              <a:alpha val="20000"/>
            </a:srgbClr>
          </a:solidFill>
          <a:ln w="12700">
            <a:solidFill>
              <a:srgbClr val="A6E3A1"/>
            </a:solidFill>
            <a:prstDash val="solid"/>
          </a:ln>
        </p:spPr>
      </p:sp>
      <p:sp>
        <p:nvSpPr>
          <p:cNvPr id="100" name="Text 64">
            <a:extLst>
              <a:ext uri="{FF2B5EF4-FFF2-40B4-BE49-F238E27FC236}">
                <a16:creationId xmlns:a16="http://schemas.microsoft.com/office/drawing/2014/main" id="{6818236C-56D1-ABE2-4A2B-A38C15018C6F}"/>
              </a:ext>
            </a:extLst>
          </p:cNvPr>
          <p:cNvSpPr/>
          <p:nvPr/>
        </p:nvSpPr>
        <p:spPr>
          <a:xfrm>
            <a:off x="10780776" y="5228082"/>
            <a:ext cx="713232" cy="292608"/>
          </a:xfrm>
          <a:prstGeom prst="rect">
            <a:avLst/>
          </a:prstGeom>
          <a:noFill/>
          <a:ln/>
        </p:spPr>
        <p:txBody>
          <a:bodyPr wrap="square" lIns="0" tIns="0" rIns="0" bIns="0" rtlCol="0" anchor="ctr"/>
          <a:lstStyle/>
          <a:p>
            <a:pPr marL="0" indent="0" algn="ctr">
              <a:buNone/>
            </a:pPr>
            <a:r>
              <a:rPr lang="en-US" sz="800" b="1" dirty="0">
                <a:solidFill>
                  <a:srgbClr val="A6E3A1"/>
                </a:solidFill>
                <a:latin typeface="Calibri" pitchFamily="34" charset="0"/>
                <a:ea typeface="Calibri" pitchFamily="34" charset="-122"/>
                <a:cs typeface="Calibri" pitchFamily="34" charset="-120"/>
              </a:rPr>
              <a:t>Complet</a:t>
            </a:r>
            <a:endParaRPr lang="en-US" sz="800" dirty="0"/>
          </a:p>
        </p:txBody>
      </p:sp>
      <p:pic>
        <p:nvPicPr>
          <p:cNvPr id="101" name="Image 15" descr="assets/ic_check.png">
            <a:extLst>
              <a:ext uri="{FF2B5EF4-FFF2-40B4-BE49-F238E27FC236}">
                <a16:creationId xmlns:a16="http://schemas.microsoft.com/office/drawing/2014/main" id="{C4577150-5265-3BF3-C50C-8D0EFD8241C8}"/>
              </a:ext>
            </a:extLst>
          </p:cNvPr>
          <p:cNvPicPr>
            <a:picLocks noChangeAspect="1"/>
          </p:cNvPicPr>
          <p:nvPr/>
        </p:nvPicPr>
        <p:blipFill>
          <a:blip r:embed="rId3"/>
          <a:stretch>
            <a:fillRect/>
          </a:stretch>
        </p:blipFill>
        <p:spPr>
          <a:xfrm>
            <a:off x="6299735" y="5220261"/>
            <a:ext cx="292608" cy="292608"/>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66928"/>
            <a:ext cx="566928" cy="566928"/>
          </a:xfrm>
          <a:prstGeom prst="roundRect">
            <a:avLst>
              <a:gd name="adj" fmla="val 19355"/>
            </a:avLst>
          </a:prstGeom>
          <a:solidFill>
            <a:srgbClr val="1E1E2E"/>
          </a:solidFill>
          <a:ln w="12700">
            <a:solidFill>
              <a:srgbClr val="FAB387"/>
            </a:solidFill>
            <a:prstDash val="solid"/>
          </a:ln>
        </p:spPr>
      </p:sp>
      <p:pic>
        <p:nvPicPr>
          <p:cNvPr id="3" name="Image 0" descr="assets/ic_star.png"/>
          <p:cNvPicPr>
            <a:picLocks noChangeAspect="1"/>
          </p:cNvPicPr>
          <p:nvPr/>
        </p:nvPicPr>
        <p:blipFill>
          <a:blip r:embed="rId4"/>
          <a:stretch>
            <a:fillRect/>
          </a:stretch>
        </p:blipFill>
        <p:spPr>
          <a:xfrm>
            <a:off x="777240" y="704088"/>
            <a:ext cx="292608" cy="292608"/>
          </a:xfrm>
          <a:prstGeom prst="rect">
            <a:avLst/>
          </a:prstGeom>
        </p:spPr>
      </p:pic>
      <p:sp>
        <p:nvSpPr>
          <p:cNvPr id="4" name="Text 1"/>
          <p:cNvSpPr/>
          <p:nvPr/>
        </p:nvSpPr>
        <p:spPr>
          <a:xfrm>
            <a:off x="1371600" y="603504"/>
            <a:ext cx="64008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7680960" y="1371600"/>
            <a:ext cx="4114800" cy="4023360"/>
          </a:xfrm>
          <a:prstGeom prst="rect">
            <a:avLst/>
          </a:prstGeom>
          <a:noFill/>
          <a:ln/>
        </p:spPr>
        <p:txBody>
          <a:bodyPr wrap="square" lIns="0" tIns="0" rIns="0" bIns="0" rtlCol="0" anchor="ctr"/>
          <a:lstStyle/>
          <a:p>
            <a:pPr marL="0" indent="0" algn="r">
              <a:buNone/>
            </a:pPr>
            <a:r>
              <a:rPr lang="en-US" sz="23000" b="1" dirty="0">
                <a:solidFill>
                  <a:srgbClr val="45475A"/>
                </a:solidFill>
                <a:latin typeface="Georgia" pitchFamily="34" charset="0"/>
                <a:ea typeface="Georgia" pitchFamily="34" charset="-122"/>
                <a:cs typeface="Georgia" pitchFamily="34" charset="-120"/>
              </a:rPr>
              <a:t>06</a:t>
            </a:r>
            <a:endParaRPr lang="en-US" sz="23000" dirty="0"/>
          </a:p>
        </p:txBody>
      </p:sp>
      <p:sp>
        <p:nvSpPr>
          <p:cNvPr id="6" name="Text 3"/>
          <p:cNvSpPr/>
          <p:nvPr/>
        </p:nvSpPr>
        <p:spPr>
          <a:xfrm>
            <a:off x="658368" y="2542032"/>
            <a:ext cx="6400800" cy="320040"/>
          </a:xfrm>
          <a:prstGeom prst="rect">
            <a:avLst/>
          </a:prstGeom>
          <a:noFill/>
          <a:ln/>
        </p:spPr>
        <p:txBody>
          <a:bodyPr wrap="square" lIns="0" tIns="0" rIns="0" bIns="0" rtlCol="0" anchor="ctr"/>
          <a:lstStyle/>
          <a:p>
            <a:pPr marL="0" indent="0">
              <a:buNone/>
            </a:pPr>
            <a:r>
              <a:rPr lang="en-US" sz="1400" b="1" kern="0" spc="300" dirty="0">
                <a:solidFill>
                  <a:srgbClr val="FAB387"/>
                </a:solidFill>
                <a:latin typeface="Calibri" pitchFamily="34" charset="0"/>
                <a:ea typeface="Calibri" pitchFamily="34" charset="-122"/>
                <a:cs typeface="Calibri" pitchFamily="34" charset="-120"/>
              </a:rPr>
              <a:t>PARTIE 06   /   06</a:t>
            </a:r>
            <a:endParaRPr lang="en-US" sz="1400" dirty="0"/>
          </a:p>
        </p:txBody>
      </p:sp>
      <p:sp>
        <p:nvSpPr>
          <p:cNvPr id="7" name="Text 4"/>
          <p:cNvSpPr/>
          <p:nvPr/>
        </p:nvSpPr>
        <p:spPr>
          <a:xfrm>
            <a:off x="603504" y="2907792"/>
            <a:ext cx="7863840" cy="1280160"/>
          </a:xfrm>
          <a:prstGeom prst="rect">
            <a:avLst/>
          </a:prstGeom>
          <a:noFill/>
          <a:ln/>
        </p:spPr>
        <p:txBody>
          <a:bodyPr wrap="square" lIns="0" tIns="0" rIns="0" bIns="0" rtlCol="0" anchor="ctr"/>
          <a:lstStyle/>
          <a:p>
            <a:pPr marL="0" indent="0">
              <a:lnSpc>
                <a:spcPct val="98000"/>
              </a:lnSpc>
              <a:buNone/>
            </a:pPr>
            <a:r>
              <a:rPr lang="en-US" sz="4400" b="1" dirty="0">
                <a:solidFill>
                  <a:srgbClr val="CDD6F4"/>
                </a:solidFill>
                <a:latin typeface="Georgia" pitchFamily="34" charset="0"/>
                <a:ea typeface="Georgia" pitchFamily="34" charset="-122"/>
                <a:cs typeface="Georgia" pitchFamily="34" charset="-120"/>
              </a:rPr>
              <a:t>Conclusion</a:t>
            </a:r>
            <a:endParaRPr lang="en-US" sz="4400" dirty="0"/>
          </a:p>
        </p:txBody>
      </p:sp>
      <p:sp>
        <p:nvSpPr>
          <p:cNvPr id="8" name="Shape 5"/>
          <p:cNvSpPr/>
          <p:nvPr/>
        </p:nvSpPr>
        <p:spPr>
          <a:xfrm>
            <a:off x="658368" y="4114800"/>
            <a:ext cx="1554480" cy="54864"/>
          </a:xfrm>
          <a:prstGeom prst="rect">
            <a:avLst/>
          </a:prstGeom>
          <a:solidFill>
            <a:srgbClr val="FAB387"/>
          </a:solidFill>
          <a:ln/>
        </p:spPr>
      </p:sp>
      <p:sp>
        <p:nvSpPr>
          <p:cNvPr id="9" name="Text 6"/>
          <p:cNvSpPr/>
          <p:nvPr/>
        </p:nvSpPr>
        <p:spPr>
          <a:xfrm>
            <a:off x="658368" y="4297680"/>
            <a:ext cx="7315200" cy="822960"/>
          </a:xfrm>
          <a:prstGeom prst="rect">
            <a:avLst/>
          </a:prstGeom>
          <a:noFill/>
          <a:ln/>
        </p:spPr>
        <p:txBody>
          <a:bodyPr wrap="square" lIns="0" tIns="0" rIns="0" bIns="0" rtlCol="0" anchor="ctr"/>
          <a:lstStyle/>
          <a:p>
            <a:pPr marL="0" indent="0">
              <a:lnSpc>
                <a:spcPct val="115000"/>
              </a:lnSpc>
              <a:buNone/>
            </a:pPr>
            <a:r>
              <a:rPr lang="en-US" sz="1450" dirty="0">
                <a:solidFill>
                  <a:srgbClr val="BAC2DE"/>
                </a:solidFill>
                <a:latin typeface="Calibri" pitchFamily="34" charset="0"/>
                <a:ea typeface="Calibri" pitchFamily="34" charset="-122"/>
                <a:cs typeface="Calibri" pitchFamily="34" charset="-120"/>
              </a:rPr>
              <a:t>Les apports du projet, les défis techniques rencontrés et les perspectives d'évolution de la plateforme.</a:t>
            </a:r>
            <a:endParaRPr lang="en-US" sz="14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FAB387"/>
            </a:solidFill>
            <a:prstDash val="solid"/>
          </a:ln>
        </p:spPr>
      </p:sp>
      <p:pic>
        <p:nvPicPr>
          <p:cNvPr id="3" name="Image 0" descr="assets/ic_bol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FAB387"/>
                </a:solidFill>
                <a:latin typeface="Calibri" pitchFamily="34" charset="0"/>
                <a:ea typeface="Calibri" pitchFamily="34" charset="-122"/>
                <a:cs typeface="Calibri" pitchFamily="34" charset="-120"/>
              </a:rPr>
              <a:t>CONCLUSION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Apports du projet</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20</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783080"/>
            <a:ext cx="5440680" cy="1783080"/>
          </a:xfrm>
          <a:prstGeom prst="roundRect">
            <a:avLst>
              <a:gd name="adj" fmla="val 4615"/>
            </a:avLst>
          </a:prstGeom>
          <a:solidFill>
            <a:srgbClr val="1E1E2E"/>
          </a:solidFill>
          <a:ln w="15875">
            <a:solidFill>
              <a:srgbClr val="CBA6F7"/>
            </a:solidFill>
            <a:prstDash val="solid"/>
          </a:ln>
          <a:effectLst>
            <a:outerShdw blurRad="114300" dist="38100" dir="5400000" algn="bl" rotWithShape="0">
              <a:srgbClr val="000000">
                <a:alpha val="35000"/>
              </a:srgbClr>
            </a:outerShdw>
          </a:effectLst>
        </p:spPr>
      </p:sp>
      <p:sp>
        <p:nvSpPr>
          <p:cNvPr id="9" name="Shape 6"/>
          <p:cNvSpPr/>
          <p:nvPr/>
        </p:nvSpPr>
        <p:spPr>
          <a:xfrm>
            <a:off x="786384" y="2039112"/>
            <a:ext cx="566928" cy="566928"/>
          </a:xfrm>
          <a:prstGeom prst="roundRect">
            <a:avLst>
              <a:gd name="adj" fmla="val 20968"/>
            </a:avLst>
          </a:prstGeom>
          <a:solidFill>
            <a:srgbClr val="232338"/>
          </a:solidFill>
          <a:ln w="12700">
            <a:solidFill>
              <a:srgbClr val="CBA6F7"/>
            </a:solidFill>
            <a:prstDash val="solid"/>
          </a:ln>
        </p:spPr>
      </p:sp>
      <p:pic>
        <p:nvPicPr>
          <p:cNvPr id="10" name="Image 1" descr="assets/ic_robot.png"/>
          <p:cNvPicPr>
            <a:picLocks noChangeAspect="1"/>
          </p:cNvPicPr>
          <p:nvPr/>
        </p:nvPicPr>
        <p:blipFill>
          <a:blip r:embed="rId4"/>
          <a:stretch>
            <a:fillRect/>
          </a:stretch>
        </p:blipFill>
        <p:spPr>
          <a:xfrm>
            <a:off x="932688" y="2185416"/>
            <a:ext cx="274320" cy="274320"/>
          </a:xfrm>
          <a:prstGeom prst="rect">
            <a:avLst/>
          </a:prstGeom>
        </p:spPr>
      </p:pic>
      <p:sp>
        <p:nvSpPr>
          <p:cNvPr id="11" name="Text 7"/>
          <p:cNvSpPr/>
          <p:nvPr/>
        </p:nvSpPr>
        <p:spPr>
          <a:xfrm>
            <a:off x="1499616" y="2039112"/>
            <a:ext cx="4297680" cy="365760"/>
          </a:xfrm>
          <a:prstGeom prst="rect">
            <a:avLst/>
          </a:prstGeom>
          <a:noFill/>
          <a:ln/>
        </p:spPr>
        <p:txBody>
          <a:bodyPr wrap="square" lIns="0" tIns="0" rIns="0" bIns="0" rtlCol="0" anchor="ctr"/>
          <a:lstStyle/>
          <a:p>
            <a:pPr marL="0" indent="0">
              <a:buNone/>
            </a:pPr>
            <a:r>
              <a:rPr lang="en-US" sz="1700" b="1" dirty="0">
                <a:solidFill>
                  <a:srgbClr val="CBA6F7"/>
                </a:solidFill>
                <a:latin typeface="Georgia" pitchFamily="34" charset="0"/>
                <a:ea typeface="Georgia" pitchFamily="34" charset="-122"/>
                <a:cs typeface="Georgia" pitchFamily="34" charset="-120"/>
              </a:rPr>
              <a:t>Un modèle par agent</a:t>
            </a:r>
            <a:endParaRPr lang="en-US" sz="1700" dirty="0"/>
          </a:p>
        </p:txBody>
      </p:sp>
      <p:sp>
        <p:nvSpPr>
          <p:cNvPr id="12" name="Text 8"/>
          <p:cNvSpPr/>
          <p:nvPr/>
        </p:nvSpPr>
        <p:spPr>
          <a:xfrm>
            <a:off x="1499616" y="2441448"/>
            <a:ext cx="4297680" cy="1005840"/>
          </a:xfrm>
          <a:prstGeom prst="rect">
            <a:avLst/>
          </a:prstGeom>
          <a:noFill/>
          <a:ln/>
        </p:spPr>
        <p:txBody>
          <a:bodyPr wrap="square" lIns="0" tIns="0" rIns="0" bIns="0" rtlCol="0" anchor="ctr"/>
          <a:lstStyle/>
          <a:p>
            <a:pPr marL="0" indent="0">
              <a:lnSpc>
                <a:spcPct val="112000"/>
              </a:lnSpc>
              <a:buNone/>
            </a:pPr>
            <a:r>
              <a:rPr lang="en-US" sz="1200" dirty="0">
                <a:solidFill>
                  <a:srgbClr val="BAC2DE"/>
                </a:solidFill>
                <a:latin typeface="Calibri" pitchFamily="34" charset="0"/>
                <a:ea typeface="Calibri" pitchFamily="34" charset="-122"/>
                <a:cs typeface="Calibri" pitchFamily="34" charset="-120"/>
              </a:rPr>
              <a:t>Chaque agent exécute un LLM optimisé pour sa tâche : modèle de code pour les indices, modèle d'instruction pour les explications, modèle de raisonnement pour l'évaluation.</a:t>
            </a:r>
            <a:endParaRPr lang="en-US" sz="1200" dirty="0"/>
          </a:p>
        </p:txBody>
      </p:sp>
      <p:sp>
        <p:nvSpPr>
          <p:cNvPr id="13" name="Shape 9"/>
          <p:cNvSpPr/>
          <p:nvPr/>
        </p:nvSpPr>
        <p:spPr>
          <a:xfrm>
            <a:off x="6172200" y="1783080"/>
            <a:ext cx="5440680" cy="1783080"/>
          </a:xfrm>
          <a:prstGeom prst="roundRect">
            <a:avLst>
              <a:gd name="adj" fmla="val 4615"/>
            </a:avLst>
          </a:prstGeom>
          <a:solidFill>
            <a:srgbClr val="1E1E2E"/>
          </a:solidFill>
          <a:ln w="15875">
            <a:solidFill>
              <a:srgbClr val="89B4FA"/>
            </a:solidFill>
            <a:prstDash val="solid"/>
          </a:ln>
          <a:effectLst>
            <a:outerShdw blurRad="114300" dist="38100" dir="5400000" algn="bl" rotWithShape="0">
              <a:srgbClr val="000000">
                <a:alpha val="35000"/>
              </a:srgbClr>
            </a:outerShdw>
          </a:effectLst>
        </p:spPr>
      </p:sp>
      <p:sp>
        <p:nvSpPr>
          <p:cNvPr id="14" name="Shape 10"/>
          <p:cNvSpPr/>
          <p:nvPr/>
        </p:nvSpPr>
        <p:spPr>
          <a:xfrm>
            <a:off x="6391656" y="2039112"/>
            <a:ext cx="566928" cy="566928"/>
          </a:xfrm>
          <a:prstGeom prst="roundRect">
            <a:avLst>
              <a:gd name="adj" fmla="val 20968"/>
            </a:avLst>
          </a:prstGeom>
          <a:solidFill>
            <a:srgbClr val="232338"/>
          </a:solidFill>
          <a:ln w="12700">
            <a:solidFill>
              <a:srgbClr val="89B4FA"/>
            </a:solidFill>
            <a:prstDash val="solid"/>
          </a:ln>
        </p:spPr>
      </p:sp>
      <p:pic>
        <p:nvPicPr>
          <p:cNvPr id="15" name="Image 2" descr="assets/ic_tools.png"/>
          <p:cNvPicPr>
            <a:picLocks noChangeAspect="1"/>
          </p:cNvPicPr>
          <p:nvPr/>
        </p:nvPicPr>
        <p:blipFill>
          <a:blip r:embed="rId5"/>
          <a:stretch>
            <a:fillRect/>
          </a:stretch>
        </p:blipFill>
        <p:spPr>
          <a:xfrm>
            <a:off x="6537960" y="2185416"/>
            <a:ext cx="274320" cy="274320"/>
          </a:xfrm>
          <a:prstGeom prst="rect">
            <a:avLst/>
          </a:prstGeom>
        </p:spPr>
      </p:pic>
      <p:sp>
        <p:nvSpPr>
          <p:cNvPr id="16" name="Text 11"/>
          <p:cNvSpPr/>
          <p:nvPr/>
        </p:nvSpPr>
        <p:spPr>
          <a:xfrm>
            <a:off x="7104888" y="2039112"/>
            <a:ext cx="4297680" cy="365760"/>
          </a:xfrm>
          <a:prstGeom prst="rect">
            <a:avLst/>
          </a:prstGeom>
          <a:noFill/>
          <a:ln/>
        </p:spPr>
        <p:txBody>
          <a:bodyPr wrap="square" lIns="0" tIns="0" rIns="0" bIns="0" rtlCol="0" anchor="ctr"/>
          <a:lstStyle/>
          <a:p>
            <a:pPr marL="0" indent="0">
              <a:buNone/>
            </a:pPr>
            <a:r>
              <a:rPr lang="en-US" sz="1700" b="1" dirty="0">
                <a:solidFill>
                  <a:srgbClr val="89B4FA"/>
                </a:solidFill>
                <a:latin typeface="Georgia" pitchFamily="34" charset="0"/>
                <a:ea typeface="Georgia" pitchFamily="34" charset="-122"/>
                <a:cs typeface="Georgia" pitchFamily="34" charset="-120"/>
              </a:rPr>
              <a:t>Outils LangGraph</a:t>
            </a:r>
            <a:endParaRPr lang="en-US" sz="1700" dirty="0"/>
          </a:p>
        </p:txBody>
      </p:sp>
      <p:sp>
        <p:nvSpPr>
          <p:cNvPr id="17" name="Text 12"/>
          <p:cNvSpPr/>
          <p:nvPr/>
        </p:nvSpPr>
        <p:spPr>
          <a:xfrm>
            <a:off x="7104888" y="2441448"/>
            <a:ext cx="4297680" cy="1005840"/>
          </a:xfrm>
          <a:prstGeom prst="rect">
            <a:avLst/>
          </a:prstGeom>
          <a:noFill/>
          <a:ln/>
        </p:spPr>
        <p:txBody>
          <a:bodyPr wrap="square" lIns="0" tIns="0" rIns="0" bIns="0" rtlCol="0" anchor="ctr"/>
          <a:lstStyle/>
          <a:p>
            <a:pPr marL="0" indent="0">
              <a:lnSpc>
                <a:spcPct val="112000"/>
              </a:lnSpc>
              <a:buNone/>
            </a:pPr>
            <a:r>
              <a:rPr lang="en-US" sz="1200" dirty="0">
                <a:solidFill>
                  <a:srgbClr val="BAC2DE"/>
                </a:solidFill>
                <a:latin typeface="Calibri" pitchFamily="34" charset="0"/>
                <a:ea typeface="Calibri" pitchFamily="34" charset="-122"/>
                <a:cs typeface="Calibri" pitchFamily="34" charset="-120"/>
              </a:rPr>
              <a:t>Les agents utilisent des outils structurés qui façonnent leurs sorties — pas du simple prompting brut.</a:t>
            </a:r>
            <a:endParaRPr lang="en-US" sz="1200" dirty="0"/>
          </a:p>
        </p:txBody>
      </p:sp>
      <p:sp>
        <p:nvSpPr>
          <p:cNvPr id="18" name="Shape 13"/>
          <p:cNvSpPr/>
          <p:nvPr/>
        </p:nvSpPr>
        <p:spPr>
          <a:xfrm>
            <a:off x="566928" y="3749040"/>
            <a:ext cx="5440680" cy="1783080"/>
          </a:xfrm>
          <a:prstGeom prst="roundRect">
            <a:avLst>
              <a:gd name="adj" fmla="val 4615"/>
            </a:avLst>
          </a:prstGeom>
          <a:solidFill>
            <a:srgbClr val="1E1E2E"/>
          </a:solidFill>
          <a:ln w="15875">
            <a:solidFill>
              <a:srgbClr val="A6E3A1"/>
            </a:solidFill>
            <a:prstDash val="solid"/>
          </a:ln>
          <a:effectLst>
            <a:outerShdw blurRad="114300" dist="38100" dir="5400000" algn="bl" rotWithShape="0">
              <a:srgbClr val="000000">
                <a:alpha val="35000"/>
              </a:srgbClr>
            </a:outerShdw>
          </a:effectLst>
        </p:spPr>
      </p:sp>
      <p:sp>
        <p:nvSpPr>
          <p:cNvPr id="19" name="Shape 14"/>
          <p:cNvSpPr/>
          <p:nvPr/>
        </p:nvSpPr>
        <p:spPr>
          <a:xfrm>
            <a:off x="786384" y="4005072"/>
            <a:ext cx="566928" cy="566928"/>
          </a:xfrm>
          <a:prstGeom prst="roundRect">
            <a:avLst>
              <a:gd name="adj" fmla="val 20968"/>
            </a:avLst>
          </a:prstGeom>
          <a:solidFill>
            <a:srgbClr val="232338"/>
          </a:solidFill>
          <a:ln w="12700">
            <a:solidFill>
              <a:srgbClr val="A6E3A1"/>
            </a:solidFill>
            <a:prstDash val="solid"/>
          </a:ln>
        </p:spPr>
      </p:sp>
      <p:pic>
        <p:nvPicPr>
          <p:cNvPr id="20" name="Image 3" descr="assets/ic_shield.png"/>
          <p:cNvPicPr>
            <a:picLocks noChangeAspect="1"/>
          </p:cNvPicPr>
          <p:nvPr/>
        </p:nvPicPr>
        <p:blipFill>
          <a:blip r:embed="rId6"/>
          <a:stretch>
            <a:fillRect/>
          </a:stretch>
        </p:blipFill>
        <p:spPr>
          <a:xfrm>
            <a:off x="932688" y="4151376"/>
            <a:ext cx="274320" cy="274320"/>
          </a:xfrm>
          <a:prstGeom prst="rect">
            <a:avLst/>
          </a:prstGeom>
        </p:spPr>
      </p:pic>
      <p:sp>
        <p:nvSpPr>
          <p:cNvPr id="21" name="Text 15"/>
          <p:cNvSpPr/>
          <p:nvPr/>
        </p:nvSpPr>
        <p:spPr>
          <a:xfrm>
            <a:off x="1499616" y="4005072"/>
            <a:ext cx="4297680" cy="365760"/>
          </a:xfrm>
          <a:prstGeom prst="rect">
            <a:avLst/>
          </a:prstGeom>
          <a:noFill/>
          <a:ln/>
        </p:spPr>
        <p:txBody>
          <a:bodyPr wrap="square" lIns="0" tIns="0" rIns="0" bIns="0" rtlCol="0" anchor="ctr"/>
          <a:lstStyle/>
          <a:p>
            <a:pPr marL="0" indent="0">
              <a:buNone/>
            </a:pPr>
            <a:r>
              <a:rPr lang="en-US" sz="1700" b="1" dirty="0">
                <a:solidFill>
                  <a:srgbClr val="A6E3A1"/>
                </a:solidFill>
                <a:latin typeface="Georgia" pitchFamily="34" charset="0"/>
                <a:ea typeface="Georgia" pitchFamily="34" charset="-122"/>
                <a:cs typeface="Georgia" pitchFamily="34" charset="-120"/>
              </a:rPr>
              <a:t>Repli hors-ligne</a:t>
            </a:r>
            <a:endParaRPr lang="en-US" sz="1700" dirty="0"/>
          </a:p>
        </p:txBody>
      </p:sp>
      <p:sp>
        <p:nvSpPr>
          <p:cNvPr id="22" name="Text 16"/>
          <p:cNvSpPr/>
          <p:nvPr/>
        </p:nvSpPr>
        <p:spPr>
          <a:xfrm>
            <a:off x="1499616" y="4407408"/>
            <a:ext cx="4297680" cy="1005840"/>
          </a:xfrm>
          <a:prstGeom prst="rect">
            <a:avLst/>
          </a:prstGeom>
          <a:noFill/>
          <a:ln/>
        </p:spPr>
        <p:txBody>
          <a:bodyPr wrap="square" lIns="0" tIns="0" rIns="0" bIns="0" rtlCol="0" anchor="ctr"/>
          <a:lstStyle/>
          <a:p>
            <a:pPr marL="0" indent="0">
              <a:lnSpc>
                <a:spcPct val="112000"/>
              </a:lnSpc>
              <a:buNone/>
            </a:pPr>
            <a:r>
              <a:rPr lang="en-US" sz="1200" dirty="0">
                <a:solidFill>
                  <a:srgbClr val="BAC2DE"/>
                </a:solidFill>
                <a:latin typeface="Calibri" pitchFamily="34" charset="0"/>
                <a:ea typeface="Calibri" pitchFamily="34" charset="-122"/>
                <a:cs typeface="Calibri" pitchFamily="34" charset="-120"/>
              </a:rPr>
              <a:t>Les 3 composants front (Chat, HintBox, Quiz) détectent la disponibilité des agents et basculent sur une logique locale déterministe.</a:t>
            </a:r>
            <a:endParaRPr lang="en-US" sz="1200" dirty="0"/>
          </a:p>
        </p:txBody>
      </p:sp>
      <p:sp>
        <p:nvSpPr>
          <p:cNvPr id="23" name="Shape 17"/>
          <p:cNvSpPr/>
          <p:nvPr/>
        </p:nvSpPr>
        <p:spPr>
          <a:xfrm>
            <a:off x="6172200" y="3749040"/>
            <a:ext cx="5440680" cy="1783080"/>
          </a:xfrm>
          <a:prstGeom prst="roundRect">
            <a:avLst>
              <a:gd name="adj" fmla="val 4615"/>
            </a:avLst>
          </a:prstGeom>
          <a:solidFill>
            <a:srgbClr val="1E1E2E"/>
          </a:solidFill>
          <a:ln w="15875">
            <a:solidFill>
              <a:srgbClr val="FAB387"/>
            </a:solidFill>
            <a:prstDash val="solid"/>
          </a:ln>
          <a:effectLst>
            <a:outerShdw blurRad="114300" dist="38100" dir="5400000" algn="bl" rotWithShape="0">
              <a:srgbClr val="000000">
                <a:alpha val="35000"/>
              </a:srgbClr>
            </a:outerShdw>
          </a:effectLst>
        </p:spPr>
      </p:sp>
      <p:sp>
        <p:nvSpPr>
          <p:cNvPr id="24" name="Shape 18"/>
          <p:cNvSpPr/>
          <p:nvPr/>
        </p:nvSpPr>
        <p:spPr>
          <a:xfrm>
            <a:off x="6391656" y="4005072"/>
            <a:ext cx="566928" cy="566928"/>
          </a:xfrm>
          <a:prstGeom prst="roundRect">
            <a:avLst>
              <a:gd name="adj" fmla="val 20968"/>
            </a:avLst>
          </a:prstGeom>
          <a:solidFill>
            <a:srgbClr val="232338"/>
          </a:solidFill>
          <a:ln w="12700">
            <a:solidFill>
              <a:srgbClr val="FAB387"/>
            </a:solidFill>
            <a:prstDash val="solid"/>
          </a:ln>
        </p:spPr>
      </p:sp>
      <p:pic>
        <p:nvPicPr>
          <p:cNvPr id="25" name="Image 4" descr="assets/ic_check.png"/>
          <p:cNvPicPr>
            <a:picLocks noChangeAspect="1"/>
          </p:cNvPicPr>
          <p:nvPr/>
        </p:nvPicPr>
        <p:blipFill>
          <a:blip r:embed="rId7"/>
          <a:stretch>
            <a:fillRect/>
          </a:stretch>
        </p:blipFill>
        <p:spPr>
          <a:xfrm>
            <a:off x="6537960" y="4151376"/>
            <a:ext cx="274320" cy="274320"/>
          </a:xfrm>
          <a:prstGeom prst="rect">
            <a:avLst/>
          </a:prstGeom>
        </p:spPr>
      </p:pic>
      <p:sp>
        <p:nvSpPr>
          <p:cNvPr id="26" name="Text 19"/>
          <p:cNvSpPr/>
          <p:nvPr/>
        </p:nvSpPr>
        <p:spPr>
          <a:xfrm>
            <a:off x="7104888" y="4005072"/>
            <a:ext cx="4297680" cy="365760"/>
          </a:xfrm>
          <a:prstGeom prst="rect">
            <a:avLst/>
          </a:prstGeom>
          <a:noFill/>
          <a:ln/>
        </p:spPr>
        <p:txBody>
          <a:bodyPr wrap="square" lIns="0" tIns="0" rIns="0" bIns="0" rtlCol="0" anchor="ctr"/>
          <a:lstStyle/>
          <a:p>
            <a:pPr marL="0" indent="0">
              <a:buNone/>
            </a:pPr>
            <a:r>
              <a:rPr lang="en-US" sz="1700" b="1" dirty="0">
                <a:solidFill>
                  <a:srgbClr val="FAB387"/>
                </a:solidFill>
                <a:latin typeface="Georgia" pitchFamily="34" charset="0"/>
                <a:ea typeface="Georgia" pitchFamily="34" charset="-122"/>
                <a:cs typeface="Georgia" pitchFamily="34" charset="-120"/>
              </a:rPr>
              <a:t>Évaluation ancrée au code</a:t>
            </a:r>
            <a:endParaRPr lang="en-US" sz="1700" dirty="0"/>
          </a:p>
        </p:txBody>
      </p:sp>
      <p:sp>
        <p:nvSpPr>
          <p:cNvPr id="27" name="Text 20"/>
          <p:cNvSpPr/>
          <p:nvPr/>
        </p:nvSpPr>
        <p:spPr>
          <a:xfrm>
            <a:off x="7104888" y="4407408"/>
            <a:ext cx="4297680" cy="1005840"/>
          </a:xfrm>
          <a:prstGeom prst="rect">
            <a:avLst/>
          </a:prstGeom>
          <a:noFill/>
          <a:ln/>
        </p:spPr>
        <p:txBody>
          <a:bodyPr wrap="square" lIns="0" tIns="0" rIns="0" bIns="0" rtlCol="0" anchor="ctr"/>
          <a:lstStyle/>
          <a:p>
            <a:pPr marL="0" indent="0">
              <a:lnSpc>
                <a:spcPct val="112000"/>
              </a:lnSpc>
              <a:buNone/>
            </a:pPr>
            <a:r>
              <a:rPr lang="en-US" sz="1200" dirty="0">
                <a:solidFill>
                  <a:srgbClr val="BAC2DE"/>
                </a:solidFill>
                <a:latin typeface="Calibri" pitchFamily="34" charset="0"/>
                <a:ea typeface="Calibri" pitchFamily="34" charset="-122"/>
                <a:cs typeface="Calibri" pitchFamily="34" charset="-120"/>
              </a:rPr>
              <a:t>Les questions de quiz sont générées à partir du code réellement soumis par l'étudiant, jamais d'un contenu générique.</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81825"/>
        </a:solidFill>
        <a:effectLst/>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roundRect">
            <a:avLst>
              <a:gd name="adj" fmla="val 19355"/>
            </a:avLst>
          </a:prstGeom>
          <a:solidFill>
            <a:srgbClr val="1E1E2E"/>
          </a:solidFill>
          <a:ln w="12700">
            <a:solidFill>
              <a:srgbClr val="FAB387"/>
            </a:solidFill>
            <a:prstDash val="solid"/>
          </a:ln>
        </p:spPr>
      </p:sp>
      <p:pic>
        <p:nvPicPr>
          <p:cNvPr id="3" name="Image 0" descr="assets/ic_rocket.png"/>
          <p:cNvPicPr>
            <a:picLocks noChangeAspect="1"/>
          </p:cNvPicPr>
          <p:nvPr/>
        </p:nvPicPr>
        <p:blipFill>
          <a:blip r:embed="rId3"/>
          <a:stretch>
            <a:fillRect/>
          </a:stretch>
        </p:blipFill>
        <p:spPr>
          <a:xfrm>
            <a:off x="704088" y="594360"/>
            <a:ext cx="292608" cy="292608"/>
          </a:xfrm>
          <a:prstGeom prst="rect">
            <a:avLst/>
          </a:prstGeom>
        </p:spPr>
      </p:pic>
      <p:sp>
        <p:nvSpPr>
          <p:cNvPr id="4" name="Text 1"/>
          <p:cNvSpPr/>
          <p:nvPr/>
        </p:nvSpPr>
        <p:spPr>
          <a:xfrm>
            <a:off x="1298448" y="457200"/>
            <a:ext cx="8229600" cy="237744"/>
          </a:xfrm>
          <a:prstGeom prst="rect">
            <a:avLst/>
          </a:prstGeom>
          <a:noFill/>
          <a:ln/>
        </p:spPr>
        <p:txBody>
          <a:bodyPr wrap="square" lIns="0" tIns="0" rIns="0" bIns="0" rtlCol="0" anchor="ctr"/>
          <a:lstStyle/>
          <a:p>
            <a:pPr marL="0" indent="0">
              <a:buNone/>
            </a:pPr>
            <a:r>
              <a:rPr lang="en-US" sz="1100" b="1" kern="0" spc="300" dirty="0">
                <a:solidFill>
                  <a:srgbClr val="FAB387"/>
                </a:solidFill>
                <a:latin typeface="Calibri" pitchFamily="34" charset="0"/>
                <a:ea typeface="Calibri" pitchFamily="34" charset="-122"/>
                <a:cs typeface="Calibri" pitchFamily="34" charset="-120"/>
              </a:rPr>
              <a:t>CONCLUSION</a:t>
            </a:r>
            <a:endParaRPr lang="en-US" sz="1100" dirty="0"/>
          </a:p>
        </p:txBody>
      </p:sp>
      <p:sp>
        <p:nvSpPr>
          <p:cNvPr id="5" name="Text 2"/>
          <p:cNvSpPr/>
          <p:nvPr/>
        </p:nvSpPr>
        <p:spPr>
          <a:xfrm>
            <a:off x="1298448" y="676656"/>
            <a:ext cx="10241280" cy="566928"/>
          </a:xfrm>
          <a:prstGeom prst="rect">
            <a:avLst/>
          </a:prstGeom>
          <a:noFill/>
          <a:ln/>
        </p:spPr>
        <p:txBody>
          <a:bodyPr wrap="square" lIns="0" tIns="0" rIns="0" bIns="0" rtlCol="0" anchor="ctr"/>
          <a:lstStyle/>
          <a:p>
            <a:pPr marL="0" indent="0">
              <a:buNone/>
            </a:pPr>
            <a:r>
              <a:rPr lang="en-US" sz="2900" b="1" dirty="0">
                <a:solidFill>
                  <a:srgbClr val="CDD6F4"/>
                </a:solidFill>
                <a:latin typeface="Georgia" pitchFamily="34" charset="0"/>
                <a:ea typeface="Georgia" pitchFamily="34" charset="-122"/>
                <a:cs typeface="Georgia" pitchFamily="34" charset="-120"/>
              </a:rPr>
              <a:t>Défis rencontrés &amp; perspectives</a:t>
            </a:r>
            <a:endParaRPr lang="en-US" sz="2900" dirty="0"/>
          </a:p>
        </p:txBody>
      </p:sp>
      <p:sp>
        <p:nvSpPr>
          <p:cNvPr id="6" name="Text 3"/>
          <p:cNvSpPr/>
          <p:nvPr/>
        </p:nvSpPr>
        <p:spPr>
          <a:xfrm>
            <a:off x="11274552" y="475488"/>
            <a:ext cx="640080" cy="274320"/>
          </a:xfrm>
          <a:prstGeom prst="rect">
            <a:avLst/>
          </a:prstGeom>
          <a:noFill/>
          <a:ln/>
        </p:spPr>
        <p:txBody>
          <a:bodyPr wrap="square" lIns="0" tIns="0" rIns="0" bIns="0" rtlCol="0" anchor="ctr"/>
          <a:lstStyle/>
          <a:p>
            <a:pPr marL="0" indent="0" algn="r">
              <a:buNone/>
            </a:pPr>
            <a:r>
              <a:rPr lang="en-US" sz="1200" dirty="0">
                <a:solidFill>
                  <a:srgbClr val="6C7086"/>
                </a:solidFill>
                <a:latin typeface="Consolas" pitchFamily="34" charset="0"/>
                <a:ea typeface="Consolas" pitchFamily="34" charset="-122"/>
                <a:cs typeface="Consolas" pitchFamily="34" charset="-120"/>
              </a:rPr>
              <a:t>21</a:t>
            </a:r>
            <a:endParaRPr lang="en-US" sz="1200" dirty="0"/>
          </a:p>
        </p:txBody>
      </p:sp>
      <p:sp>
        <p:nvSpPr>
          <p:cNvPr id="7" name="Text 4"/>
          <p:cNvSpPr/>
          <p:nvPr/>
        </p:nvSpPr>
        <p:spPr>
          <a:xfrm>
            <a:off x="9079992" y="475488"/>
            <a:ext cx="2103120" cy="274320"/>
          </a:xfrm>
          <a:prstGeom prst="rect">
            <a:avLst/>
          </a:prstGeom>
          <a:noFill/>
          <a:ln/>
        </p:spPr>
        <p:txBody>
          <a:bodyPr wrap="square" lIns="0" tIns="0" rIns="0" bIns="0" rtlCol="0" anchor="ctr"/>
          <a:lstStyle/>
          <a:p>
            <a:pPr marL="0" indent="0" algn="r">
              <a:buNone/>
            </a:pPr>
            <a:r>
              <a:rPr lang="en-US" sz="1000" kern="0" spc="100" dirty="0">
                <a:solidFill>
                  <a:srgbClr val="6C7086"/>
                </a:solidFill>
                <a:latin typeface="Calibri" pitchFamily="34" charset="0"/>
                <a:ea typeface="Calibri" pitchFamily="34" charset="-122"/>
                <a:cs typeface="Calibri" pitchFamily="34" charset="-120"/>
              </a:rPr>
              <a:t>Agentic TP</a:t>
            </a:r>
            <a:endParaRPr lang="en-US" sz="1000" dirty="0"/>
          </a:p>
        </p:txBody>
      </p:sp>
      <p:sp>
        <p:nvSpPr>
          <p:cNvPr id="8" name="Shape 5"/>
          <p:cNvSpPr/>
          <p:nvPr/>
        </p:nvSpPr>
        <p:spPr>
          <a:xfrm>
            <a:off x="566928" y="1691640"/>
            <a:ext cx="5349240" cy="4526280"/>
          </a:xfrm>
          <a:prstGeom prst="roundRect">
            <a:avLst>
              <a:gd name="adj" fmla="val 1818"/>
            </a:avLst>
          </a:prstGeom>
          <a:solidFill>
            <a:srgbClr val="232338"/>
          </a:solidFill>
          <a:ln w="12700">
            <a:solidFill>
              <a:srgbClr val="EBA0AC"/>
            </a:solidFill>
            <a:prstDash val="solid"/>
          </a:ln>
          <a:effectLst>
            <a:outerShdw blurRad="114300" dist="38100" dir="5400000" algn="bl" rotWithShape="0">
              <a:srgbClr val="000000">
                <a:alpha val="35000"/>
              </a:srgbClr>
            </a:outerShdw>
          </a:effectLst>
        </p:spPr>
      </p:sp>
      <p:pic>
        <p:nvPicPr>
          <p:cNvPr id="9" name="Image 1" descr="assets/ic_tools.png"/>
          <p:cNvPicPr>
            <a:picLocks noChangeAspect="1"/>
          </p:cNvPicPr>
          <p:nvPr/>
        </p:nvPicPr>
        <p:blipFill>
          <a:blip r:embed="rId4"/>
          <a:stretch>
            <a:fillRect/>
          </a:stretch>
        </p:blipFill>
        <p:spPr>
          <a:xfrm>
            <a:off x="822960" y="1938528"/>
            <a:ext cx="384048" cy="384048"/>
          </a:xfrm>
          <a:prstGeom prst="rect">
            <a:avLst/>
          </a:prstGeom>
        </p:spPr>
      </p:pic>
      <p:sp>
        <p:nvSpPr>
          <p:cNvPr id="10" name="Text 6"/>
          <p:cNvSpPr/>
          <p:nvPr/>
        </p:nvSpPr>
        <p:spPr>
          <a:xfrm>
            <a:off x="1325880" y="1938528"/>
            <a:ext cx="4389120" cy="384048"/>
          </a:xfrm>
          <a:prstGeom prst="rect">
            <a:avLst/>
          </a:prstGeom>
          <a:noFill/>
          <a:ln/>
        </p:spPr>
        <p:txBody>
          <a:bodyPr wrap="square" lIns="0" tIns="0" rIns="0" bIns="0" rtlCol="0" anchor="ctr"/>
          <a:lstStyle/>
          <a:p>
            <a:pPr marL="0" indent="0">
              <a:buNone/>
            </a:pPr>
            <a:r>
              <a:rPr lang="en-US" sz="1700" b="1" dirty="0">
                <a:solidFill>
                  <a:srgbClr val="EBA0AC"/>
                </a:solidFill>
                <a:latin typeface="Georgia" pitchFamily="34" charset="0"/>
                <a:ea typeface="Georgia" pitchFamily="34" charset="-122"/>
                <a:cs typeface="Georgia" pitchFamily="34" charset="-120"/>
              </a:rPr>
              <a:t>Défis &amp; limites actuelles</a:t>
            </a:r>
            <a:endParaRPr lang="en-US" sz="1700" dirty="0"/>
          </a:p>
        </p:txBody>
      </p:sp>
      <p:sp>
        <p:nvSpPr>
          <p:cNvPr id="11" name="Shape 7"/>
          <p:cNvSpPr/>
          <p:nvPr/>
        </p:nvSpPr>
        <p:spPr>
          <a:xfrm>
            <a:off x="868680" y="2606040"/>
            <a:ext cx="109728" cy="109728"/>
          </a:xfrm>
          <a:prstGeom prst="ellipse">
            <a:avLst/>
          </a:prstGeom>
          <a:solidFill>
            <a:srgbClr val="EBA0AC"/>
          </a:solidFill>
          <a:ln/>
        </p:spPr>
      </p:sp>
      <p:sp>
        <p:nvSpPr>
          <p:cNvPr id="12" name="Text 8"/>
          <p:cNvSpPr/>
          <p:nvPr/>
        </p:nvSpPr>
        <p:spPr>
          <a:xfrm>
            <a:off x="1143000" y="2514600"/>
            <a:ext cx="4572000" cy="658368"/>
          </a:xfrm>
          <a:prstGeom prst="rect">
            <a:avLst/>
          </a:prstGeom>
          <a:noFill/>
          <a:ln/>
        </p:spPr>
        <p:txBody>
          <a:bodyPr wrap="square" lIns="0" tIns="0" rIns="0" bIns="0" rtlCol="0" anchor="ctr"/>
          <a:lstStyle/>
          <a:p>
            <a:pPr marL="0" indent="0">
              <a:lnSpc>
                <a:spcPct val="108000"/>
              </a:lnSpc>
              <a:buNone/>
            </a:pPr>
            <a:r>
              <a:rPr lang="en-US" sz="1150" dirty="0">
                <a:solidFill>
                  <a:srgbClr val="BAC2DE"/>
                </a:solidFill>
                <a:latin typeface="Calibri" pitchFamily="34" charset="0"/>
                <a:ea typeface="Calibri" pitchFamily="34" charset="-122"/>
                <a:cs typeface="Calibri" pitchFamily="34" charset="-120"/>
              </a:rPr>
              <a:t>Exécution multi-langages — pour l'instant HTML ; Python/Java nécessitent un exécuteur sandboxé</a:t>
            </a:r>
            <a:endParaRPr lang="en-US" sz="1150" dirty="0"/>
          </a:p>
        </p:txBody>
      </p:sp>
      <p:sp>
        <p:nvSpPr>
          <p:cNvPr id="13" name="Shape 9"/>
          <p:cNvSpPr/>
          <p:nvPr/>
        </p:nvSpPr>
        <p:spPr>
          <a:xfrm>
            <a:off x="868680" y="3319272"/>
            <a:ext cx="109728" cy="109728"/>
          </a:xfrm>
          <a:prstGeom prst="ellipse">
            <a:avLst/>
          </a:prstGeom>
          <a:solidFill>
            <a:srgbClr val="EBA0AC"/>
          </a:solidFill>
          <a:ln/>
        </p:spPr>
      </p:sp>
      <p:sp>
        <p:nvSpPr>
          <p:cNvPr id="14" name="Text 10"/>
          <p:cNvSpPr/>
          <p:nvPr/>
        </p:nvSpPr>
        <p:spPr>
          <a:xfrm>
            <a:off x="1143000" y="3227832"/>
            <a:ext cx="4572000" cy="658368"/>
          </a:xfrm>
          <a:prstGeom prst="rect">
            <a:avLst/>
          </a:prstGeom>
          <a:noFill/>
          <a:ln/>
        </p:spPr>
        <p:txBody>
          <a:bodyPr wrap="square" lIns="0" tIns="0" rIns="0" bIns="0" rtlCol="0" anchor="ctr"/>
          <a:lstStyle/>
          <a:p>
            <a:pPr marL="0" indent="0">
              <a:lnSpc>
                <a:spcPct val="108000"/>
              </a:lnSpc>
              <a:buNone/>
            </a:pPr>
            <a:r>
              <a:rPr lang="en-US" sz="1150" dirty="0">
                <a:solidFill>
                  <a:srgbClr val="BAC2DE"/>
                </a:solidFill>
                <a:latin typeface="Calibri" pitchFamily="34" charset="0"/>
                <a:ea typeface="Calibri" pitchFamily="34" charset="-122"/>
                <a:cs typeface="Calibri" pitchFamily="34" charset="-120"/>
              </a:rPr>
              <a:t>Suivi temps réel — la progression est tirée au chargement, pas encore poussée par WebSocket</a:t>
            </a:r>
            <a:endParaRPr lang="en-US" sz="1150" dirty="0"/>
          </a:p>
        </p:txBody>
      </p:sp>
      <p:sp>
        <p:nvSpPr>
          <p:cNvPr id="15" name="Shape 11"/>
          <p:cNvSpPr/>
          <p:nvPr/>
        </p:nvSpPr>
        <p:spPr>
          <a:xfrm>
            <a:off x="868680" y="4032504"/>
            <a:ext cx="109728" cy="109728"/>
          </a:xfrm>
          <a:prstGeom prst="ellipse">
            <a:avLst/>
          </a:prstGeom>
          <a:solidFill>
            <a:srgbClr val="EBA0AC"/>
          </a:solidFill>
          <a:ln/>
        </p:spPr>
      </p:sp>
      <p:sp>
        <p:nvSpPr>
          <p:cNvPr id="16" name="Text 12"/>
          <p:cNvSpPr/>
          <p:nvPr/>
        </p:nvSpPr>
        <p:spPr>
          <a:xfrm>
            <a:off x="1143000" y="3941064"/>
            <a:ext cx="4572000" cy="658368"/>
          </a:xfrm>
          <a:prstGeom prst="rect">
            <a:avLst/>
          </a:prstGeom>
          <a:noFill/>
          <a:ln/>
        </p:spPr>
        <p:txBody>
          <a:bodyPr wrap="square" lIns="0" tIns="0" rIns="0" bIns="0" rtlCol="0" anchor="ctr"/>
          <a:lstStyle/>
          <a:p>
            <a:pPr marL="0" indent="0">
              <a:lnSpc>
                <a:spcPct val="108000"/>
              </a:lnSpc>
              <a:buNone/>
            </a:pPr>
            <a:r>
              <a:rPr lang="en-US" sz="1150" dirty="0">
                <a:solidFill>
                  <a:srgbClr val="BAC2DE"/>
                </a:solidFill>
                <a:latin typeface="Calibri" pitchFamily="34" charset="0"/>
                <a:ea typeface="Calibri" pitchFamily="34" charset="-122"/>
                <a:cs typeface="Calibri" pitchFamily="34" charset="-120"/>
              </a:rPr>
              <a:t>Pipeline RAG — l'arborescence du vector store existe, l'ingestion de documents reste à câbler</a:t>
            </a:r>
            <a:endParaRPr lang="en-US" sz="1150" dirty="0"/>
          </a:p>
        </p:txBody>
      </p:sp>
      <p:sp>
        <p:nvSpPr>
          <p:cNvPr id="17" name="Shape 13"/>
          <p:cNvSpPr/>
          <p:nvPr/>
        </p:nvSpPr>
        <p:spPr>
          <a:xfrm>
            <a:off x="868680" y="4745736"/>
            <a:ext cx="109728" cy="109728"/>
          </a:xfrm>
          <a:prstGeom prst="ellipse">
            <a:avLst/>
          </a:prstGeom>
          <a:solidFill>
            <a:srgbClr val="EBA0AC"/>
          </a:solidFill>
          <a:ln/>
        </p:spPr>
      </p:sp>
      <p:sp>
        <p:nvSpPr>
          <p:cNvPr id="18" name="Text 14"/>
          <p:cNvSpPr/>
          <p:nvPr/>
        </p:nvSpPr>
        <p:spPr>
          <a:xfrm>
            <a:off x="1143000" y="4654296"/>
            <a:ext cx="4572000" cy="658368"/>
          </a:xfrm>
          <a:prstGeom prst="rect">
            <a:avLst/>
          </a:prstGeom>
          <a:noFill/>
          <a:ln/>
        </p:spPr>
        <p:txBody>
          <a:bodyPr wrap="square" lIns="0" tIns="0" rIns="0" bIns="0" rtlCol="0" anchor="ctr"/>
          <a:lstStyle/>
          <a:p>
            <a:pPr marL="0" indent="0">
              <a:lnSpc>
                <a:spcPct val="108000"/>
              </a:lnSpc>
              <a:buNone/>
            </a:pPr>
            <a:r>
              <a:rPr lang="en-US" sz="1150" dirty="0">
                <a:solidFill>
                  <a:srgbClr val="BAC2DE"/>
                </a:solidFill>
                <a:latin typeface="Calibri" pitchFamily="34" charset="0"/>
                <a:ea typeface="Calibri" pitchFamily="34" charset="-122"/>
                <a:cs typeface="Calibri" pitchFamily="34" charset="-120"/>
              </a:rPr>
              <a:t>Modèles cloud — gemma4:31b-cloud requiert un compte Ollama cloud ; repli statique sinon</a:t>
            </a:r>
            <a:endParaRPr lang="en-US" sz="1150" dirty="0"/>
          </a:p>
        </p:txBody>
      </p:sp>
      <p:sp>
        <p:nvSpPr>
          <p:cNvPr id="19" name="Shape 15"/>
          <p:cNvSpPr/>
          <p:nvPr/>
        </p:nvSpPr>
        <p:spPr>
          <a:xfrm>
            <a:off x="868680" y="5458968"/>
            <a:ext cx="109728" cy="109728"/>
          </a:xfrm>
          <a:prstGeom prst="ellipse">
            <a:avLst/>
          </a:prstGeom>
          <a:solidFill>
            <a:srgbClr val="EBA0AC"/>
          </a:solidFill>
          <a:ln/>
        </p:spPr>
      </p:sp>
      <p:sp>
        <p:nvSpPr>
          <p:cNvPr id="20" name="Text 16"/>
          <p:cNvSpPr/>
          <p:nvPr/>
        </p:nvSpPr>
        <p:spPr>
          <a:xfrm>
            <a:off x="1143000" y="5367528"/>
            <a:ext cx="4572000" cy="658368"/>
          </a:xfrm>
          <a:prstGeom prst="rect">
            <a:avLst/>
          </a:prstGeom>
          <a:noFill/>
          <a:ln/>
        </p:spPr>
        <p:txBody>
          <a:bodyPr wrap="square" lIns="0" tIns="0" rIns="0" bIns="0" rtlCol="0" anchor="ctr"/>
          <a:lstStyle/>
          <a:p>
            <a:pPr marL="0" indent="0">
              <a:lnSpc>
                <a:spcPct val="108000"/>
              </a:lnSpc>
              <a:buNone/>
            </a:pPr>
            <a:r>
              <a:rPr lang="en-US" sz="1150" dirty="0">
                <a:solidFill>
                  <a:srgbClr val="BAC2DE"/>
                </a:solidFill>
                <a:latin typeface="Calibri" pitchFamily="34" charset="0"/>
                <a:ea typeface="Calibri" pitchFamily="34" charset="-122"/>
                <a:cs typeface="Calibri" pitchFamily="34" charset="-120"/>
              </a:rPr>
              <a:t>Auth frontend — la page de login utilise encore un mock à connecter au service réel</a:t>
            </a:r>
            <a:endParaRPr lang="en-US" sz="1150" dirty="0"/>
          </a:p>
        </p:txBody>
      </p:sp>
      <p:sp>
        <p:nvSpPr>
          <p:cNvPr id="21" name="Shape 17"/>
          <p:cNvSpPr/>
          <p:nvPr/>
        </p:nvSpPr>
        <p:spPr>
          <a:xfrm>
            <a:off x="6126480" y="1691640"/>
            <a:ext cx="5495544" cy="4526280"/>
          </a:xfrm>
          <a:prstGeom prst="roundRect">
            <a:avLst>
              <a:gd name="adj" fmla="val 1818"/>
            </a:avLst>
          </a:prstGeom>
          <a:solidFill>
            <a:srgbClr val="232338"/>
          </a:solidFill>
          <a:ln w="12700">
            <a:solidFill>
              <a:srgbClr val="CBA6F7"/>
            </a:solidFill>
            <a:prstDash val="solid"/>
          </a:ln>
          <a:effectLst>
            <a:outerShdw blurRad="114300" dist="38100" dir="5400000" algn="bl" rotWithShape="0">
              <a:srgbClr val="000000">
                <a:alpha val="35000"/>
              </a:srgbClr>
            </a:outerShdw>
          </a:effectLst>
        </p:spPr>
      </p:sp>
      <p:pic>
        <p:nvPicPr>
          <p:cNvPr id="22" name="Image 2" descr="assets/ic_rocket.png"/>
          <p:cNvPicPr>
            <a:picLocks noChangeAspect="1"/>
          </p:cNvPicPr>
          <p:nvPr/>
        </p:nvPicPr>
        <p:blipFill>
          <a:blip r:embed="rId3"/>
          <a:stretch>
            <a:fillRect/>
          </a:stretch>
        </p:blipFill>
        <p:spPr>
          <a:xfrm>
            <a:off x="6382512" y="1938528"/>
            <a:ext cx="384048" cy="384048"/>
          </a:xfrm>
          <a:prstGeom prst="rect">
            <a:avLst/>
          </a:prstGeom>
        </p:spPr>
      </p:pic>
      <p:sp>
        <p:nvSpPr>
          <p:cNvPr id="23" name="Text 18"/>
          <p:cNvSpPr/>
          <p:nvPr/>
        </p:nvSpPr>
        <p:spPr>
          <a:xfrm>
            <a:off x="6885432" y="1938528"/>
            <a:ext cx="4389120" cy="384048"/>
          </a:xfrm>
          <a:prstGeom prst="rect">
            <a:avLst/>
          </a:prstGeom>
          <a:noFill/>
          <a:ln/>
        </p:spPr>
        <p:txBody>
          <a:bodyPr wrap="square" lIns="0" tIns="0" rIns="0" bIns="0" rtlCol="0" anchor="ctr"/>
          <a:lstStyle/>
          <a:p>
            <a:pPr marL="0" indent="0">
              <a:buNone/>
            </a:pPr>
            <a:r>
              <a:rPr lang="en-US" sz="1700" b="1" dirty="0">
                <a:solidFill>
                  <a:srgbClr val="CBA6F7"/>
                </a:solidFill>
                <a:latin typeface="Georgia" pitchFamily="34" charset="0"/>
                <a:ea typeface="Georgia" pitchFamily="34" charset="-122"/>
                <a:cs typeface="Georgia" pitchFamily="34" charset="-120"/>
              </a:rPr>
              <a:t>Perspectives</a:t>
            </a:r>
            <a:endParaRPr lang="en-US" sz="1700" dirty="0"/>
          </a:p>
        </p:txBody>
      </p:sp>
      <p:sp>
        <p:nvSpPr>
          <p:cNvPr id="24" name="Text 19"/>
          <p:cNvSpPr/>
          <p:nvPr/>
        </p:nvSpPr>
        <p:spPr>
          <a:xfrm>
            <a:off x="6382512" y="2542032"/>
            <a:ext cx="4572000" cy="228600"/>
          </a:xfrm>
          <a:prstGeom prst="rect">
            <a:avLst/>
          </a:prstGeom>
          <a:noFill/>
          <a:ln/>
        </p:spPr>
        <p:txBody>
          <a:bodyPr wrap="square" lIns="0" tIns="0" rIns="0" bIns="0" rtlCol="0" anchor="ctr"/>
          <a:lstStyle/>
          <a:p>
            <a:pPr marL="0" indent="0">
              <a:buNone/>
            </a:pPr>
            <a:r>
              <a:rPr lang="en-US" sz="1000" b="1" kern="0" spc="200" dirty="0">
                <a:solidFill>
                  <a:srgbClr val="A6E3A1"/>
                </a:solidFill>
                <a:latin typeface="Calibri" pitchFamily="34" charset="0"/>
                <a:ea typeface="Calibri" pitchFamily="34" charset="-122"/>
                <a:cs typeface="Calibri" pitchFamily="34" charset="-120"/>
              </a:rPr>
              <a:t>COURT TERME</a:t>
            </a:r>
            <a:endParaRPr lang="en-US" sz="1000" dirty="0"/>
          </a:p>
        </p:txBody>
      </p:sp>
      <p:sp>
        <p:nvSpPr>
          <p:cNvPr id="25" name="Shape 20"/>
          <p:cNvSpPr/>
          <p:nvPr/>
        </p:nvSpPr>
        <p:spPr>
          <a:xfrm>
            <a:off x="6400800" y="2862072"/>
            <a:ext cx="91440" cy="91440"/>
          </a:xfrm>
          <a:prstGeom prst="ellipse">
            <a:avLst/>
          </a:prstGeom>
          <a:solidFill>
            <a:srgbClr val="A6E3A1"/>
          </a:solidFill>
          <a:ln/>
        </p:spPr>
      </p:sp>
      <p:sp>
        <p:nvSpPr>
          <p:cNvPr id="26" name="Text 21"/>
          <p:cNvSpPr/>
          <p:nvPr/>
        </p:nvSpPr>
        <p:spPr>
          <a:xfrm>
            <a:off x="6656832" y="2779776"/>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Câbler l'ingestion RAG (Spring AI + pgvector)</a:t>
            </a:r>
            <a:endParaRPr lang="en-US" sz="1100" dirty="0"/>
          </a:p>
        </p:txBody>
      </p:sp>
      <p:sp>
        <p:nvSpPr>
          <p:cNvPr id="27" name="Shape 22"/>
          <p:cNvSpPr/>
          <p:nvPr/>
        </p:nvSpPr>
        <p:spPr>
          <a:xfrm>
            <a:off x="6400800" y="3191256"/>
            <a:ext cx="91440" cy="91440"/>
          </a:xfrm>
          <a:prstGeom prst="ellipse">
            <a:avLst/>
          </a:prstGeom>
          <a:solidFill>
            <a:srgbClr val="A6E3A1"/>
          </a:solidFill>
          <a:ln/>
        </p:spPr>
      </p:sp>
      <p:sp>
        <p:nvSpPr>
          <p:cNvPr id="28" name="Text 23"/>
          <p:cNvSpPr/>
          <p:nvPr/>
        </p:nvSpPr>
        <p:spPr>
          <a:xfrm>
            <a:off x="6656832" y="3108960"/>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Connecter l'auth frontend au flux JWT réel</a:t>
            </a:r>
            <a:endParaRPr lang="en-US" sz="1100" dirty="0"/>
          </a:p>
        </p:txBody>
      </p:sp>
      <p:sp>
        <p:nvSpPr>
          <p:cNvPr id="29" name="Shape 24"/>
          <p:cNvSpPr/>
          <p:nvPr/>
        </p:nvSpPr>
        <p:spPr>
          <a:xfrm>
            <a:off x="6400800" y="3520440"/>
            <a:ext cx="91440" cy="91440"/>
          </a:xfrm>
          <a:prstGeom prst="ellipse">
            <a:avLst/>
          </a:prstGeom>
          <a:solidFill>
            <a:srgbClr val="A6E3A1"/>
          </a:solidFill>
          <a:ln/>
        </p:spPr>
      </p:sp>
      <p:sp>
        <p:nvSpPr>
          <p:cNvPr id="30" name="Text 25"/>
          <p:cNvSpPr/>
          <p:nvPr/>
        </p:nvSpPr>
        <p:spPr>
          <a:xfrm>
            <a:off x="6656832" y="3438144"/>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Push WebSocket pour le suivi temps réel</a:t>
            </a:r>
            <a:endParaRPr lang="en-US" sz="1100" dirty="0"/>
          </a:p>
        </p:txBody>
      </p:sp>
      <p:sp>
        <p:nvSpPr>
          <p:cNvPr id="31" name="Shape 26"/>
          <p:cNvSpPr/>
          <p:nvPr/>
        </p:nvSpPr>
        <p:spPr>
          <a:xfrm>
            <a:off x="6400800" y="3849624"/>
            <a:ext cx="91440" cy="91440"/>
          </a:xfrm>
          <a:prstGeom prst="ellipse">
            <a:avLst/>
          </a:prstGeom>
          <a:solidFill>
            <a:srgbClr val="A6E3A1"/>
          </a:solidFill>
          <a:ln/>
        </p:spPr>
      </p:sp>
      <p:sp>
        <p:nvSpPr>
          <p:cNvPr id="32" name="Text 27"/>
          <p:cNvSpPr/>
          <p:nvPr/>
        </p:nvSpPr>
        <p:spPr>
          <a:xfrm>
            <a:off x="6656832" y="3767328"/>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Rate-limiting &amp; cache des appels LLM</a:t>
            </a:r>
            <a:endParaRPr lang="en-US" sz="1100" dirty="0"/>
          </a:p>
        </p:txBody>
      </p:sp>
      <p:sp>
        <p:nvSpPr>
          <p:cNvPr id="33" name="Text 28"/>
          <p:cNvSpPr/>
          <p:nvPr/>
        </p:nvSpPr>
        <p:spPr>
          <a:xfrm>
            <a:off x="6382512" y="4178808"/>
            <a:ext cx="4572000" cy="228600"/>
          </a:xfrm>
          <a:prstGeom prst="rect">
            <a:avLst/>
          </a:prstGeom>
          <a:noFill/>
          <a:ln/>
        </p:spPr>
        <p:txBody>
          <a:bodyPr wrap="square" lIns="0" tIns="0" rIns="0" bIns="0" rtlCol="0" anchor="ctr"/>
          <a:lstStyle/>
          <a:p>
            <a:pPr marL="0" indent="0">
              <a:buNone/>
            </a:pPr>
            <a:r>
              <a:rPr lang="en-US" sz="1000" b="1" kern="0" spc="200" dirty="0">
                <a:solidFill>
                  <a:srgbClr val="89B4FA"/>
                </a:solidFill>
                <a:latin typeface="Calibri" pitchFamily="34" charset="0"/>
                <a:ea typeface="Calibri" pitchFamily="34" charset="-122"/>
                <a:cs typeface="Calibri" pitchFamily="34" charset="-120"/>
              </a:rPr>
              <a:t>MOYEN TERME</a:t>
            </a:r>
            <a:endParaRPr lang="en-US" sz="1000" dirty="0"/>
          </a:p>
        </p:txBody>
      </p:sp>
      <p:sp>
        <p:nvSpPr>
          <p:cNvPr id="34" name="Shape 29"/>
          <p:cNvSpPr/>
          <p:nvPr/>
        </p:nvSpPr>
        <p:spPr>
          <a:xfrm>
            <a:off x="6400800" y="4453128"/>
            <a:ext cx="91440" cy="91440"/>
          </a:xfrm>
          <a:prstGeom prst="ellipse">
            <a:avLst/>
          </a:prstGeom>
          <a:solidFill>
            <a:srgbClr val="89B4FA"/>
          </a:solidFill>
          <a:ln/>
        </p:spPr>
      </p:sp>
      <p:sp>
        <p:nvSpPr>
          <p:cNvPr id="35" name="Text 30"/>
          <p:cNvSpPr/>
          <p:nvPr/>
        </p:nvSpPr>
        <p:spPr>
          <a:xfrm>
            <a:off x="6656832" y="4370832"/>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Multi-langages via sandbox Judge0 / Piston</a:t>
            </a:r>
            <a:endParaRPr lang="en-US" sz="1100" dirty="0"/>
          </a:p>
        </p:txBody>
      </p:sp>
      <p:sp>
        <p:nvSpPr>
          <p:cNvPr id="36" name="Shape 31"/>
          <p:cNvSpPr/>
          <p:nvPr/>
        </p:nvSpPr>
        <p:spPr>
          <a:xfrm>
            <a:off x="6400800" y="4782312"/>
            <a:ext cx="91440" cy="91440"/>
          </a:xfrm>
          <a:prstGeom prst="ellipse">
            <a:avLst/>
          </a:prstGeom>
          <a:solidFill>
            <a:srgbClr val="89B4FA"/>
          </a:solidFill>
          <a:ln/>
        </p:spPr>
      </p:sp>
      <p:sp>
        <p:nvSpPr>
          <p:cNvPr id="37" name="Text 32"/>
          <p:cNvSpPr/>
          <p:nvPr/>
        </p:nvSpPr>
        <p:spPr>
          <a:xfrm>
            <a:off x="6656832" y="4700016"/>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Communication agents async via Kafka</a:t>
            </a:r>
            <a:endParaRPr lang="en-US" sz="1100" dirty="0"/>
          </a:p>
        </p:txBody>
      </p:sp>
      <p:sp>
        <p:nvSpPr>
          <p:cNvPr id="38" name="Shape 33"/>
          <p:cNvSpPr/>
          <p:nvPr/>
        </p:nvSpPr>
        <p:spPr>
          <a:xfrm>
            <a:off x="6400800" y="5111496"/>
            <a:ext cx="91440" cy="91440"/>
          </a:xfrm>
          <a:prstGeom prst="ellipse">
            <a:avLst/>
          </a:prstGeom>
          <a:solidFill>
            <a:srgbClr val="89B4FA"/>
          </a:solidFill>
          <a:ln/>
        </p:spPr>
      </p:sp>
      <p:sp>
        <p:nvSpPr>
          <p:cNvPr id="39" name="Text 34"/>
          <p:cNvSpPr/>
          <p:nvPr/>
        </p:nvSpPr>
        <p:spPr>
          <a:xfrm>
            <a:off x="6656832" y="5029200"/>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Détection de plagiat par similarité de code</a:t>
            </a:r>
            <a:endParaRPr lang="en-US" sz="1100" dirty="0"/>
          </a:p>
        </p:txBody>
      </p:sp>
      <p:sp>
        <p:nvSpPr>
          <p:cNvPr id="40" name="Shape 35"/>
          <p:cNvSpPr/>
          <p:nvPr/>
        </p:nvSpPr>
        <p:spPr>
          <a:xfrm>
            <a:off x="6400800" y="5440680"/>
            <a:ext cx="91440" cy="91440"/>
          </a:xfrm>
          <a:prstGeom prst="ellipse">
            <a:avLst/>
          </a:prstGeom>
          <a:solidFill>
            <a:srgbClr val="89B4FA"/>
          </a:solidFill>
          <a:ln/>
        </p:spPr>
      </p:sp>
      <p:sp>
        <p:nvSpPr>
          <p:cNvPr id="41" name="Text 36"/>
          <p:cNvSpPr/>
          <p:nvPr/>
        </p:nvSpPr>
        <p:spPr>
          <a:xfrm>
            <a:off x="6656832" y="5358384"/>
            <a:ext cx="4754880" cy="274320"/>
          </a:xfrm>
          <a:prstGeom prst="rect">
            <a:avLst/>
          </a:prstGeom>
          <a:noFill/>
          <a:ln/>
        </p:spPr>
        <p:txBody>
          <a:bodyPr wrap="square" lIns="0" tIns="0" rIns="0" bIns="0" rtlCol="0" anchor="ctr"/>
          <a:lstStyle/>
          <a:p>
            <a:pPr marL="0" indent="0">
              <a:buNone/>
            </a:pPr>
            <a:r>
              <a:rPr lang="en-US" sz="1100" dirty="0">
                <a:solidFill>
                  <a:srgbClr val="BAC2DE"/>
                </a:solidFill>
                <a:latin typeface="Calibri" pitchFamily="34" charset="0"/>
                <a:ea typeface="Calibri" pitchFamily="34" charset="-122"/>
                <a:cs typeface="Calibri" pitchFamily="34" charset="-120"/>
              </a:rPr>
              <a:t>Manifests Kubernetes pour la production</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40080" y="548640"/>
            <a:ext cx="566928" cy="566928"/>
          </a:xfrm>
          <a:prstGeom prst="roundRect">
            <a:avLst>
              <a:gd name="adj" fmla="val 19355"/>
            </a:avLst>
          </a:prstGeom>
          <a:solidFill>
            <a:srgbClr val="1E1E2E"/>
          </a:solidFill>
          <a:ln w="12700">
            <a:solidFill>
              <a:srgbClr val="CBA6F7"/>
            </a:solidFill>
            <a:prstDash val="solid"/>
          </a:ln>
        </p:spPr>
      </p:sp>
      <p:pic>
        <p:nvPicPr>
          <p:cNvPr id="3" name="Image 0" descr="assets/ic_grad.png"/>
          <p:cNvPicPr>
            <a:picLocks noChangeAspect="1"/>
          </p:cNvPicPr>
          <p:nvPr/>
        </p:nvPicPr>
        <p:blipFill>
          <a:blip r:embed="rId4"/>
          <a:stretch>
            <a:fillRect/>
          </a:stretch>
        </p:blipFill>
        <p:spPr>
          <a:xfrm>
            <a:off x="777240" y="685800"/>
            <a:ext cx="292608" cy="292608"/>
          </a:xfrm>
          <a:prstGeom prst="rect">
            <a:avLst/>
          </a:prstGeom>
        </p:spPr>
      </p:pic>
      <p:sp>
        <p:nvSpPr>
          <p:cNvPr id="4" name="Text 1"/>
          <p:cNvSpPr/>
          <p:nvPr/>
        </p:nvSpPr>
        <p:spPr>
          <a:xfrm>
            <a:off x="1371600" y="585216"/>
            <a:ext cx="7315200" cy="365760"/>
          </a:xfrm>
          <a:prstGeom prst="rect">
            <a:avLst/>
          </a:prstGeom>
          <a:noFill/>
          <a:ln/>
        </p:spPr>
        <p:txBody>
          <a:bodyPr wrap="square" lIns="0" tIns="0" rIns="0" bIns="0" rtlCol="0" anchor="ctr"/>
          <a:lstStyle/>
          <a:p>
            <a:pPr marL="0" indent="0">
              <a:buNone/>
            </a:pPr>
            <a:r>
              <a:rPr lang="en-US" sz="1200" b="1" kern="0" spc="200" dirty="0">
                <a:solidFill>
                  <a:srgbClr val="BAC2DE"/>
                </a:solidFill>
                <a:latin typeface="Calibri" pitchFamily="34" charset="0"/>
                <a:ea typeface="Calibri" pitchFamily="34" charset="-122"/>
                <a:cs typeface="Calibri" pitchFamily="34" charset="-120"/>
              </a:rPr>
              <a:t>AGENTIC TP PLATFORM</a:t>
            </a:r>
            <a:endParaRPr lang="en-US" sz="1200" dirty="0"/>
          </a:p>
        </p:txBody>
      </p:sp>
      <p:sp>
        <p:nvSpPr>
          <p:cNvPr id="5" name="Text 2"/>
          <p:cNvSpPr/>
          <p:nvPr/>
        </p:nvSpPr>
        <p:spPr>
          <a:xfrm>
            <a:off x="603504" y="2331720"/>
            <a:ext cx="10058400" cy="914400"/>
          </a:xfrm>
          <a:prstGeom prst="rect">
            <a:avLst/>
          </a:prstGeom>
          <a:noFill/>
          <a:ln/>
        </p:spPr>
        <p:txBody>
          <a:bodyPr wrap="square" lIns="0" tIns="0" rIns="0" bIns="0" rtlCol="0" anchor="ctr"/>
          <a:lstStyle/>
          <a:p>
            <a:pPr marL="0" indent="0">
              <a:buNone/>
            </a:pPr>
            <a:r>
              <a:rPr lang="en-US" sz="5000" b="1" dirty="0">
                <a:solidFill>
                  <a:srgbClr val="CDD6F4"/>
                </a:solidFill>
                <a:latin typeface="Georgia" pitchFamily="34" charset="0"/>
                <a:ea typeface="Georgia" pitchFamily="34" charset="-122"/>
                <a:cs typeface="Georgia" pitchFamily="34" charset="-120"/>
              </a:rPr>
              <a:t>Merci de votre attention</a:t>
            </a:r>
            <a:endParaRPr lang="en-US" sz="5000" dirty="0"/>
          </a:p>
        </p:txBody>
      </p:sp>
      <p:sp>
        <p:nvSpPr>
          <p:cNvPr id="6" name="Text 3"/>
          <p:cNvSpPr/>
          <p:nvPr/>
        </p:nvSpPr>
        <p:spPr>
          <a:xfrm>
            <a:off x="640080" y="3429000"/>
            <a:ext cx="8686800" cy="640080"/>
          </a:xfrm>
          <a:prstGeom prst="rect">
            <a:avLst/>
          </a:prstGeom>
          <a:noFill/>
          <a:ln/>
        </p:spPr>
        <p:txBody>
          <a:bodyPr wrap="square" lIns="0" tIns="0" rIns="0" bIns="0" rtlCol="0" anchor="ctr"/>
          <a:lstStyle/>
          <a:p>
            <a:pPr marL="0" indent="0">
              <a:lnSpc>
                <a:spcPct val="115000"/>
              </a:lnSpc>
              <a:buNone/>
            </a:pPr>
            <a:r>
              <a:rPr lang="en-US" sz="1500" dirty="0">
                <a:solidFill>
                  <a:srgbClr val="BAC2DE"/>
                </a:solidFill>
                <a:latin typeface="Calibri" pitchFamily="34" charset="0"/>
                <a:ea typeface="Calibri" pitchFamily="34" charset="-122"/>
                <a:cs typeface="Calibri" pitchFamily="34" charset="-120"/>
              </a:rPr>
              <a:t>Une plateforme de TP guidée, mesurable et académiquement honnête — propulsée par 4 agents IA spécialisés.</a:t>
            </a:r>
            <a:endParaRPr lang="en-US" sz="1500" dirty="0"/>
          </a:p>
        </p:txBody>
      </p:sp>
      <p:sp>
        <p:nvSpPr>
          <p:cNvPr id="7" name="Shape 4"/>
          <p:cNvSpPr/>
          <p:nvPr/>
        </p:nvSpPr>
        <p:spPr>
          <a:xfrm>
            <a:off x="603504" y="4480560"/>
            <a:ext cx="10972800" cy="1325880"/>
          </a:xfrm>
          <a:prstGeom prst="roundRect">
            <a:avLst>
              <a:gd name="adj" fmla="val 6897"/>
            </a:avLst>
          </a:prstGeom>
          <a:solidFill>
            <a:srgbClr val="11111B"/>
          </a:solidFill>
          <a:ln w="15875">
            <a:solidFill>
              <a:srgbClr val="CBA6F7"/>
            </a:solidFill>
            <a:prstDash val="solid"/>
          </a:ln>
        </p:spPr>
      </p:sp>
      <p:pic>
        <p:nvPicPr>
          <p:cNvPr id="8" name="Image 1" descr="assets/ic_grad.png"/>
          <p:cNvPicPr>
            <a:picLocks noChangeAspect="1"/>
          </p:cNvPicPr>
          <p:nvPr/>
        </p:nvPicPr>
        <p:blipFill>
          <a:blip r:embed="rId4"/>
          <a:stretch>
            <a:fillRect/>
          </a:stretch>
        </p:blipFill>
        <p:spPr>
          <a:xfrm>
            <a:off x="914400" y="4800600"/>
            <a:ext cx="548640" cy="548640"/>
          </a:xfrm>
          <a:prstGeom prst="rect">
            <a:avLst/>
          </a:prstGeom>
        </p:spPr>
      </p:pic>
      <p:sp>
        <p:nvSpPr>
          <p:cNvPr id="9" name="Text 5"/>
          <p:cNvSpPr/>
          <p:nvPr/>
        </p:nvSpPr>
        <p:spPr>
          <a:xfrm>
            <a:off x="1645920" y="4681728"/>
            <a:ext cx="6217920" cy="320040"/>
          </a:xfrm>
          <a:prstGeom prst="rect">
            <a:avLst/>
          </a:prstGeom>
          <a:noFill/>
          <a:ln/>
        </p:spPr>
        <p:txBody>
          <a:bodyPr wrap="square" lIns="0" tIns="0" rIns="0" bIns="0" rtlCol="0" anchor="ctr"/>
          <a:lstStyle/>
          <a:p>
            <a:pPr marL="0" indent="0">
              <a:buNone/>
            </a:pPr>
            <a:r>
              <a:rPr lang="en-US" sz="1200" dirty="0">
                <a:solidFill>
                  <a:srgbClr val="A6ADC8"/>
                </a:solidFill>
                <a:latin typeface="Consolas" pitchFamily="34" charset="0"/>
                <a:ea typeface="Consolas" pitchFamily="34" charset="-122"/>
                <a:cs typeface="Consolas" pitchFamily="34" charset="-120"/>
              </a:rPr>
              <a:t>Démo en ligne   </a:t>
            </a:r>
            <a:r>
              <a:rPr lang="en-US" sz="1500" b="1" dirty="0">
                <a:solidFill>
                  <a:srgbClr val="CBA6F7"/>
                </a:solidFill>
                <a:latin typeface="Consolas" pitchFamily="34" charset="0"/>
                <a:ea typeface="Consolas" pitchFamily="34" charset="-122"/>
                <a:cs typeface="Consolas" pitchFamily="34" charset="-120"/>
              </a:rPr>
              <a:t>tp-front-seven.vercel.app</a:t>
            </a:r>
            <a:endParaRPr lang="en-US" sz="1200" dirty="0"/>
          </a:p>
        </p:txBody>
      </p:sp>
      <p:sp>
        <p:nvSpPr>
          <p:cNvPr id="10" name="Text 6"/>
          <p:cNvSpPr/>
          <p:nvPr/>
        </p:nvSpPr>
        <p:spPr>
          <a:xfrm>
            <a:off x="1645920" y="5120640"/>
            <a:ext cx="7315200" cy="365760"/>
          </a:xfrm>
          <a:prstGeom prst="rect">
            <a:avLst/>
          </a:prstGeom>
          <a:noFill/>
          <a:ln/>
        </p:spPr>
        <p:txBody>
          <a:bodyPr wrap="square" lIns="0" tIns="0" rIns="0" bIns="0" rtlCol="0" anchor="ctr"/>
          <a:lstStyle/>
          <a:p>
            <a:pPr marL="0" indent="0">
              <a:buNone/>
            </a:pPr>
            <a:r>
              <a:rPr lang="en-US" sz="1300" i="1" dirty="0">
                <a:solidFill>
                  <a:srgbClr val="CDD6F4"/>
                </a:solidFill>
                <a:latin typeface="Georgia" pitchFamily="34" charset="0"/>
                <a:ea typeface="Georgia" pitchFamily="34" charset="-122"/>
                <a:cs typeface="Georgia" pitchFamily="34" charset="-120"/>
              </a:rPr>
              <a:t>Built with purpose. Grounded in knowledge. Guided by AI.</a:t>
            </a:r>
            <a:endParaRPr lang="en-US" sz="1300" dirty="0"/>
          </a:p>
        </p:txBody>
      </p:sp>
      <p:sp>
        <p:nvSpPr>
          <p:cNvPr id="11" name="Text 7"/>
          <p:cNvSpPr/>
          <p:nvPr/>
        </p:nvSpPr>
        <p:spPr>
          <a:xfrm>
            <a:off x="7680960" y="4892040"/>
            <a:ext cx="3657600" cy="457200"/>
          </a:xfrm>
          <a:prstGeom prst="rect">
            <a:avLst/>
          </a:prstGeom>
          <a:noFill/>
          <a:ln/>
        </p:spPr>
        <p:txBody>
          <a:bodyPr wrap="square" lIns="0" tIns="0" rIns="0" bIns="0" rtlCol="0" anchor="ctr"/>
          <a:lstStyle/>
          <a:p>
            <a:pPr marL="0" indent="0" algn="r">
              <a:buNone/>
            </a:pPr>
            <a:r>
              <a:rPr lang="en-US" sz="1300" dirty="0">
                <a:solidFill>
                  <a:srgbClr val="A6ADC8"/>
                </a:solidFill>
                <a:latin typeface="Calibri" pitchFamily="34" charset="0"/>
                <a:ea typeface="Calibri" pitchFamily="34" charset="-122"/>
                <a:cs typeface="Calibri" pitchFamily="34" charset="-120"/>
              </a:rPr>
              <a:t>  ·  ENSET 2025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3166</Words>
  <Application>Microsoft Macintosh PowerPoint</Application>
  <PresentationFormat>Widescreen</PresentationFormat>
  <Paragraphs>548</Paragraphs>
  <Slides>30</Slides>
  <Notes>30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Angsana New</vt:lpstr>
      <vt:lpstr>Arial</vt:lpstr>
      <vt:lpstr>Calibri</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TP Platform — ENSET Challenge</dc:title>
  <dc:subject>PptxGenJS Presentation</dc:subject>
  <dc:creator>embedding3x</dc:creator>
  <cp:lastModifiedBy>BADR EDDINE TOUBANI</cp:lastModifiedBy>
  <cp:revision>2</cp:revision>
  <dcterms:created xsi:type="dcterms:W3CDTF">2026-06-07T23:17:32Z</dcterms:created>
  <dcterms:modified xsi:type="dcterms:W3CDTF">2026-06-07T23:46:23Z</dcterms:modified>
</cp:coreProperties>
</file>